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6504" r:id="rId3"/>
    <p:sldId id="6513" r:id="rId4"/>
    <p:sldId id="6520" r:id="rId6"/>
    <p:sldId id="6521" r:id="rId7"/>
    <p:sldId id="6522" r:id="rId8"/>
    <p:sldId id="6514" r:id="rId9"/>
  </p:sldIdLst>
  <p:sldSz cx="12192000" cy="6858000"/>
  <p:notesSz cx="6858000" cy="9144000"/>
  <p:custDataLst>
    <p:tags r:id="rId14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Liu Tianhang" initials="LT" lastIdx="3" clrIdx="0"/>
  <p:cmAuthor id="1" name="徐 飞" initials="徐" lastIdx="2" clrIdx="0"/>
  <p:cmAuthor id="2" name="作者" initials="A" lastIdx="0" clrIdx="1"/>
  <p:cmAuthor id="3" name="Administrator" initials="A" lastIdx="1" clrIdx="2"/>
  <p:cmAuthor id="4" name="lingyan" initials="l" lastIdx="1" clrIdx="3"/>
  <p:cmAuthor id="5" name="Lenovo" initials="L" lastIdx="1" clrIdx="4"/>
  <p:cmAuthor id="6" name="Daniel L" initials="DL" lastIdx="1" clrIdx="5"/>
  <p:cmAuthor id="8" name="翔 龙" initials="翔龙" lastIdx="0" clrIdx="7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F81BD"/>
    <a:srgbClr val="0A41FF"/>
    <a:srgbClr val="AED38C"/>
    <a:srgbClr val="A9D18E"/>
    <a:srgbClr val="E2EFD8"/>
    <a:srgbClr val="DAE3F2"/>
    <a:srgbClr val="7B98CB"/>
    <a:srgbClr val="8FAADC"/>
    <a:srgbClr val="E46C0A"/>
    <a:srgbClr val="1F497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11" autoAdjust="0"/>
    <p:restoredTop sz="90944" autoAdjust="0"/>
  </p:normalViewPr>
  <p:slideViewPr>
    <p:cSldViewPr snapToGrid="0">
      <p:cViewPr varScale="1">
        <p:scale>
          <a:sx n="146" d="100"/>
          <a:sy n="146" d="100"/>
        </p:scale>
        <p:origin x="630" y="12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22" d="100"/>
          <a:sy n="122" d="100"/>
        </p:scale>
        <p:origin x="4998" y="11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4" Type="http://schemas.openxmlformats.org/officeDocument/2006/relationships/tags" Target="tags/tag8.xml"/><Relationship Id="rId13" Type="http://schemas.openxmlformats.org/officeDocument/2006/relationships/commentAuthors" Target="commentAuthors.xml"/><Relationship Id="rId12" Type="http://schemas.openxmlformats.org/officeDocument/2006/relationships/tableStyles" Target="tableStyles.xml"/><Relationship Id="rId11" Type="http://schemas.openxmlformats.org/officeDocument/2006/relationships/viewProps" Target="viewProps.xml"/><Relationship Id="rId10" Type="http://schemas.openxmlformats.org/officeDocument/2006/relationships/presProps" Target="presProps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D0E278-0997-471C-A626-33B24ADD180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FDE018-9361-4A7D-BF1C-A65E4257A2C8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lang="en-US" altLang="zh-CN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/>
          <p:cNvSpPr/>
          <p:nvPr userDrawn="1">
            <p:custDataLst>
              <p:tags r:id="rId2"/>
            </p:custDataLst>
          </p:nvPr>
        </p:nvSpPr>
        <p:spPr>
          <a:xfrm>
            <a:off x="-8467" y="829629"/>
            <a:ext cx="12208934" cy="92075"/>
          </a:xfrm>
          <a:prstGeom prst="rect">
            <a:avLst/>
          </a:prstGeom>
          <a:solidFill>
            <a:srgbClr val="4F81BD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80604020202020204" pitchFamily="34" charset="0"/>
              <a:buNone/>
              <a:defRPr/>
            </a:pPr>
            <a:endParaRPr kumimoji="0" lang="zh-CN" altLang="en-US" sz="1800" b="0" i="0" u="none" strike="noStrike" kern="1200" cap="none" spc="0" normalizeH="0" baseline="0" noProof="1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wdUpDiag">
          <a:fgClr>
            <a:schemeClr val="bg1">
              <a:lumMod val="95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7.xml"/><Relationship Id="rId3" Type="http://schemas.openxmlformats.org/officeDocument/2006/relationships/tags" Target="../tags/tag3.xml"/><Relationship Id="rId2" Type="http://schemas.openxmlformats.org/officeDocument/2006/relationships/image" Target="../media/image4.png"/><Relationship Id="rId1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.xml"/><Relationship Id="rId4" Type="http://schemas.openxmlformats.org/officeDocument/2006/relationships/slideLayout" Target="../slideLayouts/slideLayout7.xml"/><Relationship Id="rId3" Type="http://schemas.openxmlformats.org/officeDocument/2006/relationships/tags" Target="../tags/tag4.xml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3.xml"/><Relationship Id="rId5" Type="http://schemas.openxmlformats.org/officeDocument/2006/relationships/slideLayout" Target="../slideLayouts/slideLayout7.xml"/><Relationship Id="rId4" Type="http://schemas.openxmlformats.org/officeDocument/2006/relationships/tags" Target="../tags/tag5.xml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7.xml"/><Relationship Id="rId2" Type="http://schemas.openxmlformats.org/officeDocument/2006/relationships/tags" Target="../tags/tag6.xml"/><Relationship Id="rId1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5.xml"/><Relationship Id="rId4" Type="http://schemas.openxmlformats.org/officeDocument/2006/relationships/slideLayout" Target="../slideLayouts/slideLayout7.xml"/><Relationship Id="rId3" Type="http://schemas.openxmlformats.org/officeDocument/2006/relationships/tags" Target="../tags/tag7.xml"/><Relationship Id="rId2" Type="http://schemas.openxmlformats.org/officeDocument/2006/relationships/image" Target="../media/image8.png"/><Relationship Id="rId1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213608"/>
            <a:ext cx="12192000" cy="2430784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508695" y="1624769"/>
            <a:ext cx="11174610" cy="2387600"/>
          </a:xfrm>
        </p:spPr>
        <p:txBody>
          <a:bodyPr/>
          <a:lstStyle/>
          <a:p>
            <a:r>
              <a:rPr lang="zh-CN" altLang="en-US" b="1" dirty="0">
                <a:gradFill>
                  <a:gsLst>
                    <a:gs pos="0">
                      <a:schemeClr val="bg1"/>
                    </a:gs>
                    <a:gs pos="54000">
                      <a:schemeClr val="bg1">
                        <a:lumMod val="85000"/>
                      </a:schemeClr>
                    </a:gs>
                    <a:gs pos="100000">
                      <a:schemeClr val="bg1"/>
                    </a:gs>
                  </a:gsLst>
                  <a:lin ang="5400000" scaled="1"/>
                </a:gradFill>
                <a:effectLst>
                  <a:glow rad="127000">
                    <a:srgbClr val="0070C0"/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组会报告</a:t>
            </a:r>
            <a:endParaRPr lang="zh-CN" altLang="en-US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002" y="6154295"/>
            <a:ext cx="2222614" cy="533427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2955005" y="5713006"/>
            <a:ext cx="6097190" cy="922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>汇报人：刘子豪</a:t>
            </a:r>
            <a:endParaRPr lang="en-US" altLang="zh-CN" b="1" dirty="0">
              <a:solidFill>
                <a:srgbClr val="0070C0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/>
            <a:endParaRPr lang="en-US" altLang="zh-CN" b="1" dirty="0">
              <a:solidFill>
                <a:srgbClr val="0070C0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/>
            <a:r>
              <a:rPr lang="en-US" altLang="zh-CN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>—2026年04月18日—</a:t>
            </a:r>
            <a:r>
              <a:rPr lang="zh-CN" altLang="en-US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/>
            </a:r>
            <a:r>
              <a:rPr lang="en-US" altLang="zh-CN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/>
            </a:r>
            <a:r>
              <a:rPr lang="zh-CN" altLang="en-US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/>
            </a:r>
            <a:r>
              <a:rPr lang="en-US" altLang="zh-CN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/>
            </a:r>
            <a:r>
              <a:rPr lang="zh-CN" altLang="en-US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/>
            </a:r>
            <a:r>
              <a:rPr lang="en-US" altLang="zh-CN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/>
            </a:r>
            <a:endParaRPr lang="zh-CN" altLang="en-US" dirty="0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7455" y="136994"/>
            <a:ext cx="1734545" cy="100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1"/>
          <p:cNvSpPr txBox="1">
            <a:spLocks noChangeArrowheads="1"/>
          </p:cNvSpPr>
          <p:nvPr/>
        </p:nvSpPr>
        <p:spPr bwMode="auto">
          <a:xfrm>
            <a:off x="205105" y="126003"/>
            <a:ext cx="8739868" cy="739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8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Pointer Safety</a:t>
            </a:r>
            <a:r>
              <a:rPr lang="zh-CN" altLang="en-US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攻击调研</a:t>
            </a:r>
            <a:endParaRPr lang="zh-CN" altLang="en-US" sz="3200" b="1" noProof="0" dirty="0">
              <a:ln>
                <a:noFill/>
              </a:ln>
              <a:solidFill>
                <a:srgbClr val="005390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Arial" panose="020B0604020202020204"/>
            </a:endParaRPr>
          </a:p>
        </p:txBody>
      </p:sp>
      <p:sp>
        <p:nvSpPr>
          <p:cNvPr id="10" name="圆角矩形 10"/>
          <p:cNvSpPr/>
          <p:nvPr/>
        </p:nvSpPr>
        <p:spPr>
          <a:xfrm>
            <a:off x="195492" y="757646"/>
            <a:ext cx="11843057" cy="5978693"/>
          </a:xfrm>
          <a:prstGeom prst="roundRect">
            <a:avLst>
              <a:gd name="adj" fmla="val 6425"/>
            </a:avLst>
          </a:prstGeom>
          <a:noFill/>
          <a:ln w="12700">
            <a:solidFill>
              <a:srgbClr val="186299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灯片编号占位符 2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BC209CA-FF8A-4D78-A092-BF740142CE1C}" type="slidenum">
              <a:rPr kumimoji="0" lang="zh-CN" altLang="en-US" sz="16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SimSun" pitchFamily="2" charset="-122"/>
                <a:cs typeface="+mn-cs"/>
              </a:rPr>
            </a:fld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SimSun" pitchFamily="2" charset="-122"/>
              <a:cs typeface="+mn-cs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5548" y="194416"/>
            <a:ext cx="2223989" cy="495793"/>
          </a:xfrm>
          <a:prstGeom prst="rect">
            <a:avLst/>
          </a:prstGeom>
        </p:spPr>
      </p:pic>
      <p:sp>
        <p:nvSpPr>
          <p:cNvPr id="4" name="文本框 3"/>
          <p:cNvSpPr txBox="1"/>
          <p:nvPr userDrawn="1"/>
        </p:nvSpPr>
        <p:spPr>
          <a:xfrm>
            <a:off x="378619" y="930275"/>
            <a:ext cx="525780" cy="368300"/>
          </a:xfrm>
          <a:prstGeom prst="rect">
            <a:avLst/>
          </a:prstGeom>
        </p:spPr>
        <p:txBody>
          <a:bodyPr wrap="none" rtlCol="0">
            <a:spAutoFit/>
          </a:bodyPr>
          <a:p>
            <a:pPr marL="342900" indent="-342900">
              <a:buAutoNum type="arabicPeriod"/>
            </a:pPr>
            <a:endParaRPr lang="zh-CN" altLang="en-US"/>
          </a:p>
        </p:txBody>
      </p:sp>
      <p:sp>
        <p:nvSpPr>
          <p:cNvPr id="2" name="文本框 1"/>
          <p:cNvSpPr txBox="1"/>
          <p:nvPr userDrawn="1"/>
        </p:nvSpPr>
        <p:spPr>
          <a:xfrm>
            <a:off x="378650" y="757607"/>
            <a:ext cx="11659923" cy="645160"/>
          </a:xfrm>
          <a:prstGeom prst="rect">
            <a:avLst/>
          </a:prstGeom>
        </p:spPr>
        <p:txBody>
          <a:bodyPr wrap="square" rtlCol="0">
            <a:noAutofit/>
          </a:bodyPr>
          <a:p>
            <a:endParaRPr lang="zh-CN" altLang="en-US"/>
          </a:p>
        </p:txBody>
      </p:sp>
      <p:sp>
        <p:nvSpPr>
          <p:cNvPr id="3" name="Text Box 2"/>
          <p:cNvSpPr txBox="1"/>
          <p:nvPr/>
        </p:nvSpPr>
        <p:spPr>
          <a:xfrm>
            <a:off x="285750" y="930275"/>
            <a:ext cx="10986135" cy="18408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indent="-342900">
              <a:buFont typeface="Arial" panose="02080604020202020204" pitchFamily="34" charset="0"/>
              <a:buAutoNum type="arabicPeriod"/>
            </a:pPr>
            <a:r>
              <a:rPr lang="en-US" altLang="zh-CN">
                <a:ea typeface="SimSun" charset="0"/>
                <a:sym typeface="+mn-ea"/>
              </a:rPr>
              <a:t>ARM</a:t>
            </a:r>
            <a:r>
              <a:rPr lang="zh-CN" altLang="en-US">
                <a:ea typeface="SimSun" charset="0"/>
                <a:sym typeface="+mn-ea"/>
              </a:rPr>
              <a:t>：</a:t>
            </a:r>
            <a:r>
              <a:rPr lang="en-US" altLang="zh-CN">
                <a:ea typeface="SimSun" charset="0"/>
                <a:sym typeface="+mn-ea"/>
              </a:rPr>
              <a:t>MTE&amp;</a:t>
            </a:r>
            <a:r>
              <a:rPr lang="zh-CN" altLang="en-US">
                <a:ea typeface="SimSun" charset="0"/>
                <a:sym typeface="+mn-ea"/>
              </a:rPr>
              <a:t>扩展--基于</a:t>
            </a:r>
            <a:r>
              <a:rPr lang="en-US" altLang="zh-CN">
                <a:ea typeface="SimSun" charset="0"/>
                <a:sym typeface="+mn-ea"/>
              </a:rPr>
              <a:t>tagging</a:t>
            </a:r>
            <a:r>
              <a:rPr lang="zh-CN" altLang="en-US">
                <a:ea typeface="SimSun" charset="0"/>
                <a:sym typeface="+mn-ea"/>
              </a:rPr>
              <a:t>开发的硬件（缓存侧信道攻击</a:t>
            </a:r>
            <a:r>
              <a:rPr lang="en-US" altLang="zh-CN">
                <a:ea typeface="SimSun" charset="0"/>
                <a:sym typeface="+mn-ea"/>
              </a:rPr>
              <a:t>pointer safety）</a:t>
            </a:r>
            <a:endParaRPr lang="en-US" altLang="zh-CN">
              <a:ea typeface="SimSun" charset="0"/>
              <a:sym typeface="+mn-ea"/>
            </a:endParaRPr>
          </a:p>
          <a:p>
            <a:pPr marL="800100" lvl="1" indent="-342900">
              <a:buFont typeface="Arial" panose="02080604020202020204" pitchFamily="34" charset="0"/>
              <a:buAutoNum type="arabicPeriod"/>
            </a:pPr>
            <a:r>
              <a:rPr lang="zh-CN" altLang="en-US">
                <a:ea typeface="SimSun" charset="0"/>
                <a:sym typeface="+mn-ea"/>
              </a:rPr>
              <a:t>需要专门的硬件支持，</a:t>
            </a:r>
            <a:r>
              <a:rPr lang="en-US" altLang="zh-CN">
                <a:ea typeface="SimSun" charset="0"/>
                <a:sym typeface="+mn-ea"/>
              </a:rPr>
              <a:t>RISCV tagging</a:t>
            </a:r>
            <a:r>
              <a:rPr lang="zh-CN" altLang="en-US">
                <a:ea typeface="SimSun" charset="0"/>
                <a:sym typeface="+mn-ea"/>
              </a:rPr>
              <a:t>标准在推进中，</a:t>
            </a:r>
            <a:r>
              <a:rPr lang="en-US" altLang="zh-CN">
                <a:ea typeface="SimSun" charset="0"/>
                <a:sym typeface="+mn-ea"/>
              </a:rPr>
              <a:t>pointer masking</a:t>
            </a:r>
            <a:r>
              <a:rPr lang="zh-CN" altLang="en-US">
                <a:ea typeface="SimSun" charset="0"/>
                <a:sym typeface="+mn-ea"/>
              </a:rPr>
              <a:t>在部分硬件支持（可以利用地址高位存储的元信息在硬件处理时做侧信道攻击）</a:t>
            </a:r>
            <a:r>
              <a:rPr lang="en-US" altLang="zh-CN">
                <a:ea typeface="SimSun" charset="0"/>
                <a:sym typeface="+mn-ea"/>
              </a:rPr>
              <a:t>;</a:t>
            </a:r>
            <a:endParaRPr lang="en-US" altLang="zh-CN">
              <a:ea typeface="SimSun" charset="0"/>
              <a:sym typeface="+mn-ea"/>
            </a:endParaRPr>
          </a:p>
          <a:p>
            <a:pPr marL="800100" lvl="1" indent="-342900">
              <a:buFont typeface="Arial" panose="02080604020202020204" pitchFamily="34" charset="0"/>
              <a:buAutoNum type="arabicPeriod"/>
            </a:pPr>
            <a:r>
              <a:rPr lang="zh-CN" altLang="en-US">
                <a:ea typeface="SimSun" charset="0"/>
                <a:sym typeface="+mn-ea"/>
              </a:rPr>
              <a:t>实验室的香橙派并没有</a:t>
            </a:r>
            <a:r>
              <a:rPr lang="en-US" altLang="zh-CN">
                <a:ea typeface="SimSun" charset="0"/>
                <a:sym typeface="+mn-ea"/>
              </a:rPr>
              <a:t>MTE</a:t>
            </a:r>
            <a:r>
              <a:rPr lang="zh-CN" altLang="en-US">
                <a:ea typeface="SimSun" charset="0"/>
                <a:sym typeface="+mn-ea"/>
              </a:rPr>
              <a:t>功能</a:t>
            </a:r>
            <a:r>
              <a:rPr lang="en-US" altLang="zh-CN">
                <a:ea typeface="SimSun" charset="0"/>
                <a:sym typeface="+mn-ea"/>
              </a:rPr>
              <a:t>;</a:t>
            </a:r>
            <a:endParaRPr lang="en-US" altLang="zh-CN">
              <a:ea typeface="SimSun" charset="0"/>
              <a:sym typeface="+mn-ea"/>
            </a:endParaRPr>
          </a:p>
          <a:p>
            <a:pPr marL="800100" lvl="1" indent="-342900">
              <a:buFont typeface="Arial" panose="02080604020202020204" pitchFamily="34" charset="0"/>
              <a:buAutoNum type="arabicPeriod"/>
            </a:pPr>
            <a:endParaRPr lang="en-US" altLang="zh-CN">
              <a:ea typeface="SimSun" charset="0"/>
              <a:sym typeface="+mn-ea"/>
            </a:endParaRPr>
          </a:p>
          <a:p>
            <a:pPr marL="800100" lvl="1" indent="-342900">
              <a:buFont typeface="Arial" panose="02080604020202020204" pitchFamily="34" charset="0"/>
              <a:buAutoNum type="arabicPeriod"/>
            </a:pPr>
            <a:endParaRPr lang="en-US" altLang="zh-CN">
              <a:ea typeface="SimSun" charset="0"/>
              <a:sym typeface="+mn-ea"/>
            </a:endParaRPr>
          </a:p>
          <a:p>
            <a:pPr marL="342900" indent="-342900">
              <a:buFont typeface="Arial" panose="02080604020202020204" pitchFamily="34" charset="0"/>
              <a:buAutoNum type="arabicPeriod"/>
            </a:pPr>
            <a:r>
              <a:rPr lang="en-US" altLang="zh-CN">
                <a:ea typeface="SimSun" charset="0"/>
                <a:sym typeface="+mn-ea"/>
              </a:rPr>
              <a:t>RISCV：</a:t>
            </a:r>
            <a:r>
              <a:rPr lang="zh-CN" altLang="en-US">
                <a:ea typeface="SimSun" charset="0"/>
                <a:sym typeface="+mn-ea"/>
              </a:rPr>
              <a:t>基于</a:t>
            </a:r>
            <a:r>
              <a:rPr lang="en-US" altLang="zh-CN">
                <a:ea typeface="SimSun" charset="0"/>
                <a:sym typeface="+mn-ea"/>
              </a:rPr>
              <a:t>CHERI（capability），</a:t>
            </a:r>
            <a:r>
              <a:rPr lang="zh-CN" altLang="en-US">
                <a:ea typeface="SimSun" charset="0"/>
                <a:sym typeface="+mn-ea"/>
              </a:rPr>
              <a:t>模拟器开发较多，无</a:t>
            </a:r>
            <a:r>
              <a:rPr lang="en-US" altLang="zh-CN">
                <a:ea typeface="SimSun" charset="0"/>
                <a:sym typeface="+mn-ea"/>
              </a:rPr>
              <a:t>linux</a:t>
            </a:r>
            <a:r>
              <a:rPr lang="zh-CN" altLang="en-US">
                <a:ea typeface="SimSun" charset="0"/>
                <a:sym typeface="+mn-ea"/>
              </a:rPr>
              <a:t>硬件开发板 最多到</a:t>
            </a:r>
            <a:r>
              <a:rPr lang="en-US" altLang="zh-CN">
                <a:ea typeface="SimSun" charset="0"/>
                <a:sym typeface="+mn-ea"/>
              </a:rPr>
              <a:t>FPGA; </a:t>
            </a:r>
            <a:r>
              <a:rPr lang="zh-CN" altLang="en-US">
                <a:ea typeface="SimSun" charset="0"/>
                <a:sym typeface="+mn-ea"/>
              </a:rPr>
              <a:t>攻击论文几乎没有 大多是基于</a:t>
            </a:r>
            <a:r>
              <a:rPr lang="en-US" altLang="zh-CN">
                <a:ea typeface="SimSun" charset="0"/>
                <a:sym typeface="+mn-ea"/>
              </a:rPr>
              <a:t>CHERI</a:t>
            </a:r>
            <a:r>
              <a:rPr lang="zh-CN" altLang="en-US">
                <a:ea typeface="SimSun" charset="0"/>
                <a:sym typeface="+mn-ea"/>
              </a:rPr>
              <a:t>做扩展防护</a:t>
            </a:r>
            <a:endParaRPr lang="zh-CN" altLang="en-US">
              <a:ea typeface="SimSun" charset="0"/>
              <a:sym typeface="+mn-ea"/>
            </a:endParaRPr>
          </a:p>
          <a:p>
            <a:pPr marL="800100" lvl="1" indent="-342900">
              <a:buFont typeface="Arial" panose="02080604020202020204" pitchFamily="34" charset="0"/>
              <a:buAutoNum type="arabicPeriod"/>
            </a:pPr>
            <a:r>
              <a:rPr lang="zh-CN" altLang="en-US">
                <a:ea typeface="SimSun" charset="0"/>
                <a:sym typeface="+mn-ea"/>
              </a:rPr>
              <a:t>通过</a:t>
            </a:r>
            <a:r>
              <a:rPr lang="en-US" altLang="zh-CN">
                <a:ea typeface="SimSun" charset="0"/>
                <a:sym typeface="+mn-ea"/>
              </a:rPr>
              <a:t>QEMU-CHERI</a:t>
            </a:r>
            <a:r>
              <a:rPr lang="zh-CN" altLang="en-US">
                <a:ea typeface="SimSun" charset="0"/>
                <a:sym typeface="+mn-ea"/>
              </a:rPr>
              <a:t>无法做真实的侧信道攻击，模拟噪声太大</a:t>
            </a:r>
            <a:r>
              <a:rPr lang="en-US" altLang="zh-CN">
                <a:ea typeface="SimSun" charset="0"/>
                <a:sym typeface="+mn-ea"/>
              </a:rPr>
              <a:t>;</a:t>
            </a:r>
            <a:endParaRPr lang="zh-CN" altLang="en-US">
              <a:ea typeface="SimSun" charset="0"/>
              <a:sym typeface="+mn-ea"/>
            </a:endParaRPr>
          </a:p>
          <a:p>
            <a:pPr marL="800100" lvl="1" indent="-342900">
              <a:buFont typeface="Arial" panose="02080604020202020204" pitchFamily="34" charset="0"/>
              <a:buAutoNum type="arabicPeriod"/>
            </a:pPr>
            <a:r>
              <a:rPr lang="zh-CN" altLang="en-US">
                <a:ea typeface="SimSun" charset="0"/>
                <a:sym typeface="+mn-ea"/>
              </a:rPr>
              <a:t>基于</a:t>
            </a:r>
            <a:r>
              <a:rPr lang="en-US" altLang="zh-CN">
                <a:ea typeface="SimSun" charset="0"/>
                <a:sym typeface="+mn-ea"/>
              </a:rPr>
              <a:t>RTL</a:t>
            </a:r>
            <a:r>
              <a:rPr lang="zh-CN" altLang="en-US">
                <a:ea typeface="SimSun" charset="0"/>
                <a:sym typeface="+mn-ea"/>
              </a:rPr>
              <a:t>模拟核心（</a:t>
            </a:r>
            <a:r>
              <a:rPr lang="en-US" altLang="zh-CN">
                <a:ea typeface="SimSun" charset="0"/>
                <a:sym typeface="+mn-ea"/>
              </a:rPr>
              <a:t>Toooba</a:t>
            </a:r>
            <a:r>
              <a:rPr lang="zh-CN" altLang="en-US">
                <a:ea typeface="SimSun" charset="0"/>
                <a:sym typeface="+mn-ea"/>
              </a:rPr>
              <a:t>）或者基于</a:t>
            </a:r>
            <a:r>
              <a:rPr lang="en-US" altLang="zh-CN">
                <a:ea typeface="SimSun" charset="0"/>
                <a:sym typeface="+mn-ea"/>
              </a:rPr>
              <a:t>ARM</a:t>
            </a:r>
            <a:r>
              <a:rPr lang="zh-CN" altLang="en-US">
                <a:ea typeface="SimSun" charset="0"/>
                <a:sym typeface="+mn-ea"/>
              </a:rPr>
              <a:t>的</a:t>
            </a:r>
            <a:r>
              <a:rPr lang="en-US" altLang="zh-CN">
                <a:ea typeface="SimSun" charset="0"/>
                <a:sym typeface="+mn-ea"/>
              </a:rPr>
              <a:t>Morello</a:t>
            </a:r>
            <a:r>
              <a:rPr lang="zh-CN" altLang="en-US">
                <a:ea typeface="SimSun" charset="0"/>
                <a:sym typeface="+mn-ea"/>
              </a:rPr>
              <a:t>开发板（真实硬件）</a:t>
            </a:r>
            <a:r>
              <a:rPr lang="en-US" altLang="zh-CN">
                <a:ea typeface="SimSun" charset="0"/>
                <a:sym typeface="+mn-ea"/>
              </a:rPr>
              <a:t>;</a:t>
            </a:r>
            <a:endParaRPr lang="zh-CN" altLang="en-US">
              <a:ea typeface="SimSun" charset="0"/>
              <a:sym typeface="+mn-ea"/>
            </a:endParaRPr>
          </a:p>
          <a:p>
            <a:pPr marL="800100" lvl="1" indent="-342900">
              <a:buFont typeface="Arial" panose="02080604020202020204" pitchFamily="34" charset="0"/>
              <a:buAutoNum type="arabicPeriod"/>
            </a:pPr>
            <a:endParaRPr lang="zh-CN" altLang="en-US">
              <a:ea typeface="SimSun" charset="0"/>
              <a:sym typeface="+mn-ea"/>
            </a:endParaRPr>
          </a:p>
          <a:p>
            <a:pPr marL="800100" lvl="1" indent="-342900">
              <a:buFont typeface="Arial" panose="02080604020202020204" pitchFamily="34" charset="0"/>
              <a:buAutoNum type="arabicPeriod"/>
            </a:pPr>
            <a:endParaRPr lang="zh-CN" altLang="en-US">
              <a:ea typeface="SimSun" charset="0"/>
              <a:sym typeface="+mn-ea"/>
            </a:endParaRPr>
          </a:p>
          <a:p>
            <a:pPr marL="800100" lvl="1" indent="-342900">
              <a:buFont typeface="Arial" panose="02080604020202020204" pitchFamily="34" charset="0"/>
              <a:buAutoNum type="arabicPeriod"/>
            </a:pPr>
            <a:endParaRPr lang="zh-CN" altLang="en-US">
              <a:ea typeface="SimSun" charset="0"/>
              <a:sym typeface="+mn-ea"/>
            </a:endParaRPr>
          </a:p>
          <a:p>
            <a:pPr marL="342900" lvl="0" indent="-342900">
              <a:buFont typeface="Arial" panose="02080604020202020204" pitchFamily="34" charset="0"/>
              <a:buAutoNum type="arabicPeriod"/>
            </a:pPr>
            <a:r>
              <a:rPr lang="en-US" altLang="zh-CN">
                <a:ea typeface="SimSun" charset="0"/>
                <a:sym typeface="+mn-ea"/>
              </a:rPr>
              <a:t>Pointer safety</a:t>
            </a:r>
            <a:r>
              <a:rPr lang="zh-CN" altLang="en-US">
                <a:ea typeface="SimSun" charset="0"/>
                <a:sym typeface="+mn-ea"/>
              </a:rPr>
              <a:t>最终还是关联到</a:t>
            </a:r>
            <a:r>
              <a:rPr lang="en-US" altLang="zh-CN">
                <a:ea typeface="SimSun" charset="0"/>
                <a:sym typeface="+mn-ea"/>
              </a:rPr>
              <a:t>memory </a:t>
            </a:r>
            <a:r>
              <a:rPr lang="zh-CN" altLang="en-US">
                <a:ea typeface="SimSun" charset="0"/>
                <a:sym typeface="+mn-ea"/>
              </a:rPr>
              <a:t>于是可以利用</a:t>
            </a:r>
            <a:r>
              <a:rPr lang="en-US" altLang="zh-CN">
                <a:ea typeface="SimSun" charset="0"/>
                <a:sym typeface="+mn-ea"/>
              </a:rPr>
              <a:t>kernel</a:t>
            </a:r>
            <a:r>
              <a:rPr lang="zh-CN" altLang="en-US">
                <a:ea typeface="SimSun" charset="0"/>
                <a:sym typeface="+mn-ea"/>
              </a:rPr>
              <a:t>的漏洞破解后再去访问非法区域，也是使用</a:t>
            </a:r>
            <a:r>
              <a:rPr lang="en-US" altLang="zh-CN">
                <a:ea typeface="SimSun" charset="0"/>
                <a:sym typeface="+mn-ea"/>
              </a:rPr>
              <a:t>pointer</a:t>
            </a:r>
            <a:endParaRPr lang="en-US" altLang="zh-CN">
              <a:ea typeface="SimSun" charset="0"/>
              <a:sym typeface="+mn-ea"/>
            </a:endParaRPr>
          </a:p>
          <a:p>
            <a:pPr lvl="2" indent="-342900">
              <a:buFont typeface="Arial" panose="02080604020202020204" pitchFamily="34" charset="0"/>
              <a:buAutoNum type="arabicPeriod"/>
            </a:pPr>
            <a:r>
              <a:rPr lang="zh-CN" altLang="en-US">
                <a:ea typeface="SimSun" charset="0"/>
                <a:sym typeface="+mn-ea"/>
              </a:rPr>
              <a:t>当前开发板没有特定的硬件保护手段 大部分是基于</a:t>
            </a:r>
            <a:r>
              <a:rPr lang="en-US" altLang="zh-CN">
                <a:ea typeface="SimSun" charset="0"/>
                <a:sym typeface="+mn-ea"/>
              </a:rPr>
              <a:t>kernel</a:t>
            </a:r>
            <a:r>
              <a:rPr lang="zh-CN" altLang="en-US">
                <a:ea typeface="SimSun" charset="0"/>
                <a:sym typeface="+mn-ea"/>
              </a:rPr>
              <a:t>进行的 我们可以从内核对于</a:t>
            </a:r>
            <a:r>
              <a:rPr lang="en-US" altLang="zh-CN">
                <a:ea typeface="SimSun" charset="0"/>
                <a:sym typeface="+mn-ea"/>
              </a:rPr>
              <a:t>UAF OOB、</a:t>
            </a:r>
            <a:r>
              <a:rPr lang="zh-CN" altLang="en-US">
                <a:ea typeface="SimSun" charset="0"/>
                <a:sym typeface="+mn-ea"/>
              </a:rPr>
              <a:t>栈、</a:t>
            </a:r>
            <a:r>
              <a:rPr lang="en-US" altLang="zh-CN">
                <a:ea typeface="SimSun" charset="0"/>
                <a:sym typeface="+mn-ea"/>
              </a:rPr>
              <a:t>heap</a:t>
            </a:r>
            <a:r>
              <a:rPr lang="zh-CN" altLang="en-US">
                <a:ea typeface="SimSun" charset="0"/>
                <a:sym typeface="+mn-ea"/>
              </a:rPr>
              <a:t>等现有保护入手去攻击</a:t>
            </a:r>
            <a:r>
              <a:rPr lang="en-US" altLang="zh-CN">
                <a:ea typeface="SimSun" charset="0"/>
                <a:sym typeface="+mn-ea"/>
              </a:rPr>
              <a:t>;</a:t>
            </a:r>
            <a:endParaRPr lang="en-US" altLang="zh-CN">
              <a:ea typeface="SimSun" charset="0"/>
              <a:sym typeface="+mn-ea"/>
            </a:endParaRPr>
          </a:p>
          <a:p>
            <a:pPr lvl="2" indent="-342900">
              <a:buFont typeface="Arial" panose="02080604020202020204" pitchFamily="34" charset="0"/>
              <a:buAutoNum type="arabicPeriod"/>
            </a:pPr>
            <a:r>
              <a:rPr lang="zh-CN" altLang="en-US">
                <a:ea typeface="SimSun" charset="0"/>
                <a:sym typeface="+mn-ea"/>
              </a:rPr>
              <a:t>常规的</a:t>
            </a:r>
            <a:r>
              <a:rPr lang="en-US" altLang="zh-CN">
                <a:ea typeface="SimSun" charset="0"/>
                <a:sym typeface="+mn-ea"/>
              </a:rPr>
              <a:t>Pointer safety</a:t>
            </a:r>
            <a:r>
              <a:rPr lang="zh-CN" altLang="en-US">
                <a:ea typeface="SimSun" charset="0"/>
                <a:sym typeface="+mn-ea"/>
              </a:rPr>
              <a:t>（</a:t>
            </a:r>
            <a:r>
              <a:rPr lang="en-US" altLang="zh-CN">
                <a:ea typeface="SimSun" charset="0"/>
                <a:sym typeface="+mn-ea"/>
              </a:rPr>
              <a:t>OOB</a:t>
            </a:r>
            <a:r>
              <a:rPr lang="zh-CN" altLang="en-US">
                <a:ea typeface="SimSun" charset="0"/>
                <a:sym typeface="+mn-ea"/>
              </a:rPr>
              <a:t>、</a:t>
            </a:r>
            <a:r>
              <a:rPr lang="en-US" altLang="zh-CN">
                <a:ea typeface="SimSun" charset="0"/>
                <a:sym typeface="+mn-ea"/>
              </a:rPr>
              <a:t>UAF</a:t>
            </a:r>
            <a:r>
              <a:rPr lang="zh-CN" altLang="en-US">
                <a:ea typeface="SimSun" charset="0"/>
                <a:sym typeface="+mn-ea"/>
              </a:rPr>
              <a:t>）保护一般偏向编译器、内核共同支持。</a:t>
            </a:r>
            <a:endParaRPr lang="zh-CN" altLang="en-US">
              <a:ea typeface="SimSun" charset="0"/>
              <a:sym typeface="+mn-ea"/>
            </a:endParaRPr>
          </a:p>
        </p:txBody>
      </p:sp>
    </p:spTree>
    <p:custDataLst>
      <p:tags r:id="rId3"/>
    </p:custData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1"/>
          <p:cNvSpPr txBox="1">
            <a:spLocks noChangeArrowheads="1"/>
          </p:cNvSpPr>
          <p:nvPr/>
        </p:nvSpPr>
        <p:spPr bwMode="auto">
          <a:xfrm>
            <a:off x="205105" y="126003"/>
            <a:ext cx="8739868" cy="739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8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ARM</a:t>
            </a:r>
            <a:endParaRPr lang="en-US" altLang="zh-CN" sz="3200" b="1" noProof="0" dirty="0">
              <a:ln>
                <a:noFill/>
              </a:ln>
              <a:solidFill>
                <a:srgbClr val="005390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Arial" panose="020B0604020202020204"/>
            </a:endParaRPr>
          </a:p>
        </p:txBody>
      </p:sp>
      <p:sp>
        <p:nvSpPr>
          <p:cNvPr id="10" name="圆角矩形 10"/>
          <p:cNvSpPr/>
          <p:nvPr/>
        </p:nvSpPr>
        <p:spPr>
          <a:xfrm>
            <a:off x="195492" y="757646"/>
            <a:ext cx="11843057" cy="5978693"/>
          </a:xfrm>
          <a:prstGeom prst="roundRect">
            <a:avLst>
              <a:gd name="adj" fmla="val 6425"/>
            </a:avLst>
          </a:prstGeom>
          <a:noFill/>
          <a:ln w="12700">
            <a:solidFill>
              <a:srgbClr val="186299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5548" y="194416"/>
            <a:ext cx="2223989" cy="495793"/>
          </a:xfrm>
          <a:prstGeom prst="rect">
            <a:avLst/>
          </a:prstGeom>
        </p:spPr>
      </p:pic>
      <p:sp>
        <p:nvSpPr>
          <p:cNvPr id="4" name="文本框 3"/>
          <p:cNvSpPr txBox="1"/>
          <p:nvPr userDrawn="1"/>
        </p:nvSpPr>
        <p:spPr>
          <a:xfrm>
            <a:off x="378619" y="930275"/>
            <a:ext cx="525780" cy="368300"/>
          </a:xfrm>
          <a:prstGeom prst="rect">
            <a:avLst/>
          </a:prstGeom>
        </p:spPr>
        <p:txBody>
          <a:bodyPr wrap="none" rtlCol="0">
            <a:spAutoFit/>
          </a:bodyPr>
          <a:p>
            <a:pPr marL="342900" indent="-342900">
              <a:buAutoNum type="arabicPeriod"/>
            </a:pPr>
            <a:endParaRPr lang="zh-CN" altLang="en-US"/>
          </a:p>
        </p:txBody>
      </p:sp>
      <p:sp>
        <p:nvSpPr>
          <p:cNvPr id="2" name="文本框 1"/>
          <p:cNvSpPr txBox="1"/>
          <p:nvPr userDrawn="1"/>
        </p:nvSpPr>
        <p:spPr>
          <a:xfrm>
            <a:off x="378460" y="895350"/>
            <a:ext cx="11659870" cy="403225"/>
          </a:xfrm>
          <a:prstGeom prst="rect">
            <a:avLst/>
          </a:prstGeom>
        </p:spPr>
        <p:txBody>
          <a:bodyPr wrap="square" rtlCol="0">
            <a:noAutofit/>
          </a:bodyPr>
          <a:p>
            <a:r>
              <a:rPr lang="en-US" altLang="zh-CN">
                <a:solidFill>
                  <a:srgbClr val="FF0000"/>
                </a:solidFill>
              </a:rPr>
              <a:t>2025SP</a:t>
            </a:r>
            <a:r>
              <a:rPr lang="en-US" altLang="zh-CN"/>
              <a:t>-TIKTAG: Breaking ARM’s Memory Tagging Extension with Speculative Execution</a:t>
            </a:r>
            <a:r>
              <a:rPr lang="zh-CN" altLang="en-US">
                <a:ea typeface="SimSun" charset="0"/>
              </a:rPr>
              <a:t>：用 </a:t>
            </a:r>
            <a:r>
              <a:rPr lang="en-US" altLang="zh-CN">
                <a:ea typeface="SimSun" charset="0"/>
              </a:rPr>
              <a:t>speculative execution </a:t>
            </a:r>
            <a:r>
              <a:rPr lang="zh-CN" altLang="en-US">
                <a:ea typeface="SimSun" charset="0"/>
              </a:rPr>
              <a:t>去泄漏 </a:t>
            </a:r>
            <a:r>
              <a:rPr lang="en-US" altLang="zh-CN">
                <a:ea typeface="SimSun" charset="0"/>
              </a:rPr>
              <a:t>ARM MTE tag，</a:t>
            </a:r>
            <a:r>
              <a:rPr lang="zh-CN" altLang="en-US">
                <a:ea typeface="SimSun" charset="0"/>
              </a:rPr>
              <a:t>直接削弱 </a:t>
            </a:r>
            <a:r>
              <a:rPr lang="en-US" altLang="zh-CN">
                <a:ea typeface="SimSun" charset="0"/>
              </a:rPr>
              <a:t>MTE </a:t>
            </a:r>
            <a:r>
              <a:rPr lang="zh-CN" altLang="en-US">
                <a:ea typeface="SimSun" charset="0"/>
              </a:rPr>
              <a:t>的概率防线</a:t>
            </a:r>
            <a:endParaRPr lang="zh-CN" altLang="en-US">
              <a:ea typeface="SimSun" charset="0"/>
            </a:endParaRPr>
          </a:p>
          <a:p>
            <a:pPr indent="457200"/>
            <a:r>
              <a:rPr lang="zh-CN" altLang="en-US">
                <a:ea typeface="SimSun" charset="0"/>
              </a:rPr>
              <a:t>（每个 16</a:t>
            </a:r>
            <a:r>
              <a:rPr lang="en-US" altLang="zh-CN">
                <a:ea typeface="SimSun" charset="0"/>
              </a:rPr>
              <a:t>B </a:t>
            </a:r>
            <a:r>
              <a:rPr lang="zh-CN" altLang="en-US">
                <a:ea typeface="SimSun" charset="0"/>
              </a:rPr>
              <a:t>内存块分配一个内存 </a:t>
            </a:r>
            <a:r>
              <a:rPr lang="en-US" altLang="zh-CN">
                <a:ea typeface="SimSun" charset="0"/>
              </a:rPr>
              <a:t>4bit tag，</a:t>
            </a:r>
            <a:r>
              <a:rPr lang="zh-CN" altLang="en-US">
                <a:ea typeface="SimSun" charset="0"/>
              </a:rPr>
              <a:t>再把对应的指针携带一个指针 </a:t>
            </a:r>
            <a:r>
              <a:rPr lang="en-US" altLang="zh-CN">
                <a:ea typeface="SimSun" charset="0"/>
              </a:rPr>
              <a:t>tag，CPU </a:t>
            </a:r>
            <a:r>
              <a:rPr lang="zh-CN" altLang="en-US">
                <a:ea typeface="SimSun" charset="0"/>
              </a:rPr>
              <a:t>在每次 </a:t>
            </a:r>
            <a:r>
              <a:rPr lang="en-US" altLang="zh-CN">
                <a:ea typeface="SimSun" charset="0"/>
              </a:rPr>
              <a:t>load/store </a:t>
            </a:r>
            <a:r>
              <a:rPr lang="zh-CN" altLang="en-US">
                <a:ea typeface="SimSun" charset="0"/>
              </a:rPr>
              <a:t>时比较两者，匹配就允许访问，不匹配就触发异常，从而在硬件层检测内存越界和悬空指针访问。</a:t>
            </a:r>
            <a:r>
              <a:rPr lang="zh-CN" altLang="en-US">
                <a:ea typeface="SimSun" charset="0"/>
              </a:rPr>
              <a:t>）</a:t>
            </a:r>
            <a:endParaRPr lang="zh-CN" altLang="en-US">
              <a:ea typeface="SimSun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405" y="2089150"/>
            <a:ext cx="4552950" cy="4267200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5389245" y="5809615"/>
            <a:ext cx="6234430" cy="6781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这类需要特定硬件支持的功能在</a:t>
            </a:r>
            <a:r>
              <a:rPr lang="en-US" altLang="zh-CN"/>
              <a:t>RISCV</a:t>
            </a:r>
            <a:r>
              <a:rPr lang="zh-CN" altLang="en-US">
                <a:ea typeface="SimSun" charset="0"/>
              </a:rPr>
              <a:t>推进的会比较慢，因此对于这方面的攻击一般比较难以实现。</a:t>
            </a:r>
            <a:endParaRPr lang="zh-CN" altLang="en-US">
              <a:ea typeface="SimSun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5321300" y="2500630"/>
            <a:ext cx="6370320" cy="24917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400"/>
              <a:t>1. 攻击目标地址 </a:t>
            </a:r>
            <a:r>
              <a:rPr lang="en-US" altLang="zh-CN" sz="1400"/>
              <a:t>target_addr</a:t>
            </a:r>
            <a:r>
              <a:rPr lang="zh-CN" altLang="en-US" sz="1400"/>
              <a:t>对应内存 </a:t>
            </a:r>
            <a:r>
              <a:rPr lang="en-US" altLang="zh-CN" sz="1400"/>
              <a:t>tag Tm </a:t>
            </a:r>
            <a:r>
              <a:rPr lang="zh-CN" altLang="en-US" sz="1400">
                <a:ea typeface="SimSun" charset="0"/>
              </a:rPr>
              <a:t>未知</a:t>
            </a:r>
            <a:r>
              <a:rPr lang="zh-CN" altLang="en-US" sz="1400"/>
              <a:t>。</a:t>
            </a:r>
            <a:endParaRPr lang="zh-CN" altLang="en-US" sz="1400"/>
          </a:p>
          <a:p>
            <a:r>
              <a:rPr lang="zh-CN" altLang="en-US" sz="1400"/>
              <a:t>2. </a:t>
            </a:r>
            <a:r>
              <a:rPr lang="en-US" altLang="zh-CN" sz="1400"/>
              <a:t>guess_ptr</a:t>
            </a:r>
            <a:r>
              <a:rPr lang="zh-CN" altLang="en-US" sz="1400"/>
              <a:t>指向 </a:t>
            </a:r>
            <a:r>
              <a:rPr lang="en-US" altLang="zh-CN" sz="1400"/>
              <a:t>target_addr，</a:t>
            </a:r>
            <a:r>
              <a:rPr lang="zh-CN" altLang="en-US" sz="1400"/>
              <a:t>指针</a:t>
            </a:r>
            <a:r>
              <a:rPr lang="en-US" altLang="zh-CN" sz="1400"/>
              <a:t>tag </a:t>
            </a:r>
            <a:r>
              <a:rPr lang="zh-CN" altLang="en-US" sz="1400"/>
              <a:t>猜成 </a:t>
            </a:r>
            <a:r>
              <a:rPr lang="en-US" altLang="zh-CN" sz="1400"/>
              <a:t>Tg。</a:t>
            </a:r>
            <a:endParaRPr lang="en-US" altLang="zh-CN" sz="1400"/>
          </a:p>
          <a:p>
            <a:r>
              <a:rPr lang="zh-CN" altLang="en-US" sz="1400"/>
              <a:t>3. 可观测 </a:t>
            </a:r>
            <a:r>
              <a:rPr lang="en-US" altLang="zh-CN" sz="1400"/>
              <a:t>test_ptr / probe，</a:t>
            </a:r>
            <a:r>
              <a:rPr lang="zh-CN" altLang="en-US" sz="1400"/>
              <a:t>后面靠它看 </a:t>
            </a:r>
            <a:r>
              <a:rPr lang="en-US" altLang="zh-CN" sz="1400"/>
              <a:t>cache hit/miss。</a:t>
            </a:r>
            <a:endParaRPr lang="zh-CN" altLang="en-US" sz="1400"/>
          </a:p>
          <a:p>
            <a:r>
              <a:rPr lang="en-US" altLang="zh-CN" sz="1400"/>
              <a:t>4. CHECK </a:t>
            </a:r>
            <a:r>
              <a:rPr lang="zh-CN" altLang="en-US" sz="1400"/>
              <a:t>解引用 </a:t>
            </a:r>
            <a:r>
              <a:rPr lang="en-US" altLang="zh-CN" sz="1400"/>
              <a:t>guess_ptr，</a:t>
            </a:r>
            <a:r>
              <a:rPr lang="zh-CN" altLang="en-US" sz="1400"/>
              <a:t>触发 </a:t>
            </a:r>
            <a:r>
              <a:rPr lang="en-US" altLang="zh-CN" sz="1400"/>
              <a:t>MTE tag check。</a:t>
            </a:r>
            <a:endParaRPr lang="en-US" altLang="zh-CN" sz="1400"/>
          </a:p>
          <a:p>
            <a:r>
              <a:rPr lang="zh-CN" altLang="en-US" sz="1400"/>
              <a:t>  </a:t>
            </a:r>
            <a:r>
              <a:rPr lang="en-US" altLang="zh-CN" sz="1400"/>
              <a:t>5</a:t>
            </a:r>
            <a:r>
              <a:rPr lang="zh-CN" altLang="en-US" sz="1400"/>
              <a:t>. </a:t>
            </a:r>
            <a:r>
              <a:rPr lang="en-US" altLang="zh-CN" sz="1400"/>
              <a:t>Tg == Tm，CPU </a:t>
            </a:r>
            <a:r>
              <a:rPr lang="zh-CN" altLang="en-US" sz="1400"/>
              <a:t>在推测路径上是一种模式；</a:t>
            </a:r>
            <a:r>
              <a:rPr lang="en-US" altLang="zh-CN" sz="1400"/>
              <a:t>Tg != Tm，CPU </a:t>
            </a:r>
            <a:r>
              <a:rPr lang="zh-CN" altLang="en-US" sz="1400"/>
              <a:t>在推测路径上是另一种模式。</a:t>
            </a:r>
            <a:endParaRPr lang="zh-CN" altLang="en-US" sz="1400"/>
          </a:p>
          <a:p>
            <a:r>
              <a:rPr lang="en-US" altLang="zh-CN" sz="1400"/>
              <a:t>6</a:t>
            </a:r>
            <a:r>
              <a:rPr lang="zh-CN" altLang="en-US" sz="1400"/>
              <a:t>. 这种差异不会以“正常异常”暴露出来，但会反映到 </a:t>
            </a:r>
            <a:r>
              <a:rPr lang="en-US" altLang="zh-CN" sz="1400"/>
              <a:t>cache </a:t>
            </a:r>
            <a:r>
              <a:rPr lang="zh-CN" altLang="en-US" sz="1400"/>
              <a:t>状态上，比如 </a:t>
            </a:r>
            <a:r>
              <a:rPr lang="en-US" altLang="zh-CN" sz="1400"/>
              <a:t>test_ptr </a:t>
            </a:r>
            <a:r>
              <a:rPr lang="zh-CN" altLang="en-US" sz="1400"/>
              <a:t>被 </a:t>
            </a:r>
            <a:r>
              <a:rPr lang="en-US" altLang="zh-CN" sz="1400"/>
              <a:t>cache </a:t>
            </a:r>
            <a:r>
              <a:rPr lang="zh-CN" altLang="en-US" sz="1400"/>
              <a:t>进来了，或者没有进来。</a:t>
            </a:r>
            <a:endParaRPr lang="zh-CN" altLang="en-US" sz="1400"/>
          </a:p>
          <a:p>
            <a:r>
              <a:rPr lang="en-US" altLang="zh-CN" sz="1400"/>
              <a:t>7</a:t>
            </a:r>
            <a:r>
              <a:rPr lang="zh-CN" altLang="en-US" sz="1400"/>
              <a:t>. 攻击者测 </a:t>
            </a:r>
            <a:r>
              <a:rPr lang="en-US" altLang="zh-CN" sz="1400"/>
              <a:t>test_ptr </a:t>
            </a:r>
            <a:r>
              <a:rPr lang="zh-CN" altLang="en-US" sz="1400"/>
              <a:t>的访问延迟。</a:t>
            </a:r>
            <a:endParaRPr lang="zh-CN" altLang="en-US" sz="1400"/>
          </a:p>
          <a:p>
            <a:r>
              <a:rPr lang="en-US" altLang="zh-CN" sz="1400"/>
              <a:t>8</a:t>
            </a:r>
            <a:r>
              <a:rPr lang="zh-CN" altLang="en-US" sz="1400"/>
              <a:t>. 把 </a:t>
            </a:r>
            <a:r>
              <a:rPr lang="en-US" altLang="zh-CN" sz="1400"/>
              <a:t>Tg = 0..15 </a:t>
            </a:r>
            <a:r>
              <a:rPr lang="zh-CN" altLang="en-US" sz="1400"/>
              <a:t>全部试一遍，哪一个猜测能稳定产生“</a:t>
            </a:r>
            <a:r>
              <a:rPr lang="en-US" altLang="zh-CN" sz="1400"/>
              <a:t>tag match”</a:t>
            </a:r>
            <a:r>
              <a:rPr lang="zh-CN" altLang="en-US" sz="1400"/>
              <a:t>的 </a:t>
            </a:r>
            <a:r>
              <a:rPr lang="en-US" altLang="zh-CN" sz="1400"/>
              <a:t>cache </a:t>
            </a:r>
            <a:r>
              <a:rPr lang="zh-CN" altLang="en-US" sz="1400"/>
              <a:t>模式，哪个就是正确 </a:t>
            </a:r>
            <a:r>
              <a:rPr lang="en-US" altLang="zh-CN" sz="1400"/>
              <a:t>tag。</a:t>
            </a:r>
            <a:endParaRPr lang="en-US" altLang="zh-CN" sz="1400"/>
          </a:p>
        </p:txBody>
      </p:sp>
      <p:sp>
        <p:nvSpPr>
          <p:cNvPr id="19" name="文本框 18"/>
          <p:cNvSpPr txBox="1"/>
          <p:nvPr/>
        </p:nvSpPr>
        <p:spPr>
          <a:xfrm>
            <a:off x="5321300" y="5090795"/>
            <a:ext cx="6191250" cy="4489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solidFill>
                  <a:srgbClr val="FF0000"/>
                </a:solidFill>
              </a:rPr>
              <a:t>2024SP</a:t>
            </a:r>
            <a:r>
              <a:rPr lang="en-US" altLang="zh-CN"/>
              <a:t>-Sticky Tags</a:t>
            </a:r>
            <a:r>
              <a:rPr lang="zh-CN" altLang="en-US"/>
              <a:t>是防御论文，但明确把“</a:t>
            </a:r>
            <a:r>
              <a:rPr lang="en-US" altLang="zh-CN"/>
              <a:t>random MTE tag </a:t>
            </a:r>
            <a:r>
              <a:rPr lang="zh-CN" altLang="en-US"/>
              <a:t>可被 </a:t>
            </a:r>
            <a:r>
              <a:rPr lang="en-US" altLang="zh-CN"/>
              <a:t>speculative probing </a:t>
            </a:r>
            <a:r>
              <a:rPr lang="zh-CN" altLang="en-US"/>
              <a:t>推断”作为攻击动机</a:t>
            </a:r>
            <a:endParaRPr lang="zh-CN" altLang="en-US"/>
          </a:p>
        </p:txBody>
      </p:sp>
    </p:spTree>
    <p:custDataLst>
      <p:tags r:id="rId3"/>
    </p:custData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1"/>
          <p:cNvSpPr txBox="1">
            <a:spLocks noChangeArrowheads="1"/>
          </p:cNvSpPr>
          <p:nvPr/>
        </p:nvSpPr>
        <p:spPr bwMode="auto">
          <a:xfrm>
            <a:off x="205105" y="126003"/>
            <a:ext cx="8739868" cy="739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8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UAF</a:t>
            </a:r>
            <a:r>
              <a:rPr lang="zh-CN" altLang="en-US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防护</a:t>
            </a:r>
            <a:endParaRPr lang="zh-CN" altLang="en-US" sz="3200" b="1" noProof="0" dirty="0">
              <a:ln>
                <a:noFill/>
              </a:ln>
              <a:solidFill>
                <a:srgbClr val="005390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Arial" panose="020B0604020202020204"/>
            </a:endParaRPr>
          </a:p>
        </p:txBody>
      </p:sp>
      <p:sp>
        <p:nvSpPr>
          <p:cNvPr id="10" name="圆角矩形 10"/>
          <p:cNvSpPr/>
          <p:nvPr/>
        </p:nvSpPr>
        <p:spPr>
          <a:xfrm>
            <a:off x="195492" y="757646"/>
            <a:ext cx="11843057" cy="5978693"/>
          </a:xfrm>
          <a:prstGeom prst="roundRect">
            <a:avLst>
              <a:gd name="adj" fmla="val 6425"/>
            </a:avLst>
          </a:prstGeom>
          <a:noFill/>
          <a:ln w="12700">
            <a:solidFill>
              <a:srgbClr val="186299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5548" y="194416"/>
            <a:ext cx="2223989" cy="495793"/>
          </a:xfrm>
          <a:prstGeom prst="rect">
            <a:avLst/>
          </a:prstGeom>
        </p:spPr>
      </p:pic>
      <p:sp>
        <p:nvSpPr>
          <p:cNvPr id="4" name="文本框 3"/>
          <p:cNvSpPr txBox="1"/>
          <p:nvPr userDrawn="1"/>
        </p:nvSpPr>
        <p:spPr>
          <a:xfrm>
            <a:off x="378619" y="930275"/>
            <a:ext cx="525780" cy="368300"/>
          </a:xfrm>
          <a:prstGeom prst="rect">
            <a:avLst/>
          </a:prstGeom>
        </p:spPr>
        <p:txBody>
          <a:bodyPr wrap="none" rtlCol="0">
            <a:spAutoFit/>
          </a:bodyPr>
          <a:p>
            <a:pPr marL="342900" indent="-342900">
              <a:buAutoNum type="arabicPeriod"/>
            </a:pPr>
            <a:endParaRPr lang="zh-CN" altLang="en-US"/>
          </a:p>
        </p:txBody>
      </p:sp>
      <p:sp>
        <p:nvSpPr>
          <p:cNvPr id="2" name="文本框 1"/>
          <p:cNvSpPr txBox="1"/>
          <p:nvPr userDrawn="1"/>
        </p:nvSpPr>
        <p:spPr>
          <a:xfrm>
            <a:off x="378460" y="895350"/>
            <a:ext cx="11659870" cy="403225"/>
          </a:xfrm>
          <a:prstGeom prst="rect">
            <a:avLst/>
          </a:prstGeom>
        </p:spPr>
        <p:txBody>
          <a:bodyPr wrap="square" rtlCol="0">
            <a:noAutofit/>
          </a:bodyPr>
          <a:p>
            <a:r>
              <a:rPr lang="en-US" altLang="zh-CN">
                <a:solidFill>
                  <a:srgbClr val="FF0000"/>
                </a:solidFill>
                <a:ea typeface="SimSun" charset="0"/>
              </a:rPr>
              <a:t>2026NDSS</a:t>
            </a:r>
            <a:r>
              <a:rPr lang="en-US" altLang="zh-CN">
                <a:ea typeface="SimSun" charset="0"/>
              </a:rPr>
              <a:t>Fast Pointer Nullification for Use-After-Free</a:t>
            </a:r>
            <a:r>
              <a:rPr lang="zh-CN" altLang="en-US">
                <a:ea typeface="SimSun" charset="0"/>
              </a:rPr>
              <a:t>：</a:t>
            </a:r>
            <a:endParaRPr lang="zh-CN" altLang="en-US">
              <a:ea typeface="SimSun" charset="0"/>
            </a:endParaRPr>
          </a:p>
          <a:p>
            <a:r>
              <a:rPr lang="zh-CN" altLang="en-US">
                <a:ea typeface="SimSun" charset="0"/>
              </a:rPr>
              <a:t>      1. 把元数据从“按 </a:t>
            </a:r>
            <a:r>
              <a:rPr lang="en-US" altLang="zh-CN">
                <a:ea typeface="SimSun" charset="0"/>
              </a:rPr>
              <a:t>buffer </a:t>
            </a:r>
            <a:r>
              <a:rPr lang="zh-CN" altLang="en-US">
                <a:ea typeface="SimSun" charset="0"/>
              </a:rPr>
              <a:t>精确管理”改成“按 </a:t>
            </a:r>
            <a:r>
              <a:rPr lang="en-US" altLang="zh-CN">
                <a:ea typeface="SimSun" charset="0"/>
              </a:rPr>
              <a:t>region </a:t>
            </a:r>
            <a:r>
              <a:rPr lang="zh-CN" altLang="en-US">
                <a:ea typeface="SimSun" charset="0"/>
              </a:rPr>
              <a:t>管理”，让定位 </a:t>
            </a:r>
            <a:r>
              <a:rPr lang="en-US" altLang="zh-CN">
                <a:ea typeface="SimSun" charset="0"/>
              </a:rPr>
              <a:t>metadata </a:t>
            </a:r>
            <a:r>
              <a:rPr lang="zh-CN" altLang="en-US">
                <a:ea typeface="SimSun" charset="0"/>
              </a:rPr>
              <a:t>更快。</a:t>
            </a:r>
            <a:endParaRPr lang="zh-CN" altLang="en-US">
              <a:ea typeface="SimSun" charset="0"/>
            </a:endParaRPr>
          </a:p>
          <a:p>
            <a:r>
              <a:rPr lang="zh-CN" altLang="en-US">
                <a:ea typeface="SimSun" charset="0"/>
              </a:rPr>
              <a:t>      2. 把注册单位从“每个指针存储地址”改成“</a:t>
            </a:r>
            <a:r>
              <a:rPr lang="en-US" altLang="zh-CN">
                <a:ea typeface="SimSun" charset="0"/>
              </a:rPr>
              <a:t>block”，</a:t>
            </a:r>
            <a:r>
              <a:rPr lang="zh-CN" altLang="en-US">
                <a:ea typeface="SimSun" charset="0"/>
              </a:rPr>
              <a:t>利用指针存储位置的空间局部性，减少注册次数和内存开销。</a:t>
            </a:r>
            <a:endParaRPr lang="zh-CN" altLang="en-US">
              <a:ea typeface="SimSun" charset="0"/>
            </a:endParaRPr>
          </a:p>
          <a:p>
            <a:endParaRPr lang="zh-CN" altLang="en-US">
              <a:ea typeface="SimSun" charset="0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460" y="2063750"/>
            <a:ext cx="3548380" cy="420179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3895" y="2063750"/>
            <a:ext cx="6698615" cy="3780790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4124960" y="5843905"/>
            <a:ext cx="7560310" cy="6750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用 </a:t>
            </a:r>
            <a:r>
              <a:rPr lang="en-US" altLang="zh-CN"/>
              <a:t>region-level metadata + block-level registration，</a:t>
            </a:r>
            <a:r>
              <a:rPr lang="zh-CN" altLang="en-US"/>
              <a:t>把 </a:t>
            </a:r>
            <a:r>
              <a:rPr lang="en-US" altLang="zh-CN"/>
              <a:t>Pointer Nullification </a:t>
            </a:r>
            <a:r>
              <a:rPr lang="zh-CN" altLang="en-US"/>
              <a:t>做得更快、更省内存、还能保持较强的 </a:t>
            </a:r>
            <a:r>
              <a:rPr lang="en-US" altLang="zh-CN"/>
              <a:t>UAF </a:t>
            </a:r>
            <a:r>
              <a:rPr lang="zh-CN" altLang="en-US"/>
              <a:t>防护。</a:t>
            </a:r>
            <a:endParaRPr lang="zh-CN" altLang="en-US"/>
          </a:p>
        </p:txBody>
      </p:sp>
    </p:spTree>
    <p:custDataLst>
      <p:tags r:id="rId4"/>
    </p:custData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1"/>
          <p:cNvSpPr txBox="1">
            <a:spLocks noChangeArrowheads="1"/>
          </p:cNvSpPr>
          <p:nvPr/>
        </p:nvSpPr>
        <p:spPr bwMode="auto">
          <a:xfrm>
            <a:off x="205105" y="126003"/>
            <a:ext cx="8739868" cy="739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8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Kernel Related</a:t>
            </a:r>
            <a:endParaRPr lang="en-US" altLang="zh-CN" sz="3200" b="1" noProof="0" dirty="0">
              <a:ln>
                <a:noFill/>
              </a:ln>
              <a:solidFill>
                <a:srgbClr val="005390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Arial" panose="020B0604020202020204"/>
            </a:endParaRPr>
          </a:p>
        </p:txBody>
      </p:sp>
      <p:sp>
        <p:nvSpPr>
          <p:cNvPr id="10" name="圆角矩形 10"/>
          <p:cNvSpPr/>
          <p:nvPr/>
        </p:nvSpPr>
        <p:spPr>
          <a:xfrm>
            <a:off x="195492" y="757646"/>
            <a:ext cx="11843057" cy="5978693"/>
          </a:xfrm>
          <a:prstGeom prst="roundRect">
            <a:avLst>
              <a:gd name="adj" fmla="val 6425"/>
            </a:avLst>
          </a:prstGeom>
          <a:noFill/>
          <a:ln w="12700">
            <a:solidFill>
              <a:srgbClr val="186299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5548" y="194416"/>
            <a:ext cx="2223989" cy="495793"/>
          </a:xfrm>
          <a:prstGeom prst="rect">
            <a:avLst/>
          </a:prstGeom>
        </p:spPr>
      </p:pic>
      <p:sp>
        <p:nvSpPr>
          <p:cNvPr id="4" name="文本框 3"/>
          <p:cNvSpPr txBox="1"/>
          <p:nvPr userDrawn="1"/>
        </p:nvSpPr>
        <p:spPr>
          <a:xfrm>
            <a:off x="378619" y="930275"/>
            <a:ext cx="525780" cy="368300"/>
          </a:xfrm>
          <a:prstGeom prst="rect">
            <a:avLst/>
          </a:prstGeom>
        </p:spPr>
        <p:txBody>
          <a:bodyPr wrap="none" rtlCol="0">
            <a:spAutoFit/>
          </a:bodyPr>
          <a:p>
            <a:pPr marL="342900" indent="-342900">
              <a:buAutoNum type="arabicPeriod"/>
            </a:pPr>
            <a:endParaRPr lang="zh-CN" altLang="en-US"/>
          </a:p>
        </p:txBody>
      </p:sp>
      <p:sp>
        <p:nvSpPr>
          <p:cNvPr id="2" name="文本框 1"/>
          <p:cNvSpPr txBox="1"/>
          <p:nvPr userDrawn="1"/>
        </p:nvSpPr>
        <p:spPr>
          <a:xfrm>
            <a:off x="378460" y="895350"/>
            <a:ext cx="11659870" cy="403225"/>
          </a:xfrm>
          <a:prstGeom prst="rect">
            <a:avLst/>
          </a:prstGeom>
        </p:spPr>
        <p:txBody>
          <a:bodyPr wrap="square" rtlCol="0">
            <a:noAutofit/>
          </a:bodyPr>
          <a:p>
            <a:r>
              <a:rPr lang="en-US" altLang="zh-CN">
                <a:solidFill>
                  <a:srgbClr val="FF0000"/>
                </a:solidFill>
                <a:ea typeface="SimSun" charset="0"/>
              </a:rPr>
              <a:t>2025Usenix</a:t>
            </a:r>
            <a:r>
              <a:rPr lang="en-US" altLang="zh-CN">
                <a:ea typeface="SimSun" charset="0"/>
              </a:rPr>
              <a:t>-When Good Kernel Defenses Go Bad</a:t>
            </a:r>
            <a:r>
              <a:rPr lang="zh-CN" altLang="en-US">
                <a:ea typeface="SimSun" charset="0"/>
              </a:rPr>
              <a:t>：（</a:t>
            </a:r>
            <a:r>
              <a:rPr lang="en-US" altLang="zh-CN">
                <a:ea typeface="SimSun" charset="0"/>
              </a:rPr>
              <a:t>CONFIG_STRICT_MODULE_RWX、CONFIG_SLAB_VIRTUAL、CONFIG_VMAP_STACK </a:t>
            </a:r>
            <a:r>
              <a:rPr lang="zh-CN" altLang="en-US">
                <a:ea typeface="SimSun" charset="0"/>
              </a:rPr>
              <a:t>）这三类防御会把某些区域从 2 </a:t>
            </a:r>
            <a:r>
              <a:rPr lang="en-US" altLang="zh-CN">
                <a:ea typeface="SimSun" charset="0"/>
              </a:rPr>
              <a:t>MB </a:t>
            </a:r>
            <a:r>
              <a:rPr lang="zh-CN" altLang="en-US">
                <a:ea typeface="SimSun" charset="0"/>
              </a:rPr>
              <a:t>映射切到 4 </a:t>
            </a:r>
            <a:r>
              <a:rPr lang="en-US" altLang="zh-CN">
                <a:ea typeface="SimSun" charset="0"/>
              </a:rPr>
              <a:t>kB，</a:t>
            </a:r>
            <a:r>
              <a:rPr lang="zh-CN" altLang="en-US">
                <a:ea typeface="SimSun" charset="0"/>
              </a:rPr>
              <a:t>于是</a:t>
            </a:r>
            <a:endParaRPr lang="zh-CN" altLang="en-US">
              <a:ea typeface="SimSun" charset="0"/>
            </a:endParaRPr>
          </a:p>
          <a:p>
            <a:r>
              <a:rPr lang="zh-CN" altLang="en-US">
                <a:ea typeface="SimSun" charset="0"/>
              </a:rPr>
              <a:t>  攻击者可以结合 </a:t>
            </a:r>
            <a:r>
              <a:rPr lang="en-US" altLang="zh-CN">
                <a:ea typeface="SimSun" charset="0"/>
              </a:rPr>
              <a:t>allocator massaging </a:t>
            </a:r>
            <a:r>
              <a:rPr lang="zh-CN" altLang="en-US">
                <a:ea typeface="SimSun" charset="0"/>
              </a:rPr>
              <a:t>和 </a:t>
            </a:r>
            <a:r>
              <a:rPr lang="en-US" altLang="zh-CN">
                <a:ea typeface="SimSun" charset="0"/>
              </a:rPr>
              <a:t>TLB Evict+Reload，</a:t>
            </a:r>
            <a:r>
              <a:rPr lang="zh-CN" altLang="en-US">
                <a:ea typeface="SimSun" charset="0"/>
              </a:rPr>
              <a:t>把 </a:t>
            </a:r>
            <a:r>
              <a:rPr lang="en-US" altLang="zh-CN">
                <a:ea typeface="SimSun" charset="0"/>
              </a:rPr>
              <a:t>pipe_buffer、msg_msg、cred、page table、kernel stack </a:t>
            </a:r>
            <a:r>
              <a:rPr lang="zh-CN" altLang="en-US">
                <a:ea typeface="SimSun" charset="0"/>
              </a:rPr>
              <a:t>之类目标的位置泄出来，再接到 </a:t>
            </a:r>
            <a:r>
              <a:rPr lang="en-US" altLang="zh-CN">
                <a:ea typeface="SimSun" charset="0"/>
              </a:rPr>
              <a:t>UAF/OOB write/unlink primitive </a:t>
            </a:r>
            <a:r>
              <a:rPr lang="zh-CN" altLang="en-US">
                <a:ea typeface="SimSun" charset="0"/>
              </a:rPr>
              <a:t>后面，做出高可靠提权</a:t>
            </a:r>
            <a:endParaRPr lang="zh-CN" altLang="en-US">
              <a:ea typeface="SimSun" charset="0"/>
            </a:endParaRPr>
          </a:p>
          <a:p>
            <a:endParaRPr lang="zh-CN" altLang="en-US">
              <a:ea typeface="SimSun" charset="0"/>
            </a:endParaRPr>
          </a:p>
          <a:p>
            <a:r>
              <a:rPr lang="zh-CN" altLang="en-US">
                <a:ea typeface="SimSun" charset="0"/>
              </a:rPr>
              <a:t>这篇论文在本机</a:t>
            </a:r>
            <a:r>
              <a:rPr lang="en-US" altLang="zh-CN">
                <a:ea typeface="SimSun" charset="0"/>
              </a:rPr>
              <a:t>Intel</a:t>
            </a:r>
            <a:r>
              <a:rPr lang="zh-CN" altLang="en-US">
                <a:ea typeface="SimSun" charset="0"/>
              </a:rPr>
              <a:t>上基本可以复现，而且这几个防护手段在</a:t>
            </a:r>
            <a:r>
              <a:rPr lang="en-US" altLang="zh-CN">
                <a:ea typeface="SimSun" charset="0"/>
              </a:rPr>
              <a:t>RISCV</a:t>
            </a:r>
            <a:r>
              <a:rPr lang="zh-CN" altLang="en-US">
                <a:ea typeface="SimSun" charset="0"/>
              </a:rPr>
              <a:t>也是存在的（验证过），只不过在</a:t>
            </a:r>
            <a:r>
              <a:rPr lang="en-US" altLang="zh-CN">
                <a:ea typeface="SimSun" charset="0"/>
              </a:rPr>
              <a:t>RISCV</a:t>
            </a:r>
            <a:r>
              <a:rPr lang="zh-CN" altLang="en-US">
                <a:ea typeface="SimSun" charset="0"/>
              </a:rPr>
              <a:t>不可以直接在用户态对内核态进行运行时数据采集，可能需要调整，但是整个流程大致一致的。</a:t>
            </a:r>
            <a:endParaRPr lang="zh-CN" altLang="en-US">
              <a:ea typeface="SimSun" charset="0"/>
            </a:endParaRPr>
          </a:p>
          <a:p>
            <a:endParaRPr lang="en-US" altLang="zh-CN">
              <a:ea typeface="SimSun" charset="0"/>
            </a:endParaRPr>
          </a:p>
          <a:p>
            <a:r>
              <a:rPr lang="zh-CN" altLang="en-US">
                <a:ea typeface="SimSun" charset="0"/>
              </a:rPr>
              <a:t>与</a:t>
            </a:r>
            <a:r>
              <a:rPr lang="en-US" altLang="zh-CN">
                <a:ea typeface="SimSun" charset="0"/>
              </a:rPr>
              <a:t>Kernel</a:t>
            </a:r>
            <a:r>
              <a:rPr lang="zh-CN" altLang="en-US">
                <a:ea typeface="SimSun" charset="0"/>
              </a:rPr>
              <a:t>相关的安全问题迁移会相对可行，不过要考虑底层的</a:t>
            </a:r>
            <a:r>
              <a:rPr lang="en-US" altLang="zh-CN">
                <a:ea typeface="SimSun" charset="0"/>
              </a:rPr>
              <a:t>profiling</a:t>
            </a:r>
            <a:r>
              <a:rPr lang="zh-CN" altLang="en-US">
                <a:ea typeface="SimSun" charset="0"/>
              </a:rPr>
              <a:t>手段。</a:t>
            </a:r>
            <a:endParaRPr lang="zh-CN" altLang="en-US">
              <a:ea typeface="SimSun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78460" y="4210050"/>
            <a:ext cx="11510645" cy="16205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本地配置了</a:t>
            </a:r>
            <a:r>
              <a:rPr lang="en-US" altLang="zh-CN"/>
              <a:t>Qemu-CHERI</a:t>
            </a:r>
            <a:r>
              <a:rPr lang="zh-CN" altLang="en-US">
                <a:ea typeface="SimSun" charset="0"/>
              </a:rPr>
              <a:t>环境，试着了解</a:t>
            </a:r>
            <a:r>
              <a:rPr lang="en-US" altLang="zh-CN">
                <a:ea typeface="SimSun" charset="0"/>
              </a:rPr>
              <a:t>CHERI</a:t>
            </a:r>
            <a:r>
              <a:rPr lang="zh-CN" altLang="en-US">
                <a:ea typeface="SimSun" charset="0"/>
              </a:rPr>
              <a:t>相关机制是如何实现的，随后才可以去试着去做攻击。如果需要做微架构（缓存）相关攻击，则需要再配置</a:t>
            </a:r>
            <a:r>
              <a:rPr lang="en-US" altLang="zh-CN">
                <a:ea typeface="SimSun" charset="0"/>
              </a:rPr>
              <a:t>Toooba</a:t>
            </a:r>
            <a:r>
              <a:rPr lang="zh-CN" altLang="en-US">
                <a:ea typeface="SimSun" charset="0"/>
              </a:rPr>
              <a:t>环境。</a:t>
            </a:r>
            <a:endParaRPr lang="zh-CN" altLang="en-US">
              <a:ea typeface="SimSun" charset="0"/>
            </a:endParaRPr>
          </a:p>
        </p:txBody>
      </p:sp>
    </p:spTree>
    <p:custDataLst>
      <p:tags r:id="rId2"/>
    </p:custData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5548" y="194416"/>
            <a:ext cx="2223989" cy="495793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35" y="3917950"/>
            <a:ext cx="12193270" cy="2940050"/>
          </a:xfrm>
          <a:prstGeom prst="rect">
            <a:avLst/>
          </a:prstGeom>
        </p:spPr>
      </p:pic>
      <p:sp>
        <p:nvSpPr>
          <p:cNvPr id="10" name="Shape 45"/>
          <p:cNvSpPr/>
          <p:nvPr/>
        </p:nvSpPr>
        <p:spPr>
          <a:xfrm>
            <a:off x="-635" y="4758343"/>
            <a:ext cx="12192000" cy="1049005"/>
          </a:xfrm>
          <a:prstGeom prst="rect">
            <a:avLst/>
          </a:prstGeom>
          <a:noFill/>
          <a:ln w="12700">
            <a:noFill/>
            <a:miter lim="400000"/>
          </a:ln>
        </p:spPr>
        <p:txBody>
          <a:bodyPr wrap="square" lIns="34290" tIns="34290" rIns="34290" bIns="34290">
            <a:spAutoFit/>
          </a:bodyPr>
          <a:lstStyle>
            <a:lvl1pPr algn="l" defTabSz="914400">
              <a:defRPr sz="9000" cap="all" spc="1350">
                <a:solidFill>
                  <a:srgbClr val="3766D7"/>
                </a:solidFill>
                <a:latin typeface="Impact" panose="020B0806030902050204"/>
                <a:ea typeface="Impact" panose="020B0806030902050204"/>
                <a:cs typeface="Impact" panose="020B0806030902050204"/>
                <a:sym typeface="Impact" panose="020B0806030902050204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00" cap="none" spc="0">
                <a:solidFill>
                  <a:srgbClr val="000000"/>
                </a:solidFill>
              </a:defRPr>
            </a:pPr>
            <a:r>
              <a:rPr kumimoji="0" lang="en-US" altLang="zh-CN" sz="58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Microsoft YaHei" panose="020B0503020204020204" pitchFamily="34" charset="-122"/>
                <a:cs typeface="Times New Roman" panose="02020603050405020304" pitchFamily="18" charset="0"/>
                <a:sym typeface="Impact" panose="020B0806030902050204"/>
              </a:rPr>
              <a:t>Thanks</a:t>
            </a:r>
            <a:r>
              <a:rPr kumimoji="0" lang="zh-CN" altLang="en-US" sz="58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Microsoft YaHei" panose="020B0503020204020204" pitchFamily="34" charset="-122"/>
                <a:cs typeface="Times New Roman" panose="02020603050405020304" pitchFamily="18" charset="0"/>
                <a:sym typeface="Impact" panose="020B0806030902050204"/>
              </a:rPr>
              <a:t>！</a:t>
            </a:r>
            <a:endParaRPr kumimoji="0" lang="zh-CN" altLang="en-US" sz="58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Times New Roman" panose="02020603050405020304" pitchFamily="18" charset="0"/>
              <a:ea typeface="Microsoft YaHei" panose="020B0503020204020204" pitchFamily="34" charset="-122"/>
              <a:cs typeface="Times New Roman" panose="02020603050405020304" pitchFamily="18" charset="0"/>
              <a:sym typeface="Impact" panose="020B0806030902050204"/>
            </a:endParaRPr>
          </a:p>
        </p:txBody>
      </p:sp>
      <p:sp>
        <p:nvSpPr>
          <p:cNvPr id="5" name="标题 1"/>
          <p:cNvSpPr txBox="1">
            <a:spLocks noChangeArrowheads="1"/>
          </p:cNvSpPr>
          <p:nvPr/>
        </p:nvSpPr>
        <p:spPr bwMode="auto">
          <a:xfrm>
            <a:off x="302463" y="149947"/>
            <a:ext cx="3449964" cy="739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8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zh-CN" altLang="en-US" sz="3200" b="1" dirty="0">
                <a:solidFill>
                  <a:srgbClr val="005390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工作计划</a:t>
            </a:r>
            <a:endParaRPr lang="zh-CN" altLang="en-US" sz="3200" b="1" noProof="0" dirty="0">
              <a:ln>
                <a:noFill/>
              </a:ln>
              <a:solidFill>
                <a:srgbClr val="005390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Arial" panose="020B0604020202020204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538716" y="1205626"/>
            <a:ext cx="9381259" cy="54419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342900" indent="-342900" algn="l">
              <a:lnSpc>
                <a:spcPct val="150000"/>
              </a:lnSpc>
              <a:buAutoNum type="arabicPeriod"/>
            </a:pPr>
            <a:r>
              <a:rPr lang="zh-CN" altLang="en-US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根据老师建议调整方向</a:t>
            </a:r>
            <a:r>
              <a:rPr lang="en-US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;</a:t>
            </a:r>
            <a:endParaRPr lang="en-US" altLang="zh-CN" sz="1600" dirty="0">
              <a:latin typeface="Microsoft YaHei" panose="020B0503020204020204" pitchFamily="34" charset="-122"/>
              <a:ea typeface="Microsoft YaHei" panose="020B0503020204020204" pitchFamily="34" charset="-122"/>
              <a:sym typeface="+mn-ea"/>
            </a:endParaRPr>
          </a:p>
          <a:p>
            <a:pPr marL="342900" indent="-342900" algn="l">
              <a:lnSpc>
                <a:spcPct val="150000"/>
              </a:lnSpc>
              <a:buAutoNum type="arabicPeriod"/>
            </a:pPr>
            <a:r>
              <a:rPr lang="zh-CN" altLang="en-US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根据顶会论文源码进行分析，提取可以利用的点并尝试迁移</a:t>
            </a:r>
            <a:r>
              <a:rPr lang="en-US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;</a:t>
            </a:r>
            <a:endParaRPr lang="en-US" altLang="zh-CN" sz="1600" dirty="0">
              <a:latin typeface="Microsoft YaHei" panose="020B0503020204020204" pitchFamily="34" charset="-122"/>
              <a:ea typeface="Microsoft YaHei" panose="020B0503020204020204" pitchFamily="34" charset="-122"/>
              <a:sym typeface="+mn-ea"/>
            </a:endParaRPr>
          </a:p>
          <a:p>
            <a:pPr marL="342900" indent="-342900" algn="l">
              <a:lnSpc>
                <a:spcPct val="150000"/>
              </a:lnSpc>
              <a:buAutoNum type="arabicPeriod"/>
            </a:pPr>
            <a:r>
              <a:rPr lang="en-US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Google Project0</a:t>
            </a:r>
            <a:r>
              <a:rPr lang="zh-CN" altLang="en-US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寻找前沿的可以利用的攻击</a:t>
            </a:r>
            <a:r>
              <a:rPr lang="zh-CN" altLang="en-US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。</a:t>
            </a:r>
            <a:endParaRPr lang="zh-CN" altLang="en-US" sz="1600" dirty="0">
              <a:latin typeface="Microsoft YaHei" panose="020B0503020204020204" pitchFamily="34" charset="-122"/>
              <a:ea typeface="Microsoft YaHei" panose="020B0503020204020204" pitchFamily="34" charset="-122"/>
              <a:sym typeface="+mn-ea"/>
            </a:endParaRPr>
          </a:p>
        </p:txBody>
      </p:sp>
    </p:spTree>
    <p:custDataLst>
      <p:tags r:id="rId3"/>
    </p:custDataLst>
  </p:cSld>
  <p:clrMapOvr>
    <a:masterClrMapping/>
  </p:clrMapOvr>
  <p:transition/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SLIDE_BACKGROUND_TYPE" val="general"/>
</p:tagLst>
</file>

<file path=ppt/tags/tag4.xml><?xml version="1.0" encoding="utf-8"?>
<p:tagLst xmlns:p="http://schemas.openxmlformats.org/presentationml/2006/main">
  <p:tag name="KSO_WM_SLIDE_BACKGROUND_TYPE" val="general"/>
</p:tagLst>
</file>

<file path=ppt/tags/tag5.xml><?xml version="1.0" encoding="utf-8"?>
<p:tagLst xmlns:p="http://schemas.openxmlformats.org/presentationml/2006/main">
  <p:tag name="KSO_WM_SLIDE_BACKGROUND_TYPE" val="general"/>
</p:tagLst>
</file>

<file path=ppt/tags/tag6.xml><?xml version="1.0" encoding="utf-8"?>
<p:tagLst xmlns:p="http://schemas.openxmlformats.org/presentationml/2006/main">
  <p:tag name="KSO_WM_SLIDE_BACKGROUND_TYPE" val="general"/>
</p:tagLst>
</file>

<file path=ppt/tags/tag7.xml><?xml version="1.0" encoding="utf-8"?>
<p:tagLst xmlns:p="http://schemas.openxmlformats.org/presentationml/2006/main">
  <p:tag name="KSO_WM_SLIDE_BACKGROUND_TYPE" val="general"/>
</p:tagLst>
</file>

<file path=ppt/tags/tag8.xml><?xml version="1.0" encoding="utf-8"?>
<p:tagLst xmlns:p="http://schemas.openxmlformats.org/presentationml/2006/main">
  <p:tag name="RESOURCE_RECORD_KEY" val="{&quot;65&quot;:[20229149],&quot;70&quot;:[3319068,3312407]}"/>
  <p:tag name="COMMONDATA" val="eyJoZGlkIjoiMWE2MmRiMDAwMTc4ZmUxYjI2MjMwNzljODhkYTA0MzAifQ==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2148</Words>
  <Application>WPS 演示</Application>
  <PresentationFormat>宽屏</PresentationFormat>
  <Paragraphs>71</Paragraphs>
  <Slides>6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21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28" baseType="lpstr">
      <vt:lpstr>Arial</vt:lpstr>
      <vt:lpstr>SimSun</vt:lpstr>
      <vt:lpstr>Wingdings</vt:lpstr>
      <vt:lpstr>DejaVu Sans</vt:lpstr>
      <vt:lpstr>Microsoft YaHei</vt:lpstr>
      <vt:lpstr>Droid Sans Fallback</vt:lpstr>
      <vt:lpstr>Calibri</vt:lpstr>
      <vt:lpstr>Arial</vt:lpstr>
      <vt:lpstr>Calibri</vt:lpstr>
      <vt:lpstr>SimSun</vt:lpstr>
      <vt:lpstr>Impact</vt:lpstr>
      <vt:lpstr>Ubuntu Condensed</vt:lpstr>
      <vt:lpstr>Times New Roman</vt:lpstr>
      <vt:lpstr>等线 Light</vt:lpstr>
      <vt:lpstr>Gubbi</vt:lpstr>
      <vt:lpstr>等线</vt:lpstr>
      <vt:lpstr>Microsoft YaHei</vt:lpstr>
      <vt:lpstr>Arial Unicode MS</vt:lpstr>
      <vt:lpstr>SimSun</vt:lpstr>
      <vt:lpstr>Noto Serif CJK SC</vt:lpstr>
      <vt:lpstr>OpenSymbol</vt:lpstr>
      <vt:lpstr>Office 主题​​</vt:lpstr>
      <vt:lpstr>组会报告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微电子研究院科研工作汇报</dc:title>
  <dc:creator>Bruce Andy</dc:creator>
  <cp:lastModifiedBy>刘子豪</cp:lastModifiedBy>
  <cp:revision>5740</cp:revision>
  <dcterms:created xsi:type="dcterms:W3CDTF">2026-04-17T08:15:24Z</dcterms:created>
  <dcterms:modified xsi:type="dcterms:W3CDTF">2026-04-17T08:15:24Z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9E64E45E33F6F678E9D4E16910D9AFFF_43</vt:lpwstr>
  </property>
  <property fmtid="{D5CDD505-2E9C-101B-9397-08002B2CF9AE}" pid="3" name="KSOProductBuildVer">
    <vt:lpwstr>2052-12.1.2.25838</vt:lpwstr>
  </property>
</Properties>
</file>