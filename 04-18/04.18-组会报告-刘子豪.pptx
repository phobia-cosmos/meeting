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0" r:id="rId6"/>
    <p:sldId id="6521" r:id="rId7"/>
    <p:sldId id="6522" r:id="rId8"/>
    <p:sldId id="6514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7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Pointer Safety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攻击调研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85750" y="930275"/>
            <a:ext cx="10986135" cy="1840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ARM</a:t>
            </a:r>
            <a:r>
              <a:rPr lang="zh-CN" altLang="en-US">
                <a:ea typeface="SimSun" charset="0"/>
                <a:sym typeface="+mn-ea"/>
              </a:rPr>
              <a:t>：</a:t>
            </a:r>
            <a:r>
              <a:rPr lang="en-US" altLang="zh-CN">
                <a:ea typeface="SimSun" charset="0"/>
                <a:sym typeface="+mn-ea"/>
              </a:rPr>
              <a:t>MTE&amp;</a:t>
            </a:r>
            <a:r>
              <a:rPr lang="zh-CN" altLang="en-US">
                <a:ea typeface="SimSun" charset="0"/>
                <a:sym typeface="+mn-ea"/>
              </a:rPr>
              <a:t>扩展--基于</a:t>
            </a:r>
            <a:r>
              <a:rPr lang="en-US" altLang="zh-CN">
                <a:ea typeface="SimSun" charset="0"/>
                <a:sym typeface="+mn-ea"/>
              </a:rPr>
              <a:t>tagging</a:t>
            </a:r>
            <a:r>
              <a:rPr lang="zh-CN" altLang="en-US">
                <a:ea typeface="SimSun" charset="0"/>
                <a:sym typeface="+mn-ea"/>
              </a:rPr>
              <a:t>开发的硬件（缓存侧信道攻击</a:t>
            </a:r>
            <a:r>
              <a:rPr lang="en-US" altLang="zh-CN">
                <a:ea typeface="SimSun" charset="0"/>
                <a:sym typeface="+mn-ea"/>
              </a:rPr>
              <a:t>pointer safety）</a:t>
            </a:r>
            <a:endParaRPr lang="en-US" altLang="zh-CN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需要专门的硬件支持，</a:t>
            </a:r>
            <a:r>
              <a:rPr lang="en-US" altLang="zh-CN">
                <a:ea typeface="SimSun" charset="0"/>
                <a:sym typeface="+mn-ea"/>
              </a:rPr>
              <a:t>RISCV tagging</a:t>
            </a:r>
            <a:r>
              <a:rPr lang="zh-CN" altLang="en-US">
                <a:ea typeface="SimSun" charset="0"/>
                <a:sym typeface="+mn-ea"/>
              </a:rPr>
              <a:t>标准在推进中，</a:t>
            </a:r>
            <a:r>
              <a:rPr lang="en-US" altLang="zh-CN">
                <a:ea typeface="SimSun" charset="0"/>
                <a:sym typeface="+mn-ea"/>
              </a:rPr>
              <a:t>pointer masking</a:t>
            </a:r>
            <a:r>
              <a:rPr lang="zh-CN" altLang="en-US">
                <a:ea typeface="SimSun" charset="0"/>
                <a:sym typeface="+mn-ea"/>
              </a:rPr>
              <a:t>在部分硬件支持（可以利用地址高位存储的元信息在硬件处理时做侧信道攻击）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en-US" altLang="zh-CN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实验室的香橙派并没有</a:t>
            </a:r>
            <a:r>
              <a:rPr lang="en-US" altLang="zh-CN">
                <a:ea typeface="SimSun" charset="0"/>
                <a:sym typeface="+mn-ea"/>
              </a:rPr>
              <a:t>MTE</a:t>
            </a:r>
            <a:r>
              <a:rPr lang="zh-CN" altLang="en-US">
                <a:ea typeface="SimSun" charset="0"/>
                <a:sym typeface="+mn-ea"/>
              </a:rPr>
              <a:t>功能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en-US" altLang="zh-CN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endParaRPr lang="en-US" altLang="zh-CN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endParaRPr lang="en-US" altLang="zh-CN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RISCV：</a:t>
            </a:r>
            <a:r>
              <a:rPr lang="zh-CN" altLang="en-US">
                <a:ea typeface="SimSun" charset="0"/>
                <a:sym typeface="+mn-ea"/>
              </a:rPr>
              <a:t>基于</a:t>
            </a:r>
            <a:r>
              <a:rPr lang="en-US" altLang="zh-CN">
                <a:ea typeface="SimSun" charset="0"/>
                <a:sym typeface="+mn-ea"/>
              </a:rPr>
              <a:t>CHERI（capability），</a:t>
            </a:r>
            <a:r>
              <a:rPr lang="zh-CN" altLang="en-US">
                <a:ea typeface="SimSun" charset="0"/>
                <a:sym typeface="+mn-ea"/>
              </a:rPr>
              <a:t>模拟器开发较多，无</a:t>
            </a:r>
            <a:r>
              <a:rPr lang="en-US" altLang="zh-CN">
                <a:ea typeface="SimSun" charset="0"/>
                <a:sym typeface="+mn-ea"/>
              </a:rPr>
              <a:t>linux</a:t>
            </a:r>
            <a:r>
              <a:rPr lang="zh-CN" altLang="en-US">
                <a:ea typeface="SimSun" charset="0"/>
                <a:sym typeface="+mn-ea"/>
              </a:rPr>
              <a:t>硬件开发板 最多到</a:t>
            </a:r>
            <a:r>
              <a:rPr lang="en-US" altLang="zh-CN">
                <a:ea typeface="SimSun" charset="0"/>
                <a:sym typeface="+mn-ea"/>
              </a:rPr>
              <a:t>FPGA; </a:t>
            </a:r>
            <a:r>
              <a:rPr lang="zh-CN" altLang="en-US">
                <a:ea typeface="SimSun" charset="0"/>
                <a:sym typeface="+mn-ea"/>
              </a:rPr>
              <a:t>攻击论文几乎没有 大多是基于</a:t>
            </a:r>
            <a:r>
              <a:rPr lang="en-US" altLang="zh-CN">
                <a:ea typeface="SimSun" charset="0"/>
                <a:sym typeface="+mn-ea"/>
              </a:rPr>
              <a:t>CHERI</a:t>
            </a:r>
            <a:r>
              <a:rPr lang="zh-CN" altLang="en-US">
                <a:ea typeface="SimSun" charset="0"/>
                <a:sym typeface="+mn-ea"/>
              </a:rPr>
              <a:t>做扩展防护</a:t>
            </a: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通过</a:t>
            </a:r>
            <a:r>
              <a:rPr lang="en-US" altLang="zh-CN">
                <a:ea typeface="SimSun" charset="0"/>
                <a:sym typeface="+mn-ea"/>
              </a:rPr>
              <a:t>QEMU-CHERI</a:t>
            </a:r>
            <a:r>
              <a:rPr lang="zh-CN" altLang="en-US">
                <a:ea typeface="SimSun" charset="0"/>
                <a:sym typeface="+mn-ea"/>
              </a:rPr>
              <a:t>无法做真实的侧信道攻击，模拟噪声太大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基于</a:t>
            </a:r>
            <a:r>
              <a:rPr lang="en-US" altLang="zh-CN">
                <a:ea typeface="SimSun" charset="0"/>
                <a:sym typeface="+mn-ea"/>
              </a:rPr>
              <a:t>RTL</a:t>
            </a:r>
            <a:r>
              <a:rPr lang="zh-CN" altLang="en-US">
                <a:ea typeface="SimSun" charset="0"/>
                <a:sym typeface="+mn-ea"/>
              </a:rPr>
              <a:t>模拟核心（</a:t>
            </a:r>
            <a:r>
              <a:rPr lang="en-US" altLang="zh-CN">
                <a:ea typeface="SimSun" charset="0"/>
                <a:sym typeface="+mn-ea"/>
              </a:rPr>
              <a:t>Toooba</a:t>
            </a:r>
            <a:r>
              <a:rPr lang="zh-CN" altLang="en-US">
                <a:ea typeface="SimSun" charset="0"/>
                <a:sym typeface="+mn-ea"/>
              </a:rPr>
              <a:t>）或者基于</a:t>
            </a:r>
            <a:r>
              <a:rPr lang="en-US" altLang="zh-CN">
                <a:ea typeface="SimSun" charset="0"/>
                <a:sym typeface="+mn-ea"/>
              </a:rPr>
              <a:t>ARM</a:t>
            </a:r>
            <a:r>
              <a:rPr lang="zh-CN" altLang="en-US">
                <a:ea typeface="SimSun" charset="0"/>
                <a:sym typeface="+mn-ea"/>
              </a:rPr>
              <a:t>的</a:t>
            </a:r>
            <a:r>
              <a:rPr lang="en-US" altLang="zh-CN">
                <a:ea typeface="SimSun" charset="0"/>
                <a:sym typeface="+mn-ea"/>
              </a:rPr>
              <a:t>Morello</a:t>
            </a:r>
            <a:r>
              <a:rPr lang="zh-CN" altLang="en-US">
                <a:ea typeface="SimSun" charset="0"/>
                <a:sym typeface="+mn-ea"/>
              </a:rPr>
              <a:t>开发板（真实硬件）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endParaRPr lang="zh-CN" altLang="en-US">
              <a:ea typeface="SimSun" charset="0"/>
              <a:sym typeface="+mn-ea"/>
            </a:endParaRPr>
          </a:p>
          <a:p>
            <a:pPr marL="342900" lvl="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Pointer safety</a:t>
            </a:r>
            <a:r>
              <a:rPr lang="zh-CN" altLang="en-US">
                <a:ea typeface="SimSun" charset="0"/>
                <a:sym typeface="+mn-ea"/>
              </a:rPr>
              <a:t>最终还是关联到</a:t>
            </a:r>
            <a:r>
              <a:rPr lang="en-US" altLang="zh-CN">
                <a:ea typeface="SimSun" charset="0"/>
                <a:sym typeface="+mn-ea"/>
              </a:rPr>
              <a:t>memory </a:t>
            </a:r>
            <a:r>
              <a:rPr lang="zh-CN" altLang="en-US">
                <a:ea typeface="SimSun" charset="0"/>
                <a:sym typeface="+mn-ea"/>
              </a:rPr>
              <a:t>于是可以利用</a:t>
            </a:r>
            <a:r>
              <a:rPr lang="en-US" altLang="zh-CN">
                <a:ea typeface="SimSun" charset="0"/>
                <a:sym typeface="+mn-ea"/>
              </a:rPr>
              <a:t>kernel</a:t>
            </a:r>
            <a:r>
              <a:rPr lang="zh-CN" altLang="en-US">
                <a:ea typeface="SimSun" charset="0"/>
                <a:sym typeface="+mn-ea"/>
              </a:rPr>
              <a:t>的漏洞破解后再去访问非法区域，也是使用</a:t>
            </a:r>
            <a:r>
              <a:rPr lang="en-US" altLang="zh-CN">
                <a:ea typeface="SimSun" charset="0"/>
                <a:sym typeface="+mn-ea"/>
              </a:rPr>
              <a:t>pointer</a:t>
            </a:r>
            <a:endParaRPr lang="en-US" altLang="zh-CN">
              <a:ea typeface="SimSun" charset="0"/>
              <a:sym typeface="+mn-ea"/>
            </a:endParaRPr>
          </a:p>
          <a:p>
            <a:pPr lvl="2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当前开发板没有特定的硬件保护手段 大部分是基于</a:t>
            </a:r>
            <a:r>
              <a:rPr lang="en-US" altLang="zh-CN">
                <a:ea typeface="SimSun" charset="0"/>
                <a:sym typeface="+mn-ea"/>
              </a:rPr>
              <a:t>kernel</a:t>
            </a:r>
            <a:r>
              <a:rPr lang="zh-CN" altLang="en-US">
                <a:ea typeface="SimSun" charset="0"/>
                <a:sym typeface="+mn-ea"/>
              </a:rPr>
              <a:t>进行的 我们可以从内核对于</a:t>
            </a:r>
            <a:r>
              <a:rPr lang="en-US" altLang="zh-CN">
                <a:ea typeface="SimSun" charset="0"/>
                <a:sym typeface="+mn-ea"/>
              </a:rPr>
              <a:t>UAF OOB、</a:t>
            </a:r>
            <a:r>
              <a:rPr lang="zh-CN" altLang="en-US">
                <a:ea typeface="SimSun" charset="0"/>
                <a:sym typeface="+mn-ea"/>
              </a:rPr>
              <a:t>栈、</a:t>
            </a:r>
            <a:r>
              <a:rPr lang="en-US" altLang="zh-CN">
                <a:ea typeface="SimSun" charset="0"/>
                <a:sym typeface="+mn-ea"/>
              </a:rPr>
              <a:t>heap</a:t>
            </a:r>
            <a:r>
              <a:rPr lang="zh-CN" altLang="en-US">
                <a:ea typeface="SimSun" charset="0"/>
                <a:sym typeface="+mn-ea"/>
              </a:rPr>
              <a:t>等现有保护入手去攻击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en-US" altLang="zh-CN">
              <a:ea typeface="SimSun" charset="0"/>
              <a:sym typeface="+mn-ea"/>
            </a:endParaRPr>
          </a:p>
          <a:p>
            <a:pPr lvl="2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常规的</a:t>
            </a:r>
            <a:r>
              <a:rPr lang="en-US" altLang="zh-CN">
                <a:ea typeface="SimSun" charset="0"/>
                <a:sym typeface="+mn-ea"/>
              </a:rPr>
              <a:t>Pointer safety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OOB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UAF</a:t>
            </a:r>
            <a:r>
              <a:rPr lang="zh-CN" altLang="en-US">
                <a:ea typeface="SimSun" charset="0"/>
                <a:sym typeface="+mn-ea"/>
              </a:rPr>
              <a:t>）保护一般偏向编译器、内核共同支持。</a:t>
            </a:r>
            <a:endParaRPr lang="zh-CN" altLang="en-US">
              <a:ea typeface="SimSun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ARM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460" y="895350"/>
            <a:ext cx="11659870" cy="4032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2025SP</a:t>
            </a:r>
            <a:r>
              <a:rPr lang="en-US" altLang="zh-CN"/>
              <a:t>-TIKTAG: Breaking ARM’s Memory Tagging Extension with Speculative Execution</a:t>
            </a:r>
            <a:r>
              <a:rPr lang="zh-CN" altLang="en-US">
                <a:ea typeface="SimSun" charset="0"/>
              </a:rPr>
              <a:t>：用 </a:t>
            </a:r>
            <a:r>
              <a:rPr lang="en-US" altLang="zh-CN">
                <a:ea typeface="SimSun" charset="0"/>
              </a:rPr>
              <a:t>speculative execution </a:t>
            </a:r>
            <a:r>
              <a:rPr lang="zh-CN" altLang="en-US">
                <a:ea typeface="SimSun" charset="0"/>
              </a:rPr>
              <a:t>去泄漏 </a:t>
            </a:r>
            <a:r>
              <a:rPr lang="en-US" altLang="zh-CN">
                <a:ea typeface="SimSun" charset="0"/>
              </a:rPr>
              <a:t>ARM MTE tag，</a:t>
            </a:r>
            <a:r>
              <a:rPr lang="zh-CN" altLang="en-US">
                <a:ea typeface="SimSun" charset="0"/>
              </a:rPr>
              <a:t>直接削弱 </a:t>
            </a:r>
            <a:r>
              <a:rPr lang="en-US" altLang="zh-CN">
                <a:ea typeface="SimSun" charset="0"/>
              </a:rPr>
              <a:t>MTE </a:t>
            </a:r>
            <a:r>
              <a:rPr lang="zh-CN" altLang="en-US">
                <a:ea typeface="SimSun" charset="0"/>
              </a:rPr>
              <a:t>的概率防线</a:t>
            </a:r>
            <a:endParaRPr lang="zh-CN" altLang="en-US">
              <a:ea typeface="SimSun" charset="0"/>
            </a:endParaRPr>
          </a:p>
          <a:p>
            <a:pPr indent="457200"/>
            <a:r>
              <a:rPr lang="zh-CN" altLang="en-US">
                <a:ea typeface="SimSun" charset="0"/>
              </a:rPr>
              <a:t>（每个 16</a:t>
            </a:r>
            <a:r>
              <a:rPr lang="en-US" altLang="zh-CN">
                <a:ea typeface="SimSun" charset="0"/>
              </a:rPr>
              <a:t>B </a:t>
            </a:r>
            <a:r>
              <a:rPr lang="zh-CN" altLang="en-US">
                <a:ea typeface="SimSun" charset="0"/>
              </a:rPr>
              <a:t>内存块分配一个内存 </a:t>
            </a:r>
            <a:r>
              <a:rPr lang="en-US" altLang="zh-CN">
                <a:ea typeface="SimSun" charset="0"/>
              </a:rPr>
              <a:t>4bit tag，</a:t>
            </a:r>
            <a:r>
              <a:rPr lang="zh-CN" altLang="en-US">
                <a:ea typeface="SimSun" charset="0"/>
              </a:rPr>
              <a:t>再把对应的指针携带一个指针 </a:t>
            </a:r>
            <a:r>
              <a:rPr lang="en-US" altLang="zh-CN">
                <a:ea typeface="SimSun" charset="0"/>
              </a:rPr>
              <a:t>tag，CPU </a:t>
            </a:r>
            <a:r>
              <a:rPr lang="zh-CN" altLang="en-US">
                <a:ea typeface="SimSun" charset="0"/>
              </a:rPr>
              <a:t>在每次 </a:t>
            </a:r>
            <a:r>
              <a:rPr lang="en-US" altLang="zh-CN">
                <a:ea typeface="SimSun" charset="0"/>
              </a:rPr>
              <a:t>load/store </a:t>
            </a:r>
            <a:r>
              <a:rPr lang="zh-CN" altLang="en-US">
                <a:ea typeface="SimSun" charset="0"/>
              </a:rPr>
              <a:t>时比较两者，匹配就允许访问，不匹配就触发异常，从而在硬件层检测内存越界和悬空指针访问。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5" y="2089150"/>
            <a:ext cx="4552950" cy="42672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389245" y="5809615"/>
            <a:ext cx="6234430" cy="678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这类需要特定硬件支持的功能在</a:t>
            </a:r>
            <a:r>
              <a:rPr lang="en-US" altLang="zh-CN"/>
              <a:t>RISCV</a:t>
            </a:r>
            <a:r>
              <a:rPr lang="zh-CN" altLang="en-US">
                <a:ea typeface="SimSun" charset="0"/>
              </a:rPr>
              <a:t>推进的会比较慢，因此对于这方面的攻击一般比较难以实现。</a:t>
            </a:r>
            <a:endParaRPr lang="zh-CN" altLang="en-US">
              <a:ea typeface="SimSun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21300" y="2500630"/>
            <a:ext cx="6370320" cy="2491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1. 攻击目标地址 </a:t>
            </a:r>
            <a:r>
              <a:rPr lang="en-US" altLang="zh-CN" sz="1400"/>
              <a:t>target_addr</a:t>
            </a:r>
            <a:r>
              <a:rPr lang="zh-CN" altLang="en-US" sz="1400"/>
              <a:t>对应内存 </a:t>
            </a:r>
            <a:r>
              <a:rPr lang="en-US" altLang="zh-CN" sz="1400"/>
              <a:t>tag Tm </a:t>
            </a:r>
            <a:r>
              <a:rPr lang="zh-CN" altLang="en-US" sz="1400">
                <a:ea typeface="SimSun" charset="0"/>
              </a:rPr>
              <a:t>未知</a:t>
            </a:r>
            <a:r>
              <a:rPr lang="zh-CN" altLang="en-US" sz="1400"/>
              <a:t>。</a:t>
            </a:r>
            <a:endParaRPr lang="zh-CN" altLang="en-US" sz="1400"/>
          </a:p>
          <a:p>
            <a:r>
              <a:rPr lang="zh-CN" altLang="en-US" sz="1400"/>
              <a:t>2. </a:t>
            </a:r>
            <a:r>
              <a:rPr lang="en-US" altLang="zh-CN" sz="1400"/>
              <a:t>guess_ptr</a:t>
            </a:r>
            <a:r>
              <a:rPr lang="zh-CN" altLang="en-US" sz="1400"/>
              <a:t>指向 </a:t>
            </a:r>
            <a:r>
              <a:rPr lang="en-US" altLang="zh-CN" sz="1400"/>
              <a:t>target_addr，</a:t>
            </a:r>
            <a:r>
              <a:rPr lang="zh-CN" altLang="en-US" sz="1400"/>
              <a:t>指针</a:t>
            </a:r>
            <a:r>
              <a:rPr lang="en-US" altLang="zh-CN" sz="1400"/>
              <a:t>tag </a:t>
            </a:r>
            <a:r>
              <a:rPr lang="zh-CN" altLang="en-US" sz="1400"/>
              <a:t>猜成 </a:t>
            </a:r>
            <a:r>
              <a:rPr lang="en-US" altLang="zh-CN" sz="1400"/>
              <a:t>Tg。</a:t>
            </a:r>
            <a:endParaRPr lang="en-US" altLang="zh-CN" sz="1400"/>
          </a:p>
          <a:p>
            <a:r>
              <a:rPr lang="zh-CN" altLang="en-US" sz="1400"/>
              <a:t>3. 可观测 </a:t>
            </a:r>
            <a:r>
              <a:rPr lang="en-US" altLang="zh-CN" sz="1400"/>
              <a:t>test_ptr / probe，</a:t>
            </a:r>
            <a:r>
              <a:rPr lang="zh-CN" altLang="en-US" sz="1400"/>
              <a:t>后面靠它看 </a:t>
            </a:r>
            <a:r>
              <a:rPr lang="en-US" altLang="zh-CN" sz="1400"/>
              <a:t>cache hit/miss。</a:t>
            </a:r>
            <a:endParaRPr lang="zh-CN" altLang="en-US" sz="1400"/>
          </a:p>
          <a:p>
            <a:r>
              <a:rPr lang="en-US" altLang="zh-CN" sz="1400"/>
              <a:t>4. CHECK </a:t>
            </a:r>
            <a:r>
              <a:rPr lang="zh-CN" altLang="en-US" sz="1400"/>
              <a:t>解引用 </a:t>
            </a:r>
            <a:r>
              <a:rPr lang="en-US" altLang="zh-CN" sz="1400"/>
              <a:t>guess_ptr，</a:t>
            </a:r>
            <a:r>
              <a:rPr lang="zh-CN" altLang="en-US" sz="1400"/>
              <a:t>触发 </a:t>
            </a:r>
            <a:r>
              <a:rPr lang="en-US" altLang="zh-CN" sz="1400"/>
              <a:t>MTE tag check。</a:t>
            </a:r>
            <a:endParaRPr lang="en-US" altLang="zh-CN" sz="1400"/>
          </a:p>
          <a:p>
            <a:r>
              <a:rPr lang="zh-CN" altLang="en-US" sz="1400"/>
              <a:t>  </a:t>
            </a:r>
            <a:r>
              <a:rPr lang="en-US" altLang="zh-CN" sz="1400"/>
              <a:t>5</a:t>
            </a:r>
            <a:r>
              <a:rPr lang="zh-CN" altLang="en-US" sz="1400"/>
              <a:t>. </a:t>
            </a:r>
            <a:r>
              <a:rPr lang="en-US" altLang="zh-CN" sz="1400"/>
              <a:t>Tg == Tm，CPU </a:t>
            </a:r>
            <a:r>
              <a:rPr lang="zh-CN" altLang="en-US" sz="1400"/>
              <a:t>在推测路径上是一种模式；</a:t>
            </a:r>
            <a:r>
              <a:rPr lang="en-US" altLang="zh-CN" sz="1400"/>
              <a:t>Tg != Tm，CPU </a:t>
            </a:r>
            <a:r>
              <a:rPr lang="zh-CN" altLang="en-US" sz="1400"/>
              <a:t>在推测路径上是另一种模式。</a:t>
            </a:r>
            <a:endParaRPr lang="zh-CN" altLang="en-US" sz="1400"/>
          </a:p>
          <a:p>
            <a:r>
              <a:rPr lang="en-US" altLang="zh-CN" sz="1400"/>
              <a:t>6</a:t>
            </a:r>
            <a:r>
              <a:rPr lang="zh-CN" altLang="en-US" sz="1400"/>
              <a:t>. 这种差异不会以“正常异常”暴露出来，但会反映到 </a:t>
            </a:r>
            <a:r>
              <a:rPr lang="en-US" altLang="zh-CN" sz="1400"/>
              <a:t>cache </a:t>
            </a:r>
            <a:r>
              <a:rPr lang="zh-CN" altLang="en-US" sz="1400"/>
              <a:t>状态上，比如 </a:t>
            </a:r>
            <a:r>
              <a:rPr lang="en-US" altLang="zh-CN" sz="1400"/>
              <a:t>test_ptr </a:t>
            </a:r>
            <a:r>
              <a:rPr lang="zh-CN" altLang="en-US" sz="1400"/>
              <a:t>被 </a:t>
            </a:r>
            <a:r>
              <a:rPr lang="en-US" altLang="zh-CN" sz="1400"/>
              <a:t>cache </a:t>
            </a:r>
            <a:r>
              <a:rPr lang="zh-CN" altLang="en-US" sz="1400"/>
              <a:t>进来了，或者没有进来。</a:t>
            </a:r>
            <a:endParaRPr lang="zh-CN" altLang="en-US" sz="1400"/>
          </a:p>
          <a:p>
            <a:r>
              <a:rPr lang="en-US" altLang="zh-CN" sz="1400"/>
              <a:t>7</a:t>
            </a:r>
            <a:r>
              <a:rPr lang="zh-CN" altLang="en-US" sz="1400"/>
              <a:t>. 攻击者测 </a:t>
            </a:r>
            <a:r>
              <a:rPr lang="en-US" altLang="zh-CN" sz="1400"/>
              <a:t>test_ptr </a:t>
            </a:r>
            <a:r>
              <a:rPr lang="zh-CN" altLang="en-US" sz="1400"/>
              <a:t>的访问延迟。</a:t>
            </a:r>
            <a:endParaRPr lang="zh-CN" altLang="en-US" sz="1400"/>
          </a:p>
          <a:p>
            <a:r>
              <a:rPr lang="en-US" altLang="zh-CN" sz="1400"/>
              <a:t>8</a:t>
            </a:r>
            <a:r>
              <a:rPr lang="zh-CN" altLang="en-US" sz="1400"/>
              <a:t>. 把 </a:t>
            </a:r>
            <a:r>
              <a:rPr lang="en-US" altLang="zh-CN" sz="1400"/>
              <a:t>Tg = 0..15 </a:t>
            </a:r>
            <a:r>
              <a:rPr lang="zh-CN" altLang="en-US" sz="1400"/>
              <a:t>全部试一遍，哪一个猜测能稳定产生“</a:t>
            </a:r>
            <a:r>
              <a:rPr lang="en-US" altLang="zh-CN" sz="1400"/>
              <a:t>tag match”</a:t>
            </a:r>
            <a:r>
              <a:rPr lang="zh-CN" altLang="en-US" sz="1400"/>
              <a:t>的 </a:t>
            </a:r>
            <a:r>
              <a:rPr lang="en-US" altLang="zh-CN" sz="1400"/>
              <a:t>cache </a:t>
            </a:r>
            <a:r>
              <a:rPr lang="zh-CN" altLang="en-US" sz="1400"/>
              <a:t>模式，哪个就是正确 </a:t>
            </a:r>
            <a:r>
              <a:rPr lang="en-US" altLang="zh-CN" sz="1400"/>
              <a:t>tag。</a:t>
            </a:r>
            <a:endParaRPr lang="en-US" altLang="zh-CN" sz="1400"/>
          </a:p>
        </p:txBody>
      </p:sp>
      <p:sp>
        <p:nvSpPr>
          <p:cNvPr id="19" name="文本框 18"/>
          <p:cNvSpPr txBox="1"/>
          <p:nvPr/>
        </p:nvSpPr>
        <p:spPr>
          <a:xfrm>
            <a:off x="5321300" y="5090795"/>
            <a:ext cx="6191250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2024SP</a:t>
            </a:r>
            <a:r>
              <a:rPr lang="en-US" altLang="zh-CN"/>
              <a:t>-Sticky Tags</a:t>
            </a:r>
            <a:r>
              <a:rPr lang="zh-CN" altLang="en-US"/>
              <a:t>是防御论文，但明确把“</a:t>
            </a:r>
            <a:r>
              <a:rPr lang="en-US" altLang="zh-CN"/>
              <a:t>random MTE tag </a:t>
            </a:r>
            <a:r>
              <a:rPr lang="zh-CN" altLang="en-US"/>
              <a:t>可被 </a:t>
            </a:r>
            <a:r>
              <a:rPr lang="en-US" altLang="zh-CN"/>
              <a:t>speculative probing </a:t>
            </a:r>
            <a:r>
              <a:rPr lang="zh-CN" altLang="en-US"/>
              <a:t>推断”作为攻击动机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UAF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防护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460" y="895350"/>
            <a:ext cx="11659870" cy="4032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  <a:ea typeface="SimSun" charset="0"/>
              </a:rPr>
              <a:t>2026NDSS</a:t>
            </a:r>
            <a:r>
              <a:rPr lang="en-US" altLang="zh-CN">
                <a:ea typeface="SimSun" charset="0"/>
              </a:rPr>
              <a:t>Fast Pointer Nullification for Use-After-Free</a:t>
            </a:r>
            <a:r>
              <a:rPr lang="zh-CN" altLang="en-US">
                <a:ea typeface="SimSun" charset="0"/>
              </a:rPr>
              <a:t>：</a:t>
            </a:r>
            <a:endParaRPr lang="zh-CN" altLang="en-US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      1. 把元数据从“按 </a:t>
            </a:r>
            <a:r>
              <a:rPr lang="en-US" altLang="zh-CN">
                <a:ea typeface="SimSun" charset="0"/>
              </a:rPr>
              <a:t>buffer </a:t>
            </a:r>
            <a:r>
              <a:rPr lang="zh-CN" altLang="en-US">
                <a:ea typeface="SimSun" charset="0"/>
              </a:rPr>
              <a:t>精确管理”改成“按 </a:t>
            </a:r>
            <a:r>
              <a:rPr lang="en-US" altLang="zh-CN">
                <a:ea typeface="SimSun" charset="0"/>
              </a:rPr>
              <a:t>region </a:t>
            </a:r>
            <a:r>
              <a:rPr lang="zh-CN" altLang="en-US">
                <a:ea typeface="SimSun" charset="0"/>
              </a:rPr>
              <a:t>管理”，让定位 </a:t>
            </a:r>
            <a:r>
              <a:rPr lang="en-US" altLang="zh-CN">
                <a:ea typeface="SimSun" charset="0"/>
              </a:rPr>
              <a:t>metadata </a:t>
            </a:r>
            <a:r>
              <a:rPr lang="zh-CN" altLang="en-US">
                <a:ea typeface="SimSun" charset="0"/>
              </a:rPr>
              <a:t>更快。</a:t>
            </a:r>
            <a:endParaRPr lang="zh-CN" altLang="en-US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      2. 把注册单位从“每个指针存储地址”改成“</a:t>
            </a:r>
            <a:r>
              <a:rPr lang="en-US" altLang="zh-CN">
                <a:ea typeface="SimSun" charset="0"/>
              </a:rPr>
              <a:t>block”，</a:t>
            </a:r>
            <a:r>
              <a:rPr lang="zh-CN" altLang="en-US">
                <a:ea typeface="SimSun" charset="0"/>
              </a:rPr>
              <a:t>利用指针存储位置的空间局部性，减少注册次数和内存开销。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2063750"/>
            <a:ext cx="3548380" cy="4201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95" y="2063750"/>
            <a:ext cx="6698615" cy="37807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124960" y="5843905"/>
            <a:ext cx="7560310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用 </a:t>
            </a:r>
            <a:r>
              <a:rPr lang="en-US" altLang="zh-CN"/>
              <a:t>region-level metadata + block-level registration，</a:t>
            </a:r>
            <a:r>
              <a:rPr lang="zh-CN" altLang="en-US"/>
              <a:t>把 </a:t>
            </a:r>
            <a:r>
              <a:rPr lang="en-US" altLang="zh-CN"/>
              <a:t>Pointer Nullification </a:t>
            </a:r>
            <a:r>
              <a:rPr lang="zh-CN" altLang="en-US"/>
              <a:t>做得更快、更省内存、还能保持较强的 </a:t>
            </a:r>
            <a:r>
              <a:rPr lang="en-US" altLang="zh-CN"/>
              <a:t>UAF </a:t>
            </a:r>
            <a:r>
              <a:rPr lang="zh-CN" altLang="en-US"/>
              <a:t>防护。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Kernel Related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460" y="895350"/>
            <a:ext cx="11659870" cy="4032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  <a:ea typeface="SimSun" charset="0"/>
              </a:rPr>
              <a:t>2025Usenix</a:t>
            </a:r>
            <a:r>
              <a:rPr lang="en-US" altLang="zh-CN">
                <a:ea typeface="SimSun" charset="0"/>
              </a:rPr>
              <a:t>-When Good Kernel Defenses Go Bad</a:t>
            </a:r>
            <a:r>
              <a:rPr lang="zh-CN" altLang="en-US">
                <a:ea typeface="SimSun" charset="0"/>
              </a:rPr>
              <a:t>：（</a:t>
            </a:r>
            <a:r>
              <a:rPr lang="en-US" altLang="zh-CN">
                <a:ea typeface="SimSun" charset="0"/>
              </a:rPr>
              <a:t>CONFIG_STRICT_MODULE_RWX、CONFIG_SLAB_VIRTUAL、CONFIG_VMAP_STACK </a:t>
            </a:r>
            <a:r>
              <a:rPr lang="zh-CN" altLang="en-US">
                <a:ea typeface="SimSun" charset="0"/>
              </a:rPr>
              <a:t>）这三类防御会把某些区域从 2 </a:t>
            </a:r>
            <a:r>
              <a:rPr lang="en-US" altLang="zh-CN">
                <a:ea typeface="SimSun" charset="0"/>
              </a:rPr>
              <a:t>MB </a:t>
            </a:r>
            <a:r>
              <a:rPr lang="zh-CN" altLang="en-US">
                <a:ea typeface="SimSun" charset="0"/>
              </a:rPr>
              <a:t>映射切到 4 </a:t>
            </a:r>
            <a:r>
              <a:rPr lang="en-US" altLang="zh-CN">
                <a:ea typeface="SimSun" charset="0"/>
              </a:rPr>
              <a:t>kB，</a:t>
            </a:r>
            <a:r>
              <a:rPr lang="zh-CN" altLang="en-US">
                <a:ea typeface="SimSun" charset="0"/>
              </a:rPr>
              <a:t>于是</a:t>
            </a:r>
            <a:endParaRPr lang="zh-CN" altLang="en-US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  攻击者可以结合 </a:t>
            </a:r>
            <a:r>
              <a:rPr lang="en-US" altLang="zh-CN">
                <a:ea typeface="SimSun" charset="0"/>
              </a:rPr>
              <a:t>allocator massaging </a:t>
            </a:r>
            <a:r>
              <a:rPr lang="zh-CN" altLang="en-US">
                <a:ea typeface="SimSun" charset="0"/>
              </a:rPr>
              <a:t>和 </a:t>
            </a:r>
            <a:r>
              <a:rPr lang="en-US" altLang="zh-CN">
                <a:ea typeface="SimSun" charset="0"/>
              </a:rPr>
              <a:t>TLB Evict+Reload，</a:t>
            </a:r>
            <a:r>
              <a:rPr lang="zh-CN" altLang="en-US">
                <a:ea typeface="SimSun" charset="0"/>
              </a:rPr>
              <a:t>把 </a:t>
            </a:r>
            <a:r>
              <a:rPr lang="en-US" altLang="zh-CN">
                <a:ea typeface="SimSun" charset="0"/>
              </a:rPr>
              <a:t>pipe_buffer、msg_msg、cred、page table、kernel stack </a:t>
            </a:r>
            <a:r>
              <a:rPr lang="zh-CN" altLang="en-US">
                <a:ea typeface="SimSun" charset="0"/>
              </a:rPr>
              <a:t>之类目标的位置泄出来，再接到 </a:t>
            </a:r>
            <a:r>
              <a:rPr lang="en-US" altLang="zh-CN">
                <a:ea typeface="SimSun" charset="0"/>
              </a:rPr>
              <a:t>UAF/OOB write/unlink primitive </a:t>
            </a:r>
            <a:r>
              <a:rPr lang="zh-CN" altLang="en-US">
                <a:ea typeface="SimSun" charset="0"/>
              </a:rPr>
              <a:t>后面，做出高可靠提权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这篇论文在本机</a:t>
            </a:r>
            <a:r>
              <a:rPr lang="en-US" altLang="zh-CN">
                <a:ea typeface="SimSun" charset="0"/>
              </a:rPr>
              <a:t>Intel</a:t>
            </a:r>
            <a:r>
              <a:rPr lang="zh-CN" altLang="en-US">
                <a:ea typeface="SimSun" charset="0"/>
              </a:rPr>
              <a:t>上基本可以复现，而且这几个防护手段在</a:t>
            </a: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也是存在的（验证过），只不过在</a:t>
            </a: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不可以直接在用户态对内核态进行运行时数据采集，可能需要调整，但是整个流程大致一致的。</a:t>
            </a:r>
            <a:endParaRPr lang="zh-CN" altLang="en-US">
              <a:ea typeface="SimSun" charset="0"/>
            </a:endParaRPr>
          </a:p>
          <a:p>
            <a:endParaRPr lang="en-US" altLang="zh-CN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与</a:t>
            </a:r>
            <a:r>
              <a:rPr lang="en-US" altLang="zh-CN">
                <a:ea typeface="SimSun" charset="0"/>
              </a:rPr>
              <a:t>Kernel</a:t>
            </a:r>
            <a:r>
              <a:rPr lang="zh-CN" altLang="en-US">
                <a:ea typeface="SimSun" charset="0"/>
              </a:rPr>
              <a:t>相关的安全问题迁移会相对可行，不过要考虑底层的</a:t>
            </a:r>
            <a:r>
              <a:rPr lang="en-US" altLang="zh-CN">
                <a:ea typeface="SimSun" charset="0"/>
              </a:rPr>
              <a:t>profiling</a:t>
            </a:r>
            <a:r>
              <a:rPr lang="zh-CN" altLang="en-US">
                <a:ea typeface="SimSun" charset="0"/>
              </a:rPr>
              <a:t>手段。</a:t>
            </a:r>
            <a:endParaRPr lang="zh-CN" altLang="en-US">
              <a:ea typeface="SimSun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8460" y="4210050"/>
            <a:ext cx="11510645" cy="162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本地配置了</a:t>
            </a:r>
            <a:r>
              <a:rPr lang="en-US" altLang="zh-CN"/>
              <a:t>Qemu-CHERI</a:t>
            </a:r>
            <a:r>
              <a:rPr lang="zh-CN" altLang="en-US">
                <a:ea typeface="SimSun" charset="0"/>
              </a:rPr>
              <a:t>环境，试着了解</a:t>
            </a:r>
            <a:r>
              <a:rPr lang="en-US" altLang="zh-CN">
                <a:ea typeface="SimSun" charset="0"/>
              </a:rPr>
              <a:t>CHERI</a:t>
            </a:r>
            <a:r>
              <a:rPr lang="zh-CN" altLang="en-US">
                <a:ea typeface="SimSun" charset="0"/>
              </a:rPr>
              <a:t>相关机制是如何实现的，随后才可以去试着去做攻击。如果需要做微架构（缓存）相关攻击，则需要再配置</a:t>
            </a:r>
            <a:r>
              <a:rPr lang="en-US" altLang="zh-CN">
                <a:ea typeface="SimSun" charset="0"/>
              </a:rPr>
              <a:t>Toooba</a:t>
            </a:r>
            <a:r>
              <a:rPr lang="zh-CN" altLang="en-US">
                <a:ea typeface="SimSun" charset="0"/>
              </a:rPr>
              <a:t>环境。</a:t>
            </a:r>
            <a:endParaRPr lang="zh-CN" altLang="en-US">
              <a:ea typeface="SimSun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根据老师建议调整方向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根据顶会论文源码进行分析，提取可以利用的点并尝试迁移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Google Project0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寻找前沿的可以利用的攻击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SLIDE_BACKGROUND_TYPE" val="general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2148</Words>
  <Application>WPS 演示</Application>
  <PresentationFormat>宽屏</PresentationFormat>
  <Paragraphs>71</Paragraphs>
  <Slides>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5740</cp:revision>
  <dcterms:created xsi:type="dcterms:W3CDTF">2026-04-17T08:15:24Z</dcterms:created>
  <dcterms:modified xsi:type="dcterms:W3CDTF">2026-04-17T08:15:24Z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9E64E45E33F6F678E9D4E16910D9AFFF_43</vt:lpwstr>
  </property>
  <property fmtid="{D5CDD505-2E9C-101B-9397-08002B2CF9AE}" pid="3" name="KSOProductBuildVer">
    <vt:lpwstr>2052-12.1.2.25838</vt:lpwstr>
  </property>
</Properties>
</file>