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13" r:id="rId4"/>
    <p:sldId id="6520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工作总结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285750" y="865505"/>
            <a:ext cx="10986135" cy="1840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Retbleed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2022Usenix</a:t>
            </a:r>
            <a:r>
              <a:rPr lang="zh-CN" altLang="en-US">
                <a:ea typeface="SimSun" charset="0"/>
                <a:sym typeface="+mn-ea"/>
              </a:rPr>
              <a:t>）使用</a:t>
            </a:r>
            <a:r>
              <a:rPr lang="en-US" altLang="zh-CN">
                <a:ea typeface="SimSun" charset="0"/>
                <a:sym typeface="+mn-ea"/>
              </a:rPr>
              <a:t>RAS</a:t>
            </a:r>
            <a:r>
              <a:rPr lang="zh-CN" altLang="en-US">
                <a:ea typeface="SimSun" charset="0"/>
                <a:sym typeface="+mn-ea"/>
              </a:rPr>
              <a:t>构造跨权限攻击不可行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zh-CN" altLang="en-US">
              <a:ea typeface="SimSun" charset="0"/>
              <a:sym typeface="+mn-ea"/>
            </a:endParaRPr>
          </a:p>
          <a:p>
            <a:pPr marL="800100" lvl="1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确定</a:t>
            </a:r>
            <a:r>
              <a:rPr lang="en-US" altLang="zh-CN">
                <a:ea typeface="SimSun" charset="0"/>
                <a:sym typeface="+mn-ea"/>
              </a:rPr>
              <a:t>RAS underflow</a:t>
            </a:r>
            <a:r>
              <a:rPr lang="zh-CN" altLang="en-US">
                <a:ea typeface="SimSun" charset="0"/>
                <a:sym typeface="+mn-ea"/>
              </a:rPr>
              <a:t>后取指的位置（结合</a:t>
            </a:r>
            <a:r>
              <a:rPr lang="en-US" altLang="zh-CN">
                <a:ea typeface="SimSun" charset="0"/>
                <a:sym typeface="+mn-ea"/>
              </a:rPr>
              <a:t>Riscy cache</a:t>
            </a:r>
            <a:r>
              <a:rPr lang="zh-CN" altLang="en-US">
                <a:ea typeface="SimSun" charset="0"/>
                <a:sym typeface="+mn-ea"/>
              </a:rPr>
              <a:t>和</a:t>
            </a:r>
            <a:r>
              <a:rPr lang="en-US" altLang="zh-CN">
                <a:ea typeface="SimSun" charset="0"/>
                <a:sym typeface="+mn-ea"/>
              </a:rPr>
              <a:t>2025SP GhostCache-THU</a:t>
            </a:r>
            <a:r>
              <a:rPr lang="zh-CN" altLang="en-US">
                <a:ea typeface="SimSun" charset="0"/>
                <a:sym typeface="+mn-ea"/>
              </a:rPr>
              <a:t>）并证明会被</a:t>
            </a:r>
            <a:r>
              <a:rPr lang="en-US" altLang="zh-CN">
                <a:ea typeface="SimSun" charset="0"/>
                <a:sym typeface="+mn-ea"/>
              </a:rPr>
              <a:t>fetch</a:t>
            </a:r>
            <a:r>
              <a:rPr lang="zh-CN" altLang="en-US">
                <a:ea typeface="SimSun" charset="0"/>
                <a:sym typeface="+mn-ea"/>
              </a:rPr>
              <a:t>但是无法推进到</a:t>
            </a:r>
            <a:r>
              <a:rPr lang="en-US" altLang="zh-CN">
                <a:ea typeface="SimSun" charset="0"/>
                <a:sym typeface="+mn-ea"/>
              </a:rPr>
              <a:t>exec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direct jmp</a:t>
            </a:r>
            <a:r>
              <a:rPr lang="zh-CN" altLang="en-US">
                <a:ea typeface="SimSun" charset="0"/>
                <a:sym typeface="+mn-ea"/>
              </a:rPr>
              <a:t>也是无法到</a:t>
            </a:r>
            <a:r>
              <a:rPr lang="en-US" altLang="zh-CN">
                <a:ea typeface="SimSun" charset="0"/>
                <a:sym typeface="+mn-ea"/>
              </a:rPr>
              <a:t>exec</a:t>
            </a:r>
            <a:r>
              <a:rPr lang="zh-CN" altLang="en-US">
                <a:ea typeface="SimSun" charset="0"/>
                <a:sym typeface="+mn-ea"/>
              </a:rPr>
              <a:t>）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zh-CN" altLang="en-US">
              <a:ea typeface="SimSun" charset="0"/>
              <a:sym typeface="+mn-ea"/>
            </a:endParaRPr>
          </a:p>
          <a:p>
            <a:pPr marL="342900" lvl="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Phantom</a:t>
            </a:r>
            <a:r>
              <a:rPr lang="zh-CN" altLang="en-US">
                <a:ea typeface="SimSun" charset="0"/>
                <a:sym typeface="+mn-ea"/>
              </a:rPr>
              <a:t>（</a:t>
            </a:r>
            <a:r>
              <a:rPr lang="en-US" altLang="zh-CN">
                <a:ea typeface="SimSun" charset="0"/>
                <a:sym typeface="+mn-ea"/>
              </a:rPr>
              <a:t>2023MICRO</a:t>
            </a:r>
            <a:r>
              <a:rPr lang="zh-CN" altLang="en-US">
                <a:ea typeface="SimSun" charset="0"/>
                <a:sym typeface="+mn-ea"/>
              </a:rPr>
              <a:t>）工作大概率不可行（时间窗口更短）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zh-CN" altLang="en-US">
              <a:ea typeface="SimSun" charset="0"/>
              <a:sym typeface="+mn-ea"/>
            </a:endParaRPr>
          </a:p>
          <a:p>
            <a:pPr marL="342900" lvl="0" indent="-342900">
              <a:buFont typeface="Arial" panose="02080604020202020204" pitchFamily="34" charset="0"/>
              <a:buAutoNum type="arabicPeriod"/>
            </a:pPr>
            <a:r>
              <a:rPr lang="en-US" altLang="zh-CN">
                <a:ea typeface="SimSun" charset="0"/>
                <a:sym typeface="+mn-ea"/>
              </a:rPr>
              <a:t>TLB&amp;</a:t>
            </a:r>
            <a:r>
              <a:rPr lang="zh-CN" altLang="en-US">
                <a:ea typeface="SimSun" charset="0"/>
                <a:sym typeface="+mn-ea"/>
              </a:rPr>
              <a:t>地址翻译的时间差异，成功将</a:t>
            </a:r>
            <a:r>
              <a:rPr lang="en-US" altLang="zh-CN">
                <a:ea typeface="SimSun" charset="0"/>
                <a:sym typeface="+mn-ea"/>
              </a:rPr>
              <a:t>Spectre</a:t>
            </a:r>
            <a:r>
              <a:rPr lang="zh-CN" altLang="en-US">
                <a:ea typeface="SimSun" charset="0"/>
                <a:sym typeface="+mn-ea"/>
              </a:rPr>
              <a:t>攻击的接受端替换成</a:t>
            </a:r>
            <a:r>
              <a:rPr lang="en-US" altLang="zh-CN">
                <a:ea typeface="SimSun" charset="0"/>
                <a:sym typeface="+mn-ea"/>
              </a:rPr>
              <a:t>TLB</a:t>
            </a:r>
            <a:r>
              <a:rPr lang="zh-CN" altLang="en-US">
                <a:ea typeface="SimSun" charset="0"/>
                <a:sym typeface="+mn-ea"/>
              </a:rPr>
              <a:t>并读出密钥</a:t>
            </a:r>
            <a:r>
              <a:rPr lang="en-US" altLang="zh-CN">
                <a:ea typeface="SimSun" charset="0"/>
                <a:sym typeface="+mn-ea"/>
              </a:rPr>
              <a:t>;</a:t>
            </a:r>
            <a:endParaRPr lang="zh-CN" altLang="en-US">
              <a:ea typeface="SimSun" charset="0"/>
              <a:sym typeface="+mn-ea"/>
            </a:endParaRPr>
          </a:p>
          <a:p>
            <a:pPr marL="342900" lvl="0" indent="-342900">
              <a:buFont typeface="Arial" panose="02080604020202020204" pitchFamily="34" charset="0"/>
              <a:buAutoNum type="arabicPeriod"/>
            </a:pPr>
            <a:r>
              <a:rPr lang="zh-CN" altLang="en-US">
                <a:ea typeface="SimSun" charset="0"/>
                <a:sym typeface="+mn-ea"/>
              </a:rPr>
              <a:t>询问了</a:t>
            </a:r>
            <a:r>
              <a:rPr lang="en-US" altLang="zh-CN">
                <a:ea typeface="SimSun" charset="0"/>
                <a:sym typeface="+mn-ea"/>
              </a:rPr>
              <a:t>CISPA</a:t>
            </a:r>
            <a:r>
              <a:rPr lang="zh-CN" altLang="en-US">
                <a:ea typeface="SimSun" charset="0"/>
                <a:sym typeface="+mn-ea"/>
              </a:rPr>
              <a:t>组员</a:t>
            </a:r>
            <a:r>
              <a:rPr lang="en-US" altLang="zh-CN">
                <a:ea typeface="SimSun" charset="0"/>
                <a:sym typeface="+mn-ea"/>
              </a:rPr>
              <a:t>Phantom</a:t>
            </a:r>
            <a:r>
              <a:rPr lang="zh-CN" altLang="en-US">
                <a:ea typeface="SimSun" charset="0"/>
                <a:sym typeface="+mn-ea"/>
              </a:rPr>
              <a:t>他们是否考虑过，因为</a:t>
            </a:r>
            <a:r>
              <a:rPr lang="en-US" altLang="zh-CN">
                <a:ea typeface="SimSun" charset="0"/>
                <a:sym typeface="+mn-ea"/>
              </a:rPr>
              <a:t>THU</a:t>
            </a:r>
            <a:r>
              <a:rPr lang="zh-CN" altLang="en-US">
                <a:ea typeface="SimSun" charset="0"/>
                <a:sym typeface="+mn-ea"/>
              </a:rPr>
              <a:t>和</a:t>
            </a:r>
            <a:r>
              <a:rPr lang="en-US" altLang="zh-CN">
                <a:ea typeface="SimSun" charset="0"/>
                <a:sym typeface="+mn-ea"/>
              </a:rPr>
              <a:t>CISPA</a:t>
            </a:r>
            <a:r>
              <a:rPr lang="zh-CN" altLang="en-US">
                <a:ea typeface="SimSun" charset="0"/>
                <a:sym typeface="+mn-ea"/>
              </a:rPr>
              <a:t>均没有考虑过微架构。</a:t>
            </a:r>
            <a:endParaRPr lang="zh-CN" altLang="en-US">
              <a:ea typeface="SimSun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6855" y="2997835"/>
            <a:ext cx="11652885" cy="2607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ea typeface="SimSun" charset="0"/>
              </a:rPr>
              <a:t>攻击</a:t>
            </a:r>
            <a:r>
              <a:rPr lang="en-US" altLang="zh-CN">
                <a:ea typeface="SimSun" charset="0"/>
              </a:rPr>
              <a:t>1</a:t>
            </a:r>
            <a:r>
              <a:rPr lang="zh-CN" altLang="en-US">
                <a:ea typeface="SimSun" charset="0"/>
              </a:rPr>
              <a:t>：利用不同的侧信道在用户态进行攻击（</a:t>
            </a:r>
            <a:r>
              <a:rPr lang="en-US" altLang="zh-CN">
                <a:ea typeface="SimSun" charset="0"/>
              </a:rPr>
              <a:t>spectre</a:t>
            </a:r>
            <a:r>
              <a:rPr lang="zh-CN" altLang="en-US">
                <a:ea typeface="SimSun" charset="0"/>
              </a:rPr>
              <a:t>、</a:t>
            </a:r>
            <a:r>
              <a:rPr lang="en-US" altLang="zh-CN">
                <a:ea typeface="SimSun" charset="0"/>
              </a:rPr>
              <a:t>AES-table</a:t>
            </a:r>
            <a:r>
              <a:rPr lang="zh-CN" altLang="en-US">
                <a:ea typeface="SimSun" charset="0"/>
              </a:rPr>
              <a:t>），更偏向于用不同方法把攻击造成的变化提取出来（</a:t>
            </a:r>
            <a:r>
              <a:rPr lang="en-US" altLang="zh-CN">
                <a:ea typeface="SimSun" charset="0"/>
              </a:rPr>
              <a:t>L1/L2 Cache FlushReload/PrimeProbe...etc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</a:rPr>
              <a:t>问题</a:t>
            </a:r>
            <a:r>
              <a:rPr lang="en-US" altLang="zh-CN">
                <a:ea typeface="SimSun" charset="0"/>
              </a:rPr>
              <a:t>1</a:t>
            </a:r>
            <a:r>
              <a:rPr lang="zh-CN" altLang="en-US">
                <a:ea typeface="SimSun" charset="0"/>
              </a:rPr>
              <a:t>：当前的瞬态效应不足以进行到</a:t>
            </a:r>
            <a:r>
              <a:rPr lang="en-US" altLang="zh-CN">
                <a:ea typeface="SimSun" charset="0"/>
              </a:rPr>
              <a:t>exec</a:t>
            </a:r>
            <a:r>
              <a:rPr lang="zh-CN" altLang="en-US">
                <a:ea typeface="SimSun" charset="0"/>
              </a:rPr>
              <a:t>阶段，无法替换</a:t>
            </a:r>
            <a:r>
              <a:rPr lang="en-US" altLang="zh-CN">
                <a:ea typeface="SimSun" charset="0"/>
              </a:rPr>
              <a:t>spectre</a:t>
            </a:r>
            <a:r>
              <a:rPr lang="zh-CN" altLang="en-US">
                <a:ea typeface="SimSun" charset="0"/>
              </a:rPr>
              <a:t>的</a:t>
            </a:r>
            <a:r>
              <a:rPr lang="en-US" altLang="zh-CN">
                <a:ea typeface="SimSun" charset="0"/>
              </a:rPr>
              <a:t>sender</a:t>
            </a:r>
            <a:r>
              <a:rPr lang="zh-CN" altLang="en-US">
                <a:ea typeface="SimSun" charset="0"/>
              </a:rPr>
              <a:t>端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  <a:p>
            <a:endParaRPr lang="zh-CN" altLang="en-US">
              <a:ea typeface="SimSun" charset="0"/>
            </a:endParaRPr>
          </a:p>
          <a:p>
            <a:r>
              <a:rPr lang="zh-CN" altLang="en-US">
                <a:ea typeface="SimSun" charset="0"/>
              </a:rPr>
              <a:t>攻击</a:t>
            </a:r>
            <a:r>
              <a:rPr lang="en-US" altLang="zh-CN">
                <a:ea typeface="SimSun" charset="0"/>
              </a:rPr>
              <a:t>2</a:t>
            </a:r>
            <a:r>
              <a:rPr lang="zh-CN" altLang="en-US">
                <a:ea typeface="SimSun" charset="0"/>
              </a:rPr>
              <a:t>：聚焦微架构（跨特权）存储低位预测信息，用户态</a:t>
            </a:r>
            <a:r>
              <a:rPr lang="en-US" altLang="zh-CN">
                <a:ea typeface="SimSun" charset="0"/>
              </a:rPr>
              <a:t>/</a:t>
            </a:r>
            <a:r>
              <a:rPr lang="zh-CN" altLang="en-US">
                <a:ea typeface="SimSun" charset="0"/>
              </a:rPr>
              <a:t>内核态构造冲突组</a:t>
            </a:r>
            <a:r>
              <a:rPr lang="en-US" altLang="zh-CN">
                <a:ea typeface="SimSun" charset="0"/>
              </a:rPr>
              <a:t>/</a:t>
            </a:r>
            <a:r>
              <a:rPr lang="zh-CN" altLang="en-US">
                <a:ea typeface="SimSun" charset="0"/>
              </a:rPr>
              <a:t>相同历史，内核再次执行根据低位</a:t>
            </a:r>
            <a:r>
              <a:rPr lang="en-US" altLang="zh-CN">
                <a:ea typeface="SimSun" charset="0"/>
              </a:rPr>
              <a:t>&amp;</a:t>
            </a:r>
            <a:r>
              <a:rPr lang="zh-CN" altLang="en-US">
                <a:ea typeface="SimSun" charset="0"/>
              </a:rPr>
              <a:t>历史匹配预测项，结合高位组合成瞬态执行地址，内核使用攻击控制的寄存器将状态</a:t>
            </a:r>
            <a:r>
              <a:rPr lang="en-US" altLang="zh-CN">
                <a:ea typeface="SimSun" charset="0"/>
              </a:rPr>
              <a:t>load</a:t>
            </a:r>
            <a:r>
              <a:rPr lang="zh-CN" altLang="en-US">
                <a:ea typeface="SimSun" charset="0"/>
              </a:rPr>
              <a:t>到共享</a:t>
            </a:r>
            <a:r>
              <a:rPr lang="en-US" altLang="zh-CN">
                <a:ea typeface="SimSun" charset="0"/>
              </a:rPr>
              <a:t>buffer</a:t>
            </a:r>
            <a:r>
              <a:rPr lang="zh-CN" altLang="en-US">
                <a:ea typeface="SimSun" charset="0"/>
              </a:rPr>
              <a:t>，用户在通过侧信道恢复（</a:t>
            </a:r>
            <a:r>
              <a:rPr lang="en-US" altLang="zh-CN">
                <a:ea typeface="SimSun" charset="0"/>
              </a:rPr>
              <a:t>/etc/shadow</a:t>
            </a:r>
            <a:r>
              <a:rPr lang="zh-CN" altLang="en-US">
                <a:ea typeface="SimSun" charset="0"/>
              </a:rPr>
              <a:t>的</a:t>
            </a:r>
            <a:r>
              <a:rPr lang="en-US" altLang="zh-CN">
                <a:ea typeface="SimSun" charset="0"/>
              </a:rPr>
              <a:t>root hash</a:t>
            </a:r>
            <a:r>
              <a:rPr lang="zh-CN" altLang="en-US">
                <a:ea typeface="SimSun" charset="0"/>
              </a:rPr>
              <a:t>）</a:t>
            </a:r>
            <a:endParaRPr lang="zh-CN" altLang="en-US">
              <a:ea typeface="SimSun" charset="0"/>
            </a:endParaRPr>
          </a:p>
          <a:p>
            <a:pPr marL="742950" lvl="1" indent="-285750">
              <a:buFont typeface="Arial" panose="02080604020202020204" pitchFamily="34" charset="0"/>
              <a:buChar char="•"/>
            </a:pPr>
            <a:r>
              <a:rPr lang="zh-CN" altLang="en-US">
                <a:ea typeface="SimSun" charset="0"/>
              </a:rPr>
              <a:t>问题</a:t>
            </a:r>
            <a:r>
              <a:rPr lang="en-US" altLang="zh-CN">
                <a:ea typeface="SimSun" charset="0"/>
              </a:rPr>
              <a:t>2</a:t>
            </a:r>
            <a:r>
              <a:rPr lang="zh-CN" altLang="en-US">
                <a:ea typeface="SimSun" charset="0"/>
              </a:rPr>
              <a:t>：</a:t>
            </a:r>
            <a:r>
              <a:rPr lang="en-US" altLang="zh-CN">
                <a:ea typeface="SimSun" charset="0"/>
              </a:rPr>
              <a:t>RAS underflow</a:t>
            </a:r>
            <a:r>
              <a:rPr lang="zh-CN" altLang="en-US">
                <a:ea typeface="SimSun" charset="0"/>
              </a:rPr>
              <a:t>时使用的</a:t>
            </a:r>
            <a:r>
              <a:rPr lang="en-US" altLang="zh-CN">
                <a:ea typeface="SimSun" charset="0"/>
              </a:rPr>
              <a:t>default_vpc</a:t>
            </a:r>
            <a:r>
              <a:rPr lang="zh-CN" altLang="en-US">
                <a:ea typeface="SimSun" charset="0"/>
              </a:rPr>
              <a:t>会有权限管控，无法让内核使用而且</a:t>
            </a:r>
            <a:r>
              <a:rPr lang="en-US" altLang="zh-CN">
                <a:ea typeface="SimSun" charset="0"/>
              </a:rPr>
              <a:t>RAS</a:t>
            </a:r>
            <a:r>
              <a:rPr lang="zh-CN" altLang="en-US">
                <a:ea typeface="SimSun" charset="0"/>
              </a:rPr>
              <a:t>失效后并不会走</a:t>
            </a:r>
            <a:r>
              <a:rPr lang="en-US" altLang="zh-CN">
                <a:ea typeface="SimSun" charset="0"/>
              </a:rPr>
              <a:t>Retbleed</a:t>
            </a:r>
            <a:r>
              <a:rPr lang="zh-CN" altLang="en-US">
                <a:ea typeface="SimSun" charset="0"/>
              </a:rPr>
              <a:t>中利用的微结构</a:t>
            </a:r>
            <a:r>
              <a:rPr lang="en-US" altLang="zh-CN">
                <a:ea typeface="SimSun" charset="0"/>
              </a:rPr>
              <a:t>;</a:t>
            </a:r>
            <a:endParaRPr lang="en-US" altLang="zh-CN">
              <a:ea typeface="SimSun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TLB&amp;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地址翻译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78619" y="930275"/>
            <a:ext cx="5257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378650" y="757607"/>
            <a:ext cx="11659923" cy="645160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3620135"/>
            <a:ext cx="5372735" cy="1704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30" y="3558540"/>
            <a:ext cx="6129655" cy="2727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30" y="1066800"/>
            <a:ext cx="6102985" cy="66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530" y="1834515"/>
            <a:ext cx="6662420" cy="75501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534150" y="5445760"/>
            <a:ext cx="5354955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可以利用地址翻译作为</a:t>
            </a:r>
            <a:r>
              <a:rPr lang="en-US" altLang="zh-CN" sz="1400"/>
              <a:t>receiver</a:t>
            </a:r>
            <a:r>
              <a:rPr lang="zh-CN" altLang="en-US" sz="1400">
                <a:ea typeface="SimSun" charset="0"/>
              </a:rPr>
              <a:t>获取密钥，但是不确定如何制造</a:t>
            </a:r>
            <a:r>
              <a:rPr lang="en-US" altLang="zh-CN" sz="1400">
                <a:ea typeface="SimSun" charset="0"/>
              </a:rPr>
              <a:t>sender.</a:t>
            </a:r>
            <a:endParaRPr lang="en-US" altLang="zh-CN" sz="1400">
              <a:ea typeface="SimSun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530" y="2839720"/>
            <a:ext cx="6662420" cy="55181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思考利用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BHT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影响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IBP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做跨权限微架构分析，探究是否可行（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Branch History Injection: On the Effectiveness of Hardware Mitigations-2022Usenix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）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思考如何将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fetch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推进到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exec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随后接入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spectre;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不再聚焦微架构，利用侧信道对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Runtime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进行分析（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 know What You Sync: Covert and Side Channel Attacks on File Systems via syncfs-2025SP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）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--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追踪进程运行信息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WPS 演示</Application>
  <PresentationFormat>宽屏</PresentationFormat>
  <Paragraphs>36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5724</cp:revision>
  <dcterms:created xsi:type="dcterms:W3CDTF">2026-04-17T06:36:08Z</dcterms:created>
  <dcterms:modified xsi:type="dcterms:W3CDTF">2026-04-17T06:36:08Z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E8701F7BDB82F82B2095D86906B9B99D_43</vt:lpwstr>
  </property>
  <property fmtid="{D5CDD505-2E9C-101B-9397-08002B2CF9AE}" pid="3" name="KSOProductBuildVer">
    <vt:lpwstr>2052-12.1.2.25838</vt:lpwstr>
  </property>
</Properties>
</file>