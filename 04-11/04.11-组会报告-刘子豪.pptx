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6504" r:id="rId3"/>
    <p:sldId id="6513" r:id="rId4"/>
    <p:sldId id="6520" r:id="rId6"/>
    <p:sldId id="6514" r:id="rId7"/>
  </p:sldIdLst>
  <p:sldSz cx="12192000" cy="6858000"/>
  <p:notesSz cx="6858000" cy="9144000"/>
  <p:custDataLst>
    <p:tags r:id="rId1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iu Tianhang" initials="LT" lastIdx="3" clrIdx="0"/>
  <p:cmAuthor id="1" name="徐 飞" initials="徐" lastIdx="2" clrIdx="0"/>
  <p:cmAuthor id="2" name="作者" initials="A" lastIdx="0" clrIdx="1"/>
  <p:cmAuthor id="3" name="Administrator" initials="A" lastIdx="1" clrIdx="2"/>
  <p:cmAuthor id="4" name="lingyan" initials="l" lastIdx="1" clrIdx="3"/>
  <p:cmAuthor id="5" name="Lenovo" initials="L" lastIdx="1" clrIdx="4"/>
  <p:cmAuthor id="6" name="Daniel L" initials="DL" lastIdx="1" clrIdx="5"/>
  <p:cmAuthor id="8" name="翔 龙" initials="翔龙" lastIdx="0" clrIdx="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81BD"/>
    <a:srgbClr val="0A41FF"/>
    <a:srgbClr val="AED38C"/>
    <a:srgbClr val="A9D18E"/>
    <a:srgbClr val="E2EFD8"/>
    <a:srgbClr val="DAE3F2"/>
    <a:srgbClr val="7B98CB"/>
    <a:srgbClr val="8FAADC"/>
    <a:srgbClr val="E46C0A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0944" autoAdjust="0"/>
  </p:normalViewPr>
  <p:slideViewPr>
    <p:cSldViewPr snapToGrid="0">
      <p:cViewPr varScale="1">
        <p:scale>
          <a:sx n="146" d="100"/>
          <a:sy n="146" d="100"/>
        </p:scale>
        <p:origin x="630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499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gs" Target="tags/tag7.xml"/><Relationship Id="rId11" Type="http://schemas.openxmlformats.org/officeDocument/2006/relationships/commentAuthors" Target="commentAuthors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D0E278-0997-471C-A626-33B24ADD180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FDE018-9361-4A7D-BF1C-A65E4257A2C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en-US" alt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 userDrawn="1">
            <p:custDataLst>
              <p:tags r:id="rId2"/>
            </p:custDataLst>
          </p:nvPr>
        </p:nvSpPr>
        <p:spPr>
          <a:xfrm>
            <a:off x="-8467" y="829629"/>
            <a:ext cx="12208934" cy="92075"/>
          </a:xfrm>
          <a:prstGeom prst="rect">
            <a:avLst/>
          </a:prstGeom>
          <a:solidFill>
            <a:srgbClr val="4F81BD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8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1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wdUpDiag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3.xml"/><Relationship Id="rId2" Type="http://schemas.openxmlformats.org/officeDocument/2006/relationships/image" Target="../media/image4.png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5.xml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0" Type="http://schemas.openxmlformats.org/officeDocument/2006/relationships/notesSlide" Target="../notesSlides/notesSlide2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6.xml"/><Relationship Id="rId2" Type="http://schemas.openxmlformats.org/officeDocument/2006/relationships/image" Target="../media/image10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13608"/>
            <a:ext cx="12192000" cy="24307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8695" y="1624769"/>
            <a:ext cx="11174610" cy="2387600"/>
          </a:xfrm>
        </p:spPr>
        <p:txBody>
          <a:bodyPr/>
          <a:lstStyle/>
          <a:p>
            <a:r>
              <a:rPr lang="zh-CN" altLang="en-US" b="1" dirty="0">
                <a:gradFill>
                  <a:gsLst>
                    <a:gs pos="0">
                      <a:schemeClr val="bg1"/>
                    </a:gs>
                    <a:gs pos="5400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effectLst>
                  <a:glow rad="127000">
                    <a:srgbClr val="0070C0"/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组会报告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02" y="6154295"/>
            <a:ext cx="2222614" cy="533427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2955005" y="5713006"/>
            <a:ext cx="6097190" cy="9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汇报人：刘子豪</a:t>
            </a:r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—2026年04月11日—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年</a:t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04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月</a:t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18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7455" y="136994"/>
            <a:ext cx="1734545" cy="100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工作总结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378619" y="930275"/>
            <a:ext cx="525780" cy="368300"/>
          </a:xfrm>
          <a:prstGeom prst="rect">
            <a:avLst/>
          </a:prstGeom>
        </p:spPr>
        <p:txBody>
          <a:bodyPr wrap="none" rtlCol="0">
            <a:spAutoFit/>
          </a:bodyPr>
          <a:p>
            <a:pPr marL="342900" indent="-342900">
              <a:buAutoNum type="arabicPeriod"/>
            </a:pPr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378650" y="757607"/>
            <a:ext cx="11659923" cy="645160"/>
          </a:xfrm>
          <a:prstGeom prst="rect">
            <a:avLst/>
          </a:prstGeom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285750" y="865505"/>
            <a:ext cx="10986135" cy="18408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>
              <a:buFont typeface="Arial" panose="02080604020202020204" pitchFamily="34" charset="0"/>
              <a:buAutoNum type="arabicPeriod"/>
            </a:pPr>
            <a:r>
              <a:rPr lang="en-US" altLang="zh-CN">
                <a:ea typeface="SimSun" charset="0"/>
                <a:sym typeface="+mn-ea"/>
              </a:rPr>
              <a:t>Retbleed</a:t>
            </a:r>
            <a:r>
              <a:rPr lang="zh-CN" altLang="en-US">
                <a:ea typeface="SimSun" charset="0"/>
                <a:sym typeface="+mn-ea"/>
              </a:rPr>
              <a:t>（</a:t>
            </a:r>
            <a:r>
              <a:rPr lang="en-US" altLang="zh-CN">
                <a:ea typeface="SimSun" charset="0"/>
                <a:sym typeface="+mn-ea"/>
              </a:rPr>
              <a:t>2022Usenix</a:t>
            </a:r>
            <a:r>
              <a:rPr lang="zh-CN" altLang="en-US">
                <a:ea typeface="SimSun" charset="0"/>
                <a:sym typeface="+mn-ea"/>
              </a:rPr>
              <a:t>）使用</a:t>
            </a:r>
            <a:r>
              <a:rPr lang="en-US" altLang="zh-CN">
                <a:ea typeface="SimSun" charset="0"/>
                <a:sym typeface="+mn-ea"/>
              </a:rPr>
              <a:t>RAS</a:t>
            </a:r>
            <a:r>
              <a:rPr lang="zh-CN" altLang="en-US">
                <a:ea typeface="SimSun" charset="0"/>
                <a:sym typeface="+mn-ea"/>
              </a:rPr>
              <a:t>构造跨权限攻击不可行</a:t>
            </a:r>
            <a:r>
              <a:rPr lang="en-US" altLang="zh-CN">
                <a:ea typeface="SimSun" charset="0"/>
                <a:sym typeface="+mn-ea"/>
              </a:rPr>
              <a:t>;</a:t>
            </a:r>
            <a:endParaRPr lang="zh-CN" altLang="en-US">
              <a:ea typeface="SimSun" charset="0"/>
              <a:sym typeface="+mn-ea"/>
            </a:endParaRPr>
          </a:p>
          <a:p>
            <a:pPr marL="800100" lvl="1" indent="-342900">
              <a:buFont typeface="Arial" panose="02080604020202020204" pitchFamily="34" charset="0"/>
              <a:buAutoNum type="arabicPeriod"/>
            </a:pPr>
            <a:r>
              <a:rPr lang="zh-CN" altLang="en-US">
                <a:ea typeface="SimSun" charset="0"/>
                <a:sym typeface="+mn-ea"/>
              </a:rPr>
              <a:t>确定</a:t>
            </a:r>
            <a:r>
              <a:rPr lang="en-US" altLang="zh-CN">
                <a:ea typeface="SimSun" charset="0"/>
                <a:sym typeface="+mn-ea"/>
              </a:rPr>
              <a:t>RAS underflow</a:t>
            </a:r>
            <a:r>
              <a:rPr lang="zh-CN" altLang="en-US">
                <a:ea typeface="SimSun" charset="0"/>
                <a:sym typeface="+mn-ea"/>
              </a:rPr>
              <a:t>后取指的位置（结合</a:t>
            </a:r>
            <a:r>
              <a:rPr lang="en-US" altLang="zh-CN">
                <a:ea typeface="SimSun" charset="0"/>
                <a:sym typeface="+mn-ea"/>
              </a:rPr>
              <a:t>Riscy cache</a:t>
            </a:r>
            <a:r>
              <a:rPr lang="zh-CN" altLang="en-US">
                <a:ea typeface="SimSun" charset="0"/>
                <a:sym typeface="+mn-ea"/>
              </a:rPr>
              <a:t>和</a:t>
            </a:r>
            <a:r>
              <a:rPr lang="en-US" altLang="zh-CN">
                <a:ea typeface="SimSun" charset="0"/>
                <a:sym typeface="+mn-ea"/>
              </a:rPr>
              <a:t>2025SP GhostCache-THU</a:t>
            </a:r>
            <a:r>
              <a:rPr lang="zh-CN" altLang="en-US">
                <a:ea typeface="SimSun" charset="0"/>
                <a:sym typeface="+mn-ea"/>
              </a:rPr>
              <a:t>）并证明会被</a:t>
            </a:r>
            <a:r>
              <a:rPr lang="en-US" altLang="zh-CN">
                <a:ea typeface="SimSun" charset="0"/>
                <a:sym typeface="+mn-ea"/>
              </a:rPr>
              <a:t>fetch</a:t>
            </a:r>
            <a:r>
              <a:rPr lang="zh-CN" altLang="en-US">
                <a:ea typeface="SimSun" charset="0"/>
                <a:sym typeface="+mn-ea"/>
              </a:rPr>
              <a:t>但是无法推进到</a:t>
            </a:r>
            <a:r>
              <a:rPr lang="en-US" altLang="zh-CN">
                <a:ea typeface="SimSun" charset="0"/>
                <a:sym typeface="+mn-ea"/>
              </a:rPr>
              <a:t>exec</a:t>
            </a:r>
            <a:r>
              <a:rPr lang="zh-CN" altLang="en-US">
                <a:ea typeface="SimSun" charset="0"/>
                <a:sym typeface="+mn-ea"/>
              </a:rPr>
              <a:t>（</a:t>
            </a:r>
            <a:r>
              <a:rPr lang="en-US" altLang="zh-CN">
                <a:ea typeface="SimSun" charset="0"/>
                <a:sym typeface="+mn-ea"/>
              </a:rPr>
              <a:t>direct jmp</a:t>
            </a:r>
            <a:r>
              <a:rPr lang="zh-CN" altLang="en-US">
                <a:ea typeface="SimSun" charset="0"/>
                <a:sym typeface="+mn-ea"/>
              </a:rPr>
              <a:t>也是无法到</a:t>
            </a:r>
            <a:r>
              <a:rPr lang="en-US" altLang="zh-CN">
                <a:ea typeface="SimSun" charset="0"/>
                <a:sym typeface="+mn-ea"/>
              </a:rPr>
              <a:t>exec</a:t>
            </a:r>
            <a:r>
              <a:rPr lang="zh-CN" altLang="en-US">
                <a:ea typeface="SimSun" charset="0"/>
                <a:sym typeface="+mn-ea"/>
              </a:rPr>
              <a:t>）</a:t>
            </a:r>
            <a:r>
              <a:rPr lang="en-US" altLang="zh-CN">
                <a:ea typeface="SimSun" charset="0"/>
                <a:sym typeface="+mn-ea"/>
              </a:rPr>
              <a:t>;</a:t>
            </a:r>
            <a:endParaRPr lang="zh-CN" altLang="en-US">
              <a:ea typeface="SimSun" charset="0"/>
              <a:sym typeface="+mn-ea"/>
            </a:endParaRPr>
          </a:p>
          <a:p>
            <a:pPr marL="342900" lvl="0" indent="-342900">
              <a:buFont typeface="Arial" panose="02080604020202020204" pitchFamily="34" charset="0"/>
              <a:buAutoNum type="arabicPeriod"/>
            </a:pPr>
            <a:r>
              <a:rPr lang="en-US" altLang="zh-CN">
                <a:ea typeface="SimSun" charset="0"/>
                <a:sym typeface="+mn-ea"/>
              </a:rPr>
              <a:t>Phantom</a:t>
            </a:r>
            <a:r>
              <a:rPr lang="zh-CN" altLang="en-US">
                <a:ea typeface="SimSun" charset="0"/>
                <a:sym typeface="+mn-ea"/>
              </a:rPr>
              <a:t>（</a:t>
            </a:r>
            <a:r>
              <a:rPr lang="en-US" altLang="zh-CN">
                <a:ea typeface="SimSun" charset="0"/>
                <a:sym typeface="+mn-ea"/>
              </a:rPr>
              <a:t>2023MICRO</a:t>
            </a:r>
            <a:r>
              <a:rPr lang="zh-CN" altLang="en-US">
                <a:ea typeface="SimSun" charset="0"/>
                <a:sym typeface="+mn-ea"/>
              </a:rPr>
              <a:t>）工作大概率不可行（时间窗口更短）</a:t>
            </a:r>
            <a:r>
              <a:rPr lang="en-US" altLang="zh-CN">
                <a:ea typeface="SimSun" charset="0"/>
                <a:sym typeface="+mn-ea"/>
              </a:rPr>
              <a:t>;</a:t>
            </a:r>
            <a:endParaRPr lang="zh-CN" altLang="en-US">
              <a:ea typeface="SimSun" charset="0"/>
              <a:sym typeface="+mn-ea"/>
            </a:endParaRPr>
          </a:p>
          <a:p>
            <a:pPr marL="342900" lvl="0" indent="-342900">
              <a:buFont typeface="Arial" panose="02080604020202020204" pitchFamily="34" charset="0"/>
              <a:buAutoNum type="arabicPeriod"/>
            </a:pPr>
            <a:r>
              <a:rPr lang="en-US" altLang="zh-CN">
                <a:ea typeface="SimSun" charset="0"/>
                <a:sym typeface="+mn-ea"/>
              </a:rPr>
              <a:t>TLB&amp;</a:t>
            </a:r>
            <a:r>
              <a:rPr lang="zh-CN" altLang="en-US">
                <a:ea typeface="SimSun" charset="0"/>
                <a:sym typeface="+mn-ea"/>
              </a:rPr>
              <a:t>地址翻译的时间差异，成功将</a:t>
            </a:r>
            <a:r>
              <a:rPr lang="en-US" altLang="zh-CN">
                <a:ea typeface="SimSun" charset="0"/>
                <a:sym typeface="+mn-ea"/>
              </a:rPr>
              <a:t>Spectre</a:t>
            </a:r>
            <a:r>
              <a:rPr lang="zh-CN" altLang="en-US">
                <a:ea typeface="SimSun" charset="0"/>
                <a:sym typeface="+mn-ea"/>
              </a:rPr>
              <a:t>攻击的接受端替换成</a:t>
            </a:r>
            <a:r>
              <a:rPr lang="en-US" altLang="zh-CN">
                <a:ea typeface="SimSun" charset="0"/>
                <a:sym typeface="+mn-ea"/>
              </a:rPr>
              <a:t>TLB</a:t>
            </a:r>
            <a:r>
              <a:rPr lang="zh-CN" altLang="en-US">
                <a:ea typeface="SimSun" charset="0"/>
                <a:sym typeface="+mn-ea"/>
              </a:rPr>
              <a:t>并读出密钥</a:t>
            </a:r>
            <a:r>
              <a:rPr lang="en-US" altLang="zh-CN">
                <a:ea typeface="SimSun" charset="0"/>
                <a:sym typeface="+mn-ea"/>
              </a:rPr>
              <a:t>;</a:t>
            </a:r>
            <a:endParaRPr lang="zh-CN" altLang="en-US">
              <a:ea typeface="SimSun" charset="0"/>
              <a:sym typeface="+mn-ea"/>
            </a:endParaRPr>
          </a:p>
          <a:p>
            <a:pPr marL="342900" lvl="0" indent="-342900">
              <a:buFont typeface="Arial" panose="02080604020202020204" pitchFamily="34" charset="0"/>
              <a:buAutoNum type="arabicPeriod"/>
            </a:pPr>
            <a:r>
              <a:rPr lang="zh-CN" altLang="en-US">
                <a:ea typeface="SimSun" charset="0"/>
                <a:sym typeface="+mn-ea"/>
              </a:rPr>
              <a:t>询问了</a:t>
            </a:r>
            <a:r>
              <a:rPr lang="en-US" altLang="zh-CN">
                <a:ea typeface="SimSun" charset="0"/>
                <a:sym typeface="+mn-ea"/>
              </a:rPr>
              <a:t>CISPA</a:t>
            </a:r>
            <a:r>
              <a:rPr lang="zh-CN" altLang="en-US">
                <a:ea typeface="SimSun" charset="0"/>
                <a:sym typeface="+mn-ea"/>
              </a:rPr>
              <a:t>组员</a:t>
            </a:r>
            <a:r>
              <a:rPr lang="en-US" altLang="zh-CN">
                <a:ea typeface="SimSun" charset="0"/>
                <a:sym typeface="+mn-ea"/>
              </a:rPr>
              <a:t>Phantom</a:t>
            </a:r>
            <a:r>
              <a:rPr lang="zh-CN" altLang="en-US">
                <a:ea typeface="SimSun" charset="0"/>
                <a:sym typeface="+mn-ea"/>
              </a:rPr>
              <a:t>他们是否考虑过，因为</a:t>
            </a:r>
            <a:r>
              <a:rPr lang="en-US" altLang="zh-CN">
                <a:ea typeface="SimSun" charset="0"/>
                <a:sym typeface="+mn-ea"/>
              </a:rPr>
              <a:t>THU</a:t>
            </a:r>
            <a:r>
              <a:rPr lang="zh-CN" altLang="en-US">
                <a:ea typeface="SimSun" charset="0"/>
                <a:sym typeface="+mn-ea"/>
              </a:rPr>
              <a:t>和</a:t>
            </a:r>
            <a:r>
              <a:rPr lang="en-US" altLang="zh-CN">
                <a:ea typeface="SimSun" charset="0"/>
                <a:sym typeface="+mn-ea"/>
              </a:rPr>
              <a:t>CISPA</a:t>
            </a:r>
            <a:r>
              <a:rPr lang="zh-CN" altLang="en-US">
                <a:ea typeface="SimSun" charset="0"/>
                <a:sym typeface="+mn-ea"/>
              </a:rPr>
              <a:t>均没有考虑过微架构。</a:t>
            </a:r>
            <a:endParaRPr lang="zh-CN" altLang="en-US">
              <a:ea typeface="SimSun" charset="0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36855" y="2997835"/>
            <a:ext cx="11652885" cy="26079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ea typeface="SimSun" charset="0"/>
              </a:rPr>
              <a:t>攻击</a:t>
            </a:r>
            <a:r>
              <a:rPr lang="en-US" altLang="zh-CN">
                <a:ea typeface="SimSun" charset="0"/>
              </a:rPr>
              <a:t>1</a:t>
            </a:r>
            <a:r>
              <a:rPr lang="zh-CN" altLang="en-US">
                <a:ea typeface="SimSun" charset="0"/>
              </a:rPr>
              <a:t>：利用不同的侧信道在用户态进行攻击（</a:t>
            </a:r>
            <a:r>
              <a:rPr lang="en-US" altLang="zh-CN">
                <a:ea typeface="SimSun" charset="0"/>
              </a:rPr>
              <a:t>spectre</a:t>
            </a:r>
            <a:r>
              <a:rPr lang="zh-CN" altLang="en-US">
                <a:ea typeface="SimSun" charset="0"/>
              </a:rPr>
              <a:t>、</a:t>
            </a:r>
            <a:r>
              <a:rPr lang="en-US" altLang="zh-CN">
                <a:ea typeface="SimSun" charset="0"/>
              </a:rPr>
              <a:t>AES-table</a:t>
            </a:r>
            <a:r>
              <a:rPr lang="zh-CN" altLang="en-US">
                <a:ea typeface="SimSun" charset="0"/>
              </a:rPr>
              <a:t>），更偏向于用不同方法把攻击造成的变化提取出来（</a:t>
            </a:r>
            <a:r>
              <a:rPr lang="en-US" altLang="zh-CN">
                <a:ea typeface="SimSun" charset="0"/>
              </a:rPr>
              <a:t>L1/L2 Cache FlushReload/PrimeProbe...etc</a:t>
            </a:r>
            <a:r>
              <a:rPr lang="zh-CN" altLang="en-US">
                <a:ea typeface="SimSun" charset="0"/>
              </a:rPr>
              <a:t>）</a:t>
            </a:r>
            <a:endParaRPr lang="zh-CN" altLang="en-US">
              <a:ea typeface="SimSun" charset="0"/>
            </a:endParaRPr>
          </a:p>
          <a:p>
            <a:pPr marL="742950" lvl="1" indent="-285750">
              <a:buFont typeface="Arial" panose="02080604020202020204" pitchFamily="34" charset="0"/>
              <a:buChar char="•"/>
            </a:pPr>
            <a:r>
              <a:rPr lang="zh-CN" altLang="en-US">
                <a:ea typeface="SimSun" charset="0"/>
              </a:rPr>
              <a:t>问题</a:t>
            </a:r>
            <a:r>
              <a:rPr lang="en-US" altLang="zh-CN">
                <a:ea typeface="SimSun" charset="0"/>
              </a:rPr>
              <a:t>1</a:t>
            </a:r>
            <a:r>
              <a:rPr lang="zh-CN" altLang="en-US">
                <a:ea typeface="SimSun" charset="0"/>
              </a:rPr>
              <a:t>：当前的瞬态效应不足以进行到</a:t>
            </a:r>
            <a:r>
              <a:rPr lang="en-US" altLang="zh-CN">
                <a:ea typeface="SimSun" charset="0"/>
              </a:rPr>
              <a:t>exec</a:t>
            </a:r>
            <a:r>
              <a:rPr lang="zh-CN" altLang="en-US">
                <a:ea typeface="SimSun" charset="0"/>
              </a:rPr>
              <a:t>阶段，无法替换</a:t>
            </a:r>
            <a:r>
              <a:rPr lang="en-US" altLang="zh-CN">
                <a:ea typeface="SimSun" charset="0"/>
              </a:rPr>
              <a:t>spectre</a:t>
            </a:r>
            <a:r>
              <a:rPr lang="zh-CN" altLang="en-US">
                <a:ea typeface="SimSun" charset="0"/>
              </a:rPr>
              <a:t>的</a:t>
            </a:r>
            <a:r>
              <a:rPr lang="en-US" altLang="zh-CN">
                <a:ea typeface="SimSun" charset="0"/>
              </a:rPr>
              <a:t>sender</a:t>
            </a:r>
            <a:r>
              <a:rPr lang="zh-CN" altLang="en-US">
                <a:ea typeface="SimSun" charset="0"/>
              </a:rPr>
              <a:t>端</a:t>
            </a:r>
            <a:r>
              <a:rPr lang="en-US" altLang="zh-CN">
                <a:ea typeface="SimSun" charset="0"/>
              </a:rPr>
              <a:t>;</a:t>
            </a:r>
            <a:endParaRPr lang="zh-CN" altLang="en-US">
              <a:ea typeface="SimSun" charset="0"/>
            </a:endParaRPr>
          </a:p>
          <a:p>
            <a:endParaRPr lang="zh-CN" altLang="en-US">
              <a:ea typeface="SimSun" charset="0"/>
            </a:endParaRPr>
          </a:p>
          <a:p>
            <a:r>
              <a:rPr lang="zh-CN" altLang="en-US">
                <a:ea typeface="SimSun" charset="0"/>
              </a:rPr>
              <a:t>攻击</a:t>
            </a:r>
            <a:r>
              <a:rPr lang="en-US" altLang="zh-CN">
                <a:ea typeface="SimSun" charset="0"/>
              </a:rPr>
              <a:t>2</a:t>
            </a:r>
            <a:r>
              <a:rPr lang="zh-CN" altLang="en-US">
                <a:ea typeface="SimSun" charset="0"/>
              </a:rPr>
              <a:t>：聚焦微架构（跨特权）存储低位预测信息，用户态</a:t>
            </a:r>
            <a:r>
              <a:rPr lang="en-US" altLang="zh-CN">
                <a:ea typeface="SimSun" charset="0"/>
              </a:rPr>
              <a:t>/</a:t>
            </a:r>
            <a:r>
              <a:rPr lang="zh-CN" altLang="en-US">
                <a:ea typeface="SimSun" charset="0"/>
              </a:rPr>
              <a:t>内核态构造冲突组</a:t>
            </a:r>
            <a:r>
              <a:rPr lang="en-US" altLang="zh-CN">
                <a:ea typeface="SimSun" charset="0"/>
              </a:rPr>
              <a:t>/</a:t>
            </a:r>
            <a:r>
              <a:rPr lang="zh-CN" altLang="en-US">
                <a:ea typeface="SimSun" charset="0"/>
              </a:rPr>
              <a:t>相同历史，内核再次执行根据低位</a:t>
            </a:r>
            <a:r>
              <a:rPr lang="en-US" altLang="zh-CN">
                <a:ea typeface="SimSun" charset="0"/>
              </a:rPr>
              <a:t>&amp;</a:t>
            </a:r>
            <a:r>
              <a:rPr lang="zh-CN" altLang="en-US">
                <a:ea typeface="SimSun" charset="0"/>
              </a:rPr>
              <a:t>历史匹配预测项，结合高位组合成瞬态执行地址，内核使用攻击控制的寄存器将状态</a:t>
            </a:r>
            <a:r>
              <a:rPr lang="en-US" altLang="zh-CN">
                <a:ea typeface="SimSun" charset="0"/>
              </a:rPr>
              <a:t>load</a:t>
            </a:r>
            <a:r>
              <a:rPr lang="zh-CN" altLang="en-US">
                <a:ea typeface="SimSun" charset="0"/>
              </a:rPr>
              <a:t>到共享</a:t>
            </a:r>
            <a:r>
              <a:rPr lang="en-US" altLang="zh-CN">
                <a:ea typeface="SimSun" charset="0"/>
              </a:rPr>
              <a:t>buffer</a:t>
            </a:r>
            <a:r>
              <a:rPr lang="zh-CN" altLang="en-US">
                <a:ea typeface="SimSun" charset="0"/>
              </a:rPr>
              <a:t>，用户在通过侧信道恢复（</a:t>
            </a:r>
            <a:r>
              <a:rPr lang="en-US" altLang="zh-CN">
                <a:ea typeface="SimSun" charset="0"/>
              </a:rPr>
              <a:t>/etc/shadow</a:t>
            </a:r>
            <a:r>
              <a:rPr lang="zh-CN" altLang="en-US">
                <a:ea typeface="SimSun" charset="0"/>
              </a:rPr>
              <a:t>的</a:t>
            </a:r>
            <a:r>
              <a:rPr lang="en-US" altLang="zh-CN">
                <a:ea typeface="SimSun" charset="0"/>
              </a:rPr>
              <a:t>root hash</a:t>
            </a:r>
            <a:r>
              <a:rPr lang="zh-CN" altLang="en-US">
                <a:ea typeface="SimSun" charset="0"/>
              </a:rPr>
              <a:t>）</a:t>
            </a:r>
            <a:endParaRPr lang="zh-CN" altLang="en-US">
              <a:ea typeface="SimSun" charset="0"/>
            </a:endParaRPr>
          </a:p>
          <a:p>
            <a:pPr marL="742950" lvl="1" indent="-285750">
              <a:buFont typeface="Arial" panose="02080604020202020204" pitchFamily="34" charset="0"/>
              <a:buChar char="•"/>
            </a:pPr>
            <a:r>
              <a:rPr lang="zh-CN" altLang="en-US">
                <a:ea typeface="SimSun" charset="0"/>
              </a:rPr>
              <a:t>问题</a:t>
            </a:r>
            <a:r>
              <a:rPr lang="en-US" altLang="zh-CN">
                <a:ea typeface="SimSun" charset="0"/>
              </a:rPr>
              <a:t>2</a:t>
            </a:r>
            <a:r>
              <a:rPr lang="zh-CN" altLang="en-US">
                <a:ea typeface="SimSun" charset="0"/>
              </a:rPr>
              <a:t>：</a:t>
            </a:r>
            <a:r>
              <a:rPr lang="en-US" altLang="zh-CN">
                <a:ea typeface="SimSun" charset="0"/>
              </a:rPr>
              <a:t>RAS underflow</a:t>
            </a:r>
            <a:r>
              <a:rPr lang="zh-CN" altLang="en-US">
                <a:ea typeface="SimSun" charset="0"/>
              </a:rPr>
              <a:t>时使用的</a:t>
            </a:r>
            <a:r>
              <a:rPr lang="en-US" altLang="zh-CN">
                <a:ea typeface="SimSun" charset="0"/>
              </a:rPr>
              <a:t>default_vpc</a:t>
            </a:r>
            <a:r>
              <a:rPr lang="zh-CN" altLang="en-US">
                <a:ea typeface="SimSun" charset="0"/>
              </a:rPr>
              <a:t>会有权限管控，无法让内核使用而且</a:t>
            </a:r>
            <a:r>
              <a:rPr lang="en-US" altLang="zh-CN">
                <a:ea typeface="SimSun" charset="0"/>
              </a:rPr>
              <a:t>RAS</a:t>
            </a:r>
            <a:r>
              <a:rPr lang="zh-CN" altLang="en-US">
                <a:ea typeface="SimSun" charset="0"/>
              </a:rPr>
              <a:t>失效后并不会走</a:t>
            </a:r>
            <a:r>
              <a:rPr lang="en-US" altLang="zh-CN">
                <a:ea typeface="SimSun" charset="0"/>
              </a:rPr>
              <a:t>Retbleed</a:t>
            </a:r>
            <a:r>
              <a:rPr lang="zh-CN" altLang="en-US">
                <a:ea typeface="SimSun" charset="0"/>
              </a:rPr>
              <a:t>中利用的微结构</a:t>
            </a:r>
            <a:r>
              <a:rPr lang="en-US" altLang="zh-CN">
                <a:ea typeface="SimSun" charset="0"/>
              </a:rPr>
              <a:t>;</a:t>
            </a:r>
            <a:endParaRPr lang="en-US" altLang="zh-CN">
              <a:ea typeface="SimSun" charset="0"/>
            </a:endParaRPr>
          </a:p>
        </p:txBody>
      </p:sp>
    </p:spTree>
    <p:custDataLst>
      <p:tags r:id="rId3"/>
    </p:custData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TLB&amp;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地址翻译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378619" y="930275"/>
            <a:ext cx="525780" cy="368300"/>
          </a:xfrm>
          <a:prstGeom prst="rect">
            <a:avLst/>
          </a:prstGeom>
        </p:spPr>
        <p:txBody>
          <a:bodyPr wrap="none" rtlCol="0">
            <a:spAutoFit/>
          </a:bodyPr>
          <a:p>
            <a:pPr marL="342900" indent="-342900">
              <a:buAutoNum type="arabicPeriod"/>
            </a:pPr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378650" y="757607"/>
            <a:ext cx="11659923" cy="645160"/>
          </a:xfrm>
          <a:prstGeom prst="rect">
            <a:avLst/>
          </a:prstGeom>
        </p:spPr>
        <p:txBody>
          <a:bodyPr wrap="square" rtlCol="0">
            <a:noAutofit/>
          </a:bodyPr>
          <a:p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150" y="3620135"/>
            <a:ext cx="5372735" cy="170497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530" y="3558540"/>
            <a:ext cx="6129655" cy="272732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30" y="1066800"/>
            <a:ext cx="6102985" cy="66675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3530" y="1834515"/>
            <a:ext cx="6662420" cy="75501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6534150" y="5445760"/>
            <a:ext cx="5354955" cy="8407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/>
              <a:t>可以利用地址翻译作为</a:t>
            </a:r>
            <a:r>
              <a:rPr lang="en-US" altLang="zh-CN" sz="1400"/>
              <a:t>receiver</a:t>
            </a:r>
            <a:r>
              <a:rPr lang="zh-CN" altLang="en-US" sz="1400">
                <a:ea typeface="SimSun" charset="0"/>
              </a:rPr>
              <a:t>获取密钥，但是不确定如何制造</a:t>
            </a:r>
            <a:r>
              <a:rPr lang="en-US" altLang="zh-CN" sz="1400">
                <a:ea typeface="SimSun" charset="0"/>
              </a:rPr>
              <a:t>sender.</a:t>
            </a:r>
            <a:endParaRPr lang="en-US" altLang="zh-CN" sz="1400">
              <a:ea typeface="SimSun" charset="0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3530" y="2839720"/>
            <a:ext cx="6662420" cy="551815"/>
          </a:xfrm>
          <a:prstGeom prst="rect">
            <a:avLst/>
          </a:prstGeom>
        </p:spPr>
      </p:pic>
    </p:spTree>
    <p:custDataLst>
      <p:tags r:id="rId8"/>
    </p:custData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5" y="3917950"/>
            <a:ext cx="12193270" cy="2940050"/>
          </a:xfrm>
          <a:prstGeom prst="rect">
            <a:avLst/>
          </a:prstGeom>
        </p:spPr>
      </p:pic>
      <p:sp>
        <p:nvSpPr>
          <p:cNvPr id="10" name="Shape 45"/>
          <p:cNvSpPr/>
          <p:nvPr/>
        </p:nvSpPr>
        <p:spPr>
          <a:xfrm>
            <a:off x="-635" y="4758343"/>
            <a:ext cx="12192000" cy="1049005"/>
          </a:xfrm>
          <a:prstGeom prst="rect">
            <a:avLst/>
          </a:prstGeom>
          <a:noFill/>
          <a:ln w="12700">
            <a:noFill/>
            <a:miter lim="400000"/>
          </a:ln>
        </p:spPr>
        <p:txBody>
          <a:bodyPr wrap="square" lIns="34290" tIns="34290" rIns="34290" bIns="34290">
            <a:spAutoFit/>
          </a:bodyPr>
          <a:lstStyle>
            <a:lvl1pPr algn="l" defTabSz="914400">
              <a:defRPr sz="9000" cap="all" spc="1350">
                <a:solidFill>
                  <a:srgbClr val="3766D7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cap="none" spc="0">
                <a:solidFill>
                  <a:srgbClr val="000000"/>
                </a:solidFill>
              </a:defRPr>
            </a:pPr>
            <a:r>
              <a:rPr kumimoji="0" lang="en-US" altLang="zh-CN" sz="5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  <a:sym typeface="Impact" panose="020B0806030902050204"/>
              </a:rPr>
              <a:t>Thanks</a:t>
            </a:r>
            <a:r>
              <a:rPr kumimoji="0" lang="zh-CN" altLang="en-US" sz="5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  <a:sym typeface="Impact" panose="020B0806030902050204"/>
              </a:rPr>
              <a:t>！</a:t>
            </a:r>
            <a:endParaRPr kumimoji="0" lang="zh-CN" altLang="en-US" sz="5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ea typeface="Microsoft YaHei" panose="020B0503020204020204" pitchFamily="34" charset="-122"/>
              <a:cs typeface="Times New Roman" panose="02020603050405020304" pitchFamily="18" charset="0"/>
              <a:sym typeface="Impact" panose="020B0806030902050204"/>
            </a:endParaRPr>
          </a:p>
        </p:txBody>
      </p:sp>
      <p:sp>
        <p:nvSpPr>
          <p:cNvPr id="5" name="标题 1"/>
          <p:cNvSpPr txBox="1">
            <a:spLocks noChangeArrowheads="1"/>
          </p:cNvSpPr>
          <p:nvPr/>
        </p:nvSpPr>
        <p:spPr bwMode="auto">
          <a:xfrm>
            <a:off x="302463" y="149947"/>
            <a:ext cx="3449964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dirty="0">
                <a:solidFill>
                  <a:srgbClr val="00539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工作计划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38716" y="1205626"/>
            <a:ext cx="9381259" cy="5441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思考利用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BHT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影响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IBP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做跨权限微架构分析，探究是否可行（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Branch History Injection: On the Effectiveness of Hardware Mitigations-2022Usenix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）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;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思考如何将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fetch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推进到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exec 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随后接入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spectre;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不再聚焦微架构，利用侧信道对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Runtime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进行分析（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I know What You Sync: Covert and Side Channel Attacks on File Systems via syncfs-2025SP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）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--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追踪进程运行信息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;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p:transition/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SLIDE_BACKGROUND_TYPE" val="general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SLIDE_BACKGROUND_TYPE" val="general"/>
</p:tagLst>
</file>

<file path=ppt/tags/tag6.xml><?xml version="1.0" encoding="utf-8"?>
<p:tagLst xmlns:p="http://schemas.openxmlformats.org/presentationml/2006/main">
  <p:tag name="KSO_WM_SLIDE_BACKGROUND_TYPE" val="general"/>
</p:tagLst>
</file>

<file path=ppt/tags/tag7.xml><?xml version="1.0" encoding="utf-8"?>
<p:tagLst xmlns:p="http://schemas.openxmlformats.org/presentationml/2006/main">
  <p:tag name="RESOURCE_RECORD_KEY" val="{&quot;65&quot;:[20229149],&quot;70&quot;:[3319068,3312407]}"/>
  <p:tag name="COMMONDATA" val="eyJoZGlkIjoiMWE2MmRiMDAwMTc4ZmUxYjI2MjMwNzljODhkYTA0MzA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972</Words>
  <Application>WPS 演示</Application>
  <PresentationFormat>宽屏</PresentationFormat>
  <Paragraphs>36</Paragraphs>
  <Slides>4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25" baseType="lpstr">
      <vt:lpstr>Arial</vt:lpstr>
      <vt:lpstr>SimSun</vt:lpstr>
      <vt:lpstr>Wingdings</vt:lpstr>
      <vt:lpstr>DejaVu Sans</vt:lpstr>
      <vt:lpstr>Microsoft YaHei</vt:lpstr>
      <vt:lpstr>Droid Sans Fallback</vt:lpstr>
      <vt:lpstr>Calibri</vt:lpstr>
      <vt:lpstr>Arial</vt:lpstr>
      <vt:lpstr>Calibri</vt:lpstr>
      <vt:lpstr>SimSun</vt:lpstr>
      <vt:lpstr>Impact</vt:lpstr>
      <vt:lpstr>Ubuntu Condensed</vt:lpstr>
      <vt:lpstr>Times New Roman</vt:lpstr>
      <vt:lpstr>等线 Light</vt:lpstr>
      <vt:lpstr>Gubbi</vt:lpstr>
      <vt:lpstr>等线</vt:lpstr>
      <vt:lpstr>Microsoft YaHei</vt:lpstr>
      <vt:lpstr>Arial Unicode MS</vt:lpstr>
      <vt:lpstr>SimSun</vt:lpstr>
      <vt:lpstr>Noto Serif CJK SC</vt:lpstr>
      <vt:lpstr>Office 主题​​</vt:lpstr>
      <vt:lpstr>组会报告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微电子研究院科研工作汇报</dc:title>
  <dc:creator>Bruce Andy</dc:creator>
  <cp:lastModifiedBy>刘子豪</cp:lastModifiedBy>
  <cp:revision>5724</cp:revision>
  <dcterms:created xsi:type="dcterms:W3CDTF">2026-04-17T06:36:08Z</dcterms:created>
  <dcterms:modified xsi:type="dcterms:W3CDTF">2026-04-17T06:36:08Z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E8701F7BDB82F82B2095D86906B9B99D_43</vt:lpwstr>
  </property>
  <property fmtid="{D5CDD505-2E9C-101B-9397-08002B2CF9AE}" pid="3" name="KSOProductBuildVer">
    <vt:lpwstr>2052-12.1.2.25838</vt:lpwstr>
  </property>
</Properties>
</file>