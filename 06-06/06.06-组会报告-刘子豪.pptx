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6504" r:id="rId3"/>
    <p:sldId id="6526" r:id="rId4"/>
    <p:sldId id="6531" r:id="rId6"/>
    <p:sldId id="6529" r:id="rId7"/>
    <p:sldId id="6532" r:id="rId8"/>
    <p:sldId id="6533" r:id="rId9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u Tianhang" initials="LT" lastIdx="3" clrIdx="0"/>
  <p:cmAuthor id="1" name="徐 飞" initials="徐" lastIdx="2" clrIdx="0"/>
  <p:cmAuthor id="2" name="作者" initials="A" lastIdx="0" clrIdx="1"/>
  <p:cmAuthor id="3" name="Administrator" initials="A" lastIdx="1" clrIdx="2"/>
  <p:cmAuthor id="4" name="lingyan" initials="l" lastIdx="1" clrIdx="3"/>
  <p:cmAuthor id="5" name="Lenovo" initials="L" lastIdx="1" clrIdx="4"/>
  <p:cmAuthor id="6" name="Daniel L" initials="DL" lastIdx="1" clrIdx="5"/>
  <p:cmAuthor id="8" name="翔 龙" initials="翔龙" lastIdx="0" clrIdx="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81BD"/>
    <a:srgbClr val="0A41FF"/>
    <a:srgbClr val="AED38C"/>
    <a:srgbClr val="A9D18E"/>
    <a:srgbClr val="E2EFD8"/>
    <a:srgbClr val="DAE3F2"/>
    <a:srgbClr val="7B98CB"/>
    <a:srgbClr val="8FAADC"/>
    <a:srgbClr val="E46C0A"/>
    <a:srgbClr val="1F49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1" autoAdjust="0"/>
    <p:restoredTop sz="90944" autoAdjust="0"/>
  </p:normalViewPr>
  <p:slideViewPr>
    <p:cSldViewPr snapToGrid="0">
      <p:cViewPr varScale="1">
        <p:scale>
          <a:sx n="146" d="100"/>
          <a:sy n="146" d="100"/>
        </p:scale>
        <p:origin x="630" y="12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499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3.xml"/><Relationship Id="rId13" Type="http://schemas.openxmlformats.org/officeDocument/2006/relationships/commentAuthors" Target="commentAuthors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0E278-0997-471C-A626-33B24ADD180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FDE018-9361-4A7D-BF1C-A65E4257A2C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-8467" y="829629"/>
            <a:ext cx="12208934" cy="92075"/>
          </a:xfrm>
          <a:prstGeom prst="rect">
            <a:avLst/>
          </a:prstGeom>
          <a:solidFill>
            <a:srgbClr val="4F81BD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80604020202020204" pitchFamily="34" charset="0"/>
              <a:buNone/>
              <a:defRPr/>
            </a:pPr>
            <a:endParaRPr kumimoji="0" lang="zh-CN" altLang="en-US" sz="1800" b="0" i="0" u="none" strike="noStrike" kern="1200" cap="none" spc="0" normalizeH="0" baseline="0" noProof="1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E02E10-5295-4B60-8D9B-82AC9DBDB52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9326DE-B771-4392-A08B-AE076E87AAB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7.xml"/><Relationship Id="rId5" Type="http://schemas.openxmlformats.org/officeDocument/2006/relationships/tags" Target="../tags/tag3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image" Target="../media/image4.png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2" Type="http://schemas.openxmlformats.org/officeDocument/2006/relationships/image" Target="../media/image9.png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7.xml"/><Relationship Id="rId3" Type="http://schemas.openxmlformats.org/officeDocument/2006/relationships/tags" Target="../tags/tag12.xml"/><Relationship Id="rId2" Type="http://schemas.openxmlformats.org/officeDocument/2006/relationships/image" Target="../media/image4.png"/><Relationship Id="rId1" Type="http://schemas.openxmlformats.org/officeDocument/2006/relationships/tags" Target="../tags/tag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213608"/>
            <a:ext cx="12192000" cy="2430784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08695" y="1624769"/>
            <a:ext cx="11174610" cy="2387600"/>
          </a:xfrm>
        </p:spPr>
        <p:txBody>
          <a:bodyPr/>
          <a:lstStyle/>
          <a:p>
            <a:r>
              <a:rPr lang="zh-CN" altLang="en-US" b="1" dirty="0">
                <a:gradFill>
                  <a:gsLst>
                    <a:gs pos="0">
                      <a:schemeClr val="bg1"/>
                    </a:gs>
                    <a:gs pos="54000">
                      <a:schemeClr val="bg1">
                        <a:lumMod val="85000"/>
                      </a:schemeClr>
                    </a:gs>
                    <a:gs pos="100000">
                      <a:schemeClr val="bg1"/>
                    </a:gs>
                  </a:gsLst>
                  <a:lin ang="5400000" scaled="1"/>
                </a:gradFill>
                <a:effectLst>
                  <a:glow rad="127000">
                    <a:srgbClr val="0070C0"/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组会报告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02" y="6154295"/>
            <a:ext cx="2222614" cy="533427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955005" y="5713006"/>
            <a:ext cx="6097190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汇报人：刘子豪</a:t>
            </a:r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endParaRPr lang="en-US" altLang="zh-CN" b="1" dirty="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/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>—2026年06月06日—</a:t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zh-CN" altLang="en-US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r>
              <a:rPr lang="en-US" altLang="zh-CN" b="1" dirty="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7455" y="136994"/>
            <a:ext cx="1734545" cy="100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链路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&amp;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数据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515" y="1241425"/>
            <a:ext cx="1597660" cy="440944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36880" y="865505"/>
            <a:ext cx="11099800" cy="3695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>
                <a:sym typeface="+mn-ea"/>
              </a:rPr>
              <a:t>聚焦非侵入式</a:t>
            </a:r>
            <a:r>
              <a:rPr lang="en-US" altLang="zh-CN">
                <a:sym typeface="+mn-ea"/>
              </a:rPr>
              <a:t>BCI</a:t>
            </a:r>
            <a:r>
              <a:rPr lang="zh-CN" altLang="en-US">
                <a:ea typeface="SimSun" charset="0"/>
                <a:sym typeface="+mn-ea"/>
              </a:rPr>
              <a:t>的与硬件相关的安全问题</a:t>
            </a:r>
            <a:endParaRPr lang="zh-CN" altLang="en-US">
              <a:ea typeface="SimSun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36880" y="5798185"/>
            <a:ext cx="11452225" cy="6451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该领域当前还是聚焦于将不同的方法应用（模型、算法）在不同的情境中，解决不同的问题。针对安全问题的研究比较少，</a:t>
            </a:r>
            <a:r>
              <a:rPr lang="zh-CN" altLang="en-US">
                <a:solidFill>
                  <a:srgbClr val="FF0000"/>
                </a:solidFill>
              </a:rPr>
              <a:t>数据隐私、模型安全、安全体系结构设计、数据后门（不存在顶会）</a:t>
            </a:r>
            <a:r>
              <a:rPr lang="zh-CN" altLang="en-US"/>
              <a:t>等。</a:t>
            </a:r>
            <a:endParaRPr lang="zh-CN" altLang="en-US">
              <a:ea typeface="SimSun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629275" y="3803650"/>
            <a:ext cx="6205220" cy="14605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sym typeface="+mn-ea"/>
              </a:rPr>
              <a:t>数据具有独特的时空复杂性、稀缺性（人、设备），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但没有调研到特有的处理方法</a:t>
            </a:r>
            <a:r>
              <a:rPr lang="zh-CN" altLang="en-US">
                <a:sym typeface="+mn-ea"/>
              </a:rPr>
              <a:t>。</a:t>
            </a:r>
            <a:endParaRPr lang="zh-CN" altLang="en-US"/>
          </a:p>
          <a:p>
            <a:endParaRPr lang="zh-CN" altLang="en-US"/>
          </a:p>
          <a:p>
            <a:r>
              <a:rPr lang="zh-CN" altLang="en-US">
                <a:ea typeface="SimSun" charset="0"/>
              </a:rPr>
              <a:t>不同数据类型</a:t>
            </a:r>
            <a:r>
              <a:rPr lang="en-US" altLang="zh-CN">
                <a:ea typeface="SimSun" charset="0"/>
              </a:rPr>
              <a:t>+</a:t>
            </a:r>
            <a:r>
              <a:rPr lang="zh-CN" altLang="en-US">
                <a:ea typeface="SimSun" charset="0"/>
              </a:rPr>
              <a:t>实验范式</a:t>
            </a:r>
            <a:r>
              <a:rPr lang="en-US" altLang="zh-CN">
                <a:ea typeface="SimSun" charset="0"/>
              </a:rPr>
              <a:t> == </a:t>
            </a:r>
            <a:r>
              <a:rPr lang="zh-CN" altLang="en-US">
                <a:ea typeface="SimSun" charset="0"/>
              </a:rPr>
              <a:t>不同领域</a:t>
            </a:r>
            <a:r>
              <a:rPr lang="en-US" altLang="zh-CN">
                <a:ea typeface="SimSun" charset="0"/>
              </a:rPr>
              <a:t>; </a:t>
            </a:r>
            <a:r>
              <a:rPr lang="zh-CN" altLang="en-US">
                <a:ea typeface="SimSun" charset="0"/>
              </a:rPr>
              <a:t>同一种方法可以在不同领域应用。（</a:t>
            </a:r>
            <a:r>
              <a:rPr lang="en-US" altLang="zh-CN">
                <a:ea typeface="SimSun" charset="0"/>
              </a:rPr>
              <a:t>fMRI</a:t>
            </a:r>
            <a:r>
              <a:rPr lang="zh-CN" altLang="en-US">
                <a:ea typeface="SimSun" charset="0"/>
              </a:rPr>
              <a:t>：图片分类</a:t>
            </a:r>
            <a:r>
              <a:rPr lang="en-US" altLang="zh-CN">
                <a:ea typeface="SimSun" charset="0"/>
              </a:rPr>
              <a:t>-</a:t>
            </a:r>
            <a:r>
              <a:rPr lang="zh-CN" altLang="en-US">
                <a:ea typeface="SimSun" charset="0"/>
              </a:rPr>
              <a:t>图片重构）</a:t>
            </a:r>
            <a:endParaRPr lang="zh-CN" altLang="en-US">
              <a:ea typeface="SimSun" charset="0"/>
            </a:endParaRPr>
          </a:p>
        </p:txBody>
      </p:sp>
      <p:pic>
        <p:nvPicPr>
          <p:cNvPr id="11" name="图片 10" descr="Pasted image 2026060511415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9275" y="1235075"/>
            <a:ext cx="4900930" cy="238125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157095" y="1456690"/>
            <a:ext cx="3255645" cy="12877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与硬件相关：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数据处理时指令相关漏洞（微架构）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低功耗应用</a:t>
            </a:r>
            <a:endParaRPr lang="zh-CN" altLang="en-US">
              <a:ea typeface="SimSun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56460" y="3577590"/>
            <a:ext cx="3256280" cy="19431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/>
              <a:t>数据处理链路：</a:t>
            </a:r>
            <a:endParaRPr lang="zh-CN" altLang="en-US"/>
          </a:p>
          <a:p>
            <a:pPr marL="342900" indent="-342900">
              <a:buAutoNum type="arabicPeriod"/>
            </a:pPr>
            <a:r>
              <a:rPr lang="zh-CN" altLang="en-US"/>
              <a:t>有线传输不考虑安全问题，无线传输漏洞更多与网络相关</a:t>
            </a:r>
            <a:r>
              <a:rPr lang="en-US" altLang="zh-CN"/>
              <a:t>;</a:t>
            </a:r>
            <a:endParaRPr lang="en-US" altLang="zh-CN"/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数据预处理大多与数据后门相关</a:t>
            </a:r>
            <a:r>
              <a:rPr lang="en-US" altLang="zh-CN">
                <a:ea typeface="SimSun" charset="0"/>
              </a:rPr>
              <a:t>;</a:t>
            </a:r>
            <a:endParaRPr lang="zh-CN" altLang="en-US">
              <a:ea typeface="SimSun" charset="0"/>
            </a:endParaRPr>
          </a:p>
        </p:txBody>
      </p:sp>
    </p:spTree>
    <p:custDataLst>
      <p:tags r:id="rId5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可穿戴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/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实时场景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1057275"/>
            <a:ext cx="4253230" cy="812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580" y="1057275"/>
            <a:ext cx="4264025" cy="814705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>
            <p:custDataLst>
              <p:tags r:id="rId5"/>
            </p:custDataLst>
          </p:nvPr>
        </p:nvGraphicFramePr>
        <p:xfrm>
          <a:off x="377190" y="2239010"/>
          <a:ext cx="11049000" cy="2568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9800"/>
                <a:gridCol w="2209800"/>
                <a:gridCol w="2209800"/>
                <a:gridCol w="2209800"/>
                <a:gridCol w="2209800"/>
              </a:tblGrid>
              <a:tr h="662940">
                <a:tc>
                  <a:txBody>
                    <a:bodyPr/>
                    <a:p>
                      <a:r>
                        <a:rPr lang="zh-CN" altLang="en-US" sz="1100"/>
                        <a:t>论文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主要内容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对实时</a:t>
                      </a:r>
                      <a:r>
                        <a:rPr lang="en-US" altLang="zh-CN" sz="1100"/>
                        <a:t>/</a:t>
                      </a:r>
                      <a:r>
                        <a:rPr lang="zh-CN" altLang="en-US" sz="1100"/>
                        <a:t>可穿戴</a:t>
                      </a:r>
                      <a:r>
                        <a:rPr lang="en-US" altLang="zh-CN" sz="1100"/>
                        <a:t>BCI</a:t>
                      </a:r>
                      <a:r>
                        <a:rPr lang="zh-CN" altLang="en-US" sz="1100"/>
                        <a:t>的启示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潜在安全问题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安全硬件机会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000">
                <a:tc>
                  <a:txBody>
                    <a:bodyPr/>
                    <a:p>
                      <a:r>
                        <a:rPr lang="en-US" altLang="zh-CN" sz="1100"/>
                        <a:t>NeurIPS'25 REFED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EEG+fNIRS </a:t>
                      </a:r>
                      <a:r>
                        <a:rPr lang="zh-CN" altLang="en-US" sz="1100"/>
                        <a:t>多模态实时情绪数据集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多模态可穿戴 </a:t>
                      </a:r>
                      <a:r>
                        <a:rPr lang="en-US" altLang="zh-CN" sz="1100"/>
                        <a:t>BCI </a:t>
                      </a:r>
                      <a:r>
                        <a:rPr lang="zh-CN" altLang="en-US" sz="1100"/>
                        <a:t>将成为未来趋势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数据投毒、隐私泄露、同步篡改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安全同步与预处理加速器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635">
                <a:tc>
                  <a:txBody>
                    <a:bodyPr/>
                    <a:p>
                      <a:r>
                        <a:rPr lang="en-US" altLang="zh-CN" sz="1100"/>
                        <a:t>ACM MM'25 DMSGL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实时 </a:t>
                      </a:r>
                      <a:r>
                        <a:rPr lang="en-US" altLang="zh-CN" sz="1100"/>
                        <a:t>EEG </a:t>
                      </a:r>
                      <a:r>
                        <a:rPr lang="zh-CN" altLang="en-US" sz="1100"/>
                        <a:t>情绪识别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在线 </a:t>
                      </a:r>
                      <a:r>
                        <a:rPr lang="en-US" altLang="zh-CN" sz="1100"/>
                        <a:t>Decoder </a:t>
                      </a:r>
                      <a:r>
                        <a:rPr lang="zh-CN" altLang="en-US" sz="1100"/>
                        <a:t>正逐步向边缘设备部署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对抗扰动、模型投毒、侧信道泄露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安全 </a:t>
                      </a:r>
                      <a:r>
                        <a:rPr lang="en-US" altLang="zh-CN" sz="1100"/>
                        <a:t>Decoder </a:t>
                      </a:r>
                      <a:r>
                        <a:rPr lang="zh-CN" altLang="en-US" sz="1100"/>
                        <a:t>加速器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35000">
                <a:tc>
                  <a:txBody>
                    <a:bodyPr/>
                    <a:p>
                      <a:r>
                        <a:rPr lang="en-US" altLang="zh-CN" sz="1100"/>
                        <a:t>ICLR'24 Brain Decoding (MEG)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脑信号视觉重建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未来实时脑信号生成式解码的重要方向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Mental Privacy</a:t>
                      </a:r>
                      <a:r>
                        <a:rPr lang="zh-CN" altLang="en-US" sz="1100"/>
                        <a:t>、内容重建攻击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隐私保护 </a:t>
                      </a:r>
                      <a:r>
                        <a:rPr lang="en-US" altLang="zh-CN" sz="1100"/>
                        <a:t>Neural Decoder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377190" y="5306695"/>
            <a:ext cx="10646410" cy="11626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非侵入式设备也需要实时处理，而且也需要佩戴，因此可考虑</a:t>
            </a:r>
            <a:r>
              <a:rPr lang="zh-CN" altLang="en-US">
                <a:solidFill>
                  <a:srgbClr val="FF0000"/>
                </a:solidFill>
                <a:ea typeface="SimSun" charset="0"/>
              </a:rPr>
              <a:t>安全</a:t>
            </a:r>
            <a:r>
              <a:rPr lang="en-US" altLang="zh-CN">
                <a:solidFill>
                  <a:srgbClr val="FF0000"/>
                </a:solidFill>
                <a:ea typeface="SimSun" charset="0"/>
              </a:rPr>
              <a:t>&amp;</a:t>
            </a:r>
            <a:r>
              <a:rPr lang="zh-CN" altLang="en-US">
                <a:solidFill>
                  <a:srgbClr val="FF0000"/>
                </a:solidFill>
                <a:ea typeface="SimSun" charset="0"/>
              </a:rPr>
              <a:t>低功耗的模型设计</a:t>
            </a:r>
            <a:r>
              <a:rPr lang="zh-CN" altLang="en-US">
                <a:ea typeface="SimSun" charset="0"/>
              </a:rPr>
              <a:t>（具体参考体系结构论文</a:t>
            </a:r>
            <a:r>
              <a:rPr lang="en-US" altLang="zh-CN">
                <a:ea typeface="SimSun" charset="0"/>
              </a:rPr>
              <a:t>-</a:t>
            </a:r>
            <a:r>
              <a:rPr lang="zh-CN" altLang="en-US">
                <a:ea typeface="SimSun" charset="0"/>
              </a:rPr>
              <a:t>安全、性能、功耗的</a:t>
            </a:r>
            <a:r>
              <a:rPr lang="en-US" altLang="zh-CN">
                <a:ea typeface="SimSun" charset="0"/>
              </a:rPr>
              <a:t>trade-off</a:t>
            </a:r>
            <a:r>
              <a:rPr lang="zh-CN" altLang="en-US">
                <a:ea typeface="SimSun" charset="0"/>
              </a:rPr>
              <a:t>设计）。</a:t>
            </a:r>
            <a:endParaRPr lang="zh-CN" altLang="en-US">
              <a:ea typeface="SimSun" charset="0"/>
            </a:endParaRPr>
          </a:p>
          <a:p>
            <a:pPr marL="342900" indent="-342900">
              <a:buAutoNum type="arabicPeriod"/>
            </a:pPr>
            <a:r>
              <a:rPr lang="zh-CN" altLang="en-US">
                <a:ea typeface="SimSun" charset="0"/>
              </a:rPr>
              <a:t>从数据类型角度分析哪些会让模型更费时、更加耗能</a:t>
            </a:r>
            <a:r>
              <a:rPr lang="en-US" altLang="zh-CN">
                <a:ea typeface="SimSun" charset="0"/>
              </a:rPr>
              <a:t>--</a:t>
            </a:r>
            <a:r>
              <a:rPr lang="zh-CN" altLang="en-US">
                <a:ea typeface="SimSun" charset="0"/>
              </a:rPr>
              <a:t>设备更热？</a:t>
            </a:r>
            <a:r>
              <a:rPr lang="zh-CN" altLang="en-US">
                <a:solidFill>
                  <a:srgbClr val="FF0000"/>
                </a:solidFill>
                <a:ea typeface="SimSun" charset="0"/>
              </a:rPr>
              <a:t>如何让可穿戴式设备变得危险？</a:t>
            </a:r>
            <a:endParaRPr lang="zh-CN" altLang="en-US">
              <a:solidFill>
                <a:srgbClr val="FF0000"/>
              </a:solidFill>
              <a:ea typeface="SimSun" charset="0"/>
            </a:endParaRPr>
          </a:p>
        </p:txBody>
      </p:sp>
    </p:spTree>
    <p:custDataLst>
      <p:tags r:id="rId6"/>
    </p:custData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-Privacy-Preserving</a:t>
            </a:r>
            <a:endParaRPr lang="en-US" altLang="zh-CN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410845" y="4998720"/>
            <a:ext cx="11123930" cy="13030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None/>
            </a:pPr>
            <a:r>
              <a:rPr lang="zh-CN" altLang="en-US">
                <a:ea typeface="SimSun" charset="0"/>
                <a:sym typeface="+mn-ea"/>
              </a:rPr>
              <a:t>两者共同问题：不共享 </a:t>
            </a:r>
            <a:r>
              <a:rPr lang="en-US" altLang="zh-CN">
                <a:ea typeface="SimSun" charset="0"/>
                <a:sym typeface="+mn-ea"/>
              </a:rPr>
              <a:t>raw data </a:t>
            </a:r>
            <a:r>
              <a:rPr lang="zh-CN" altLang="en-US">
                <a:ea typeface="SimSun" charset="0"/>
                <a:sym typeface="+mn-ea"/>
              </a:rPr>
              <a:t>不代表模型参数、特征、</a:t>
            </a:r>
            <a:r>
              <a:rPr lang="en-US" altLang="zh-CN">
                <a:ea typeface="SimSun" charset="0"/>
                <a:sym typeface="+mn-ea"/>
              </a:rPr>
              <a:t>logits、</a:t>
            </a:r>
            <a:r>
              <a:rPr lang="zh-CN" altLang="en-US">
                <a:ea typeface="SimSun" charset="0"/>
                <a:sym typeface="+mn-ea"/>
              </a:rPr>
              <a:t>更新时间、通信模式安全，但是这些都是</a:t>
            </a:r>
            <a:r>
              <a:rPr lang="zh-CN" altLang="en-US">
                <a:solidFill>
                  <a:srgbClr val="FF0000"/>
                </a:solidFill>
                <a:ea typeface="SimSun" charset="0"/>
                <a:sym typeface="+mn-ea"/>
              </a:rPr>
              <a:t>模型相关问题，和硬件关联不大</a:t>
            </a:r>
            <a:r>
              <a:rPr lang="zh-CN" altLang="en-US">
                <a:ea typeface="SimSun" charset="0"/>
                <a:sym typeface="+mn-ea"/>
              </a:rPr>
              <a:t>。</a:t>
            </a:r>
            <a:endParaRPr lang="zh-CN" altLang="en-US">
              <a:ea typeface="SimSun" charset="0"/>
              <a:sym typeface="+mn-ea"/>
            </a:endParaRPr>
          </a:p>
          <a:p>
            <a:pPr indent="0">
              <a:buNone/>
            </a:pPr>
            <a:endParaRPr lang="en-US" altLang="zh-CN">
              <a:ea typeface="SimSun" charset="0"/>
              <a:sym typeface="+mn-ea"/>
            </a:endParaRPr>
          </a:p>
          <a:p>
            <a:pPr indent="0">
              <a:buNone/>
            </a:pPr>
            <a:r>
              <a:rPr lang="en-US" altLang="zh-CN">
                <a:ea typeface="SimSun" charset="0"/>
                <a:sym typeface="+mn-ea"/>
              </a:rPr>
              <a:t>SFDA</a:t>
            </a:r>
            <a:r>
              <a:rPr lang="zh-CN" altLang="en-US">
                <a:ea typeface="SimSun" charset="0"/>
                <a:sym typeface="+mn-ea"/>
              </a:rPr>
              <a:t>在跨被试适配是需要的，但是</a:t>
            </a:r>
            <a:r>
              <a:rPr lang="zh-CN" altLang="en-US">
                <a:solidFill>
                  <a:srgbClr val="FF0000"/>
                </a:solidFill>
                <a:ea typeface="SimSun" charset="0"/>
                <a:sym typeface="+mn-ea"/>
              </a:rPr>
              <a:t>如何保证其中隐私不会泄漏？针对隐私数据进行特殊处理（非去除）？</a:t>
            </a:r>
            <a:endParaRPr lang="zh-CN" altLang="en-US">
              <a:solidFill>
                <a:srgbClr val="FF0000"/>
              </a:solidFill>
              <a:ea typeface="SimSun" charset="0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3"/>
            </p:custDataLst>
          </p:nvPr>
        </p:nvGraphicFramePr>
        <p:xfrm>
          <a:off x="395605" y="2554605"/>
          <a:ext cx="11139805" cy="211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25750"/>
                <a:gridCol w="4600575"/>
                <a:gridCol w="3713480"/>
              </a:tblGrid>
              <a:tr h="482600">
                <a:tc>
                  <a:txBody>
                    <a:bodyPr/>
                    <a:p>
                      <a:r>
                        <a:rPr lang="zh-CN" altLang="en-US" sz="1100"/>
                        <a:t>方法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代表论文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核心目标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520065">
                <a:tc>
                  <a:txBody>
                    <a:bodyPr/>
                    <a:p>
                      <a:r>
                        <a:rPr lang="en-US" altLang="zh-CN" sz="1100"/>
                        <a:t>Privacy-Preserving Learning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BrainGuard: Privacy-Preserving Multisubject Image Reconstructions from Brain Activities</a:t>
                      </a:r>
                      <a:r>
                        <a:rPr lang="en-US" altLang="zh-CN" sz="1100"/>
                        <a:t> (AAAI 2025)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多被试联合训练时保护脑活动数据隐私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520065">
                <a:tc>
                  <a:txBody>
                    <a:bodyPr/>
                    <a:p>
                      <a:r>
                        <a:rPr lang="en-US" altLang="zh-CN" sz="1100"/>
                        <a:t>Source-Free Domain Adaptation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Personalized Sleep Staging Leveraging Source-free Unsupervised Domain Adaptation</a:t>
                      </a:r>
                      <a:r>
                        <a:rPr lang="en-US" altLang="zh-CN" sz="1100"/>
                        <a:t> (AAAI 2025)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不访问源数据实现个体化适配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589280">
                <a:tc>
                  <a:txBody>
                    <a:bodyPr/>
                    <a:p>
                      <a:r>
                        <a:rPr lang="en-US" altLang="zh-CN" sz="1100"/>
                        <a:t>Source-Free Brain Decoding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en-US" altLang="zh-CN" sz="1100"/>
                        <a:t>Probability Distribution Alignment and Low-Rank Weight Decomposition for Source-Free Domain Adaptive Brain Decoding</a:t>
                      </a:r>
                      <a:r>
                        <a:rPr lang="en-US" altLang="zh-CN" sz="1100"/>
                        <a:t> (AAAI 2026)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不访问源被试数据实现跨被试脑解码迁移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  <p:graphicFrame>
        <p:nvGraphicFramePr>
          <p:cNvPr id="11" name="表格 10"/>
          <p:cNvGraphicFramePr/>
          <p:nvPr/>
        </p:nvGraphicFramePr>
        <p:xfrm>
          <a:off x="410845" y="1001395"/>
          <a:ext cx="1120902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3811905"/>
                <a:gridCol w="3423285"/>
                <a:gridCol w="3242310"/>
              </a:tblGrid>
              <a:tr h="285115">
                <a:tc>
                  <a:txBody>
                    <a:bodyPr/>
                    <a:p>
                      <a:r>
                        <a:rPr lang="zh-CN" altLang="en-US" sz="1100"/>
                        <a:t>方法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作用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保护什么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典型 </a:t>
                      </a:r>
                      <a:r>
                        <a:rPr lang="en-US" altLang="zh-CN" sz="1100"/>
                        <a:t>BCI </a:t>
                      </a:r>
                      <a:r>
                        <a:rPr lang="zh-CN" altLang="en-US" sz="1100"/>
                        <a:t>场景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483870">
                <a:tc>
                  <a:txBody>
                    <a:bodyPr/>
                    <a:p>
                      <a:r>
                        <a:rPr lang="zh-CN" altLang="en-US" sz="1100"/>
                        <a:t>联邦学习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多个客户端共同训练一个模型，但不上传原始数据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保护各客户端原始 </a:t>
                      </a:r>
                      <a:r>
                        <a:rPr lang="en-US" altLang="zh-CN" sz="1100"/>
                        <a:t>EEG/fMRI/EMG </a:t>
                      </a:r>
                      <a:r>
                        <a:rPr lang="zh-CN" altLang="en-US" sz="1100"/>
                        <a:t>数据不被集中收集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多医院、多实验室、多被试联合训练 </a:t>
                      </a:r>
                      <a:r>
                        <a:rPr lang="en-US" altLang="zh-CN" sz="1100"/>
                        <a:t>EEG </a:t>
                      </a:r>
                      <a:r>
                        <a:rPr lang="zh-CN" altLang="en-US" sz="1100"/>
                        <a:t>睡眠分期、癫痫检测、情绪识别等模型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  <a:tr h="607695">
                <a:tc>
                  <a:txBody>
                    <a:bodyPr/>
                    <a:p>
                      <a:r>
                        <a:rPr lang="en-US" altLang="zh-CN" sz="1100"/>
                        <a:t>SFDA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不访问 </a:t>
                      </a:r>
                      <a:r>
                        <a:rPr lang="en-US" altLang="zh-CN" sz="1100"/>
                        <a:t>source data</a:t>
                      </a:r>
                      <a:r>
                        <a:rPr lang="zh-CN" altLang="en-US" sz="1100"/>
                        <a:t>，只利用 </a:t>
                      </a:r>
                      <a:r>
                        <a:rPr lang="en-US" altLang="zh-CN" sz="1100"/>
                        <a:t>source model </a:t>
                      </a:r>
                      <a:r>
                        <a:rPr lang="zh-CN" altLang="en-US" sz="1100"/>
                        <a:t>适配 </a:t>
                      </a:r>
                      <a:r>
                        <a:rPr lang="en-US" altLang="zh-CN" sz="1100"/>
                        <a:t>target subject/domain</a:t>
                      </a:r>
                      <a:endParaRPr lang="en-US" altLang="zh-CN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保护源域数据在目标域适配阶段不被使用或共享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  <a:tc>
                  <a:txBody>
                    <a:bodyPr/>
                    <a:p>
                      <a:r>
                        <a:rPr lang="zh-CN" altLang="en-US" sz="1100"/>
                        <a:t>已有 </a:t>
                      </a:r>
                      <a:r>
                        <a:rPr lang="en-US" altLang="zh-CN" sz="1100"/>
                        <a:t>EEG/fMRI </a:t>
                      </a:r>
                      <a:r>
                        <a:rPr lang="zh-CN" altLang="en-US" sz="1100"/>
                        <a:t>源模型，适配新被试、新 </a:t>
                      </a:r>
                      <a:r>
                        <a:rPr lang="en-US" altLang="zh-CN" sz="1100"/>
                        <a:t>session</a:t>
                      </a:r>
                      <a:r>
                        <a:rPr lang="zh-CN" altLang="en-US" sz="1100"/>
                        <a:t>、新设备或新采集环境</a:t>
                      </a:r>
                      <a:endParaRPr lang="zh-CN" altLang="en-US" sz="1100"/>
                    </a:p>
                  </a:txBody>
                  <a:tcPr marL="0" marR="0" marT="0" marB="0" anchor="ctr" anchorCtr="0"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05" y="3880485"/>
            <a:ext cx="12193270" cy="2940050"/>
          </a:xfrm>
          <a:prstGeom prst="rect">
            <a:avLst/>
          </a:prstGeom>
        </p:spPr>
      </p:pic>
      <p:sp>
        <p:nvSpPr>
          <p:cNvPr id="10" name="Shape 45"/>
          <p:cNvSpPr/>
          <p:nvPr/>
        </p:nvSpPr>
        <p:spPr>
          <a:xfrm>
            <a:off x="-635" y="4758343"/>
            <a:ext cx="12192000" cy="1049005"/>
          </a:xfrm>
          <a:prstGeom prst="rect">
            <a:avLst/>
          </a:prstGeom>
          <a:noFill/>
          <a:ln w="12700">
            <a:noFill/>
            <a:miter lim="400000"/>
          </a:ln>
        </p:spPr>
        <p:txBody>
          <a:bodyPr wrap="square" lIns="34290" tIns="34290" rIns="34290" bIns="34290">
            <a:spAutoFit/>
          </a:bodyPr>
          <a:lstStyle>
            <a:lvl1pPr algn="l" defTabSz="914400">
              <a:defRPr sz="9000" cap="all" spc="1350">
                <a:solidFill>
                  <a:srgbClr val="3766D7"/>
                </a:solidFill>
                <a:latin typeface="Impact" panose="020B0806030902050204"/>
                <a:ea typeface="Impact" panose="020B0806030902050204"/>
                <a:cs typeface="Impact" panose="020B0806030902050204"/>
                <a:sym typeface="Impact" panose="020B080603090205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800" cap="none" spc="0">
                <a:solidFill>
                  <a:srgbClr val="000000"/>
                </a:solidFill>
              </a:defRPr>
            </a:pPr>
            <a:r>
              <a:rPr kumimoji="0" lang="en-US" altLang="zh-CN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Thanks</a:t>
            </a:r>
            <a:r>
              <a:rPr kumimoji="0" lang="zh-CN" altLang="en-US" sz="5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  <a:sym typeface="Impact" panose="020B0806030902050204"/>
              </a:rPr>
              <a:t>！</a:t>
            </a:r>
            <a:endParaRPr kumimoji="0" lang="zh-CN" altLang="en-US" sz="5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  <a:sym typeface="Impact" panose="020B0806030902050204"/>
            </a:endParaRPr>
          </a:p>
        </p:txBody>
      </p:sp>
      <p:sp>
        <p:nvSpPr>
          <p:cNvPr id="5" name="标题 1"/>
          <p:cNvSpPr txBox="1">
            <a:spLocks noChangeArrowheads="1"/>
          </p:cNvSpPr>
          <p:nvPr/>
        </p:nvSpPr>
        <p:spPr bwMode="auto">
          <a:xfrm>
            <a:off x="302463" y="149947"/>
            <a:ext cx="3449964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zh-CN" altLang="en-US" sz="3200" b="1" dirty="0">
                <a:solidFill>
                  <a:srgbClr val="00539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工作计划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38716" y="1205626"/>
            <a:ext cx="9381259" cy="54419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针对不同任务进行数据处理，尝试寻找数据特性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&amp;&amp;</a:t>
            </a: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泄漏隐私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  <a:p>
            <a:pPr marL="342900" lvl="0" indent="-342900" algn="l">
              <a:lnSpc>
                <a:spcPct val="150000"/>
              </a:lnSpc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选定细分领域</a:t>
            </a:r>
            <a:r>
              <a:rPr lang="en-US" altLang="zh-CN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+mn-ea"/>
              </a:rPr>
              <a:t>;</a:t>
            </a: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 txBox="1">
            <a:spLocks noChangeArrowheads="1"/>
          </p:cNvSpPr>
          <p:nvPr/>
        </p:nvSpPr>
        <p:spPr bwMode="auto">
          <a:xfrm>
            <a:off x="205105" y="126003"/>
            <a:ext cx="8739868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8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8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BCI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调研</a:t>
            </a:r>
            <a:r>
              <a:rPr lang="en-US" altLang="zh-CN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-</a:t>
            </a:r>
            <a:r>
              <a:rPr lang="zh-CN" altLang="en-US" sz="3200" b="1" noProof="0" dirty="0">
                <a:ln>
                  <a:noFill/>
                </a:ln>
                <a:solidFill>
                  <a:srgbClr val="005390"/>
                </a:solidFill>
                <a:effectLst/>
                <a:uLnTx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/>
              </a:rPr>
              <a:t>想法</a:t>
            </a:r>
            <a:endParaRPr lang="zh-CN" altLang="en-US" sz="3200" b="1" noProof="0" dirty="0">
              <a:ln>
                <a:noFill/>
              </a:ln>
              <a:solidFill>
                <a:srgbClr val="005390"/>
              </a:solidFill>
              <a:effectLst/>
              <a:uLnTx/>
              <a:uFillTx/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/>
            </a:endParaRPr>
          </a:p>
        </p:txBody>
      </p:sp>
      <p:sp>
        <p:nvSpPr>
          <p:cNvPr id="10" name="圆角矩形 10"/>
          <p:cNvSpPr/>
          <p:nvPr/>
        </p:nvSpPr>
        <p:spPr>
          <a:xfrm>
            <a:off x="195492" y="757646"/>
            <a:ext cx="11843057" cy="5978693"/>
          </a:xfrm>
          <a:prstGeom prst="roundRect">
            <a:avLst>
              <a:gd name="adj" fmla="val 6425"/>
            </a:avLst>
          </a:prstGeom>
          <a:noFill/>
          <a:ln w="12700">
            <a:solidFill>
              <a:srgbClr val="186299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BC209CA-FF8A-4D78-A092-BF740142CE1C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SimSun" pitchFamily="2" charset="-122"/>
                <a:cs typeface="+mn-cs"/>
              </a:rPr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SimSun" pitchFamily="2" charset="-122"/>
              <a:cs typeface="+mn-cs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5548" y="194416"/>
            <a:ext cx="2223989" cy="495793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538480" y="1126490"/>
            <a:ext cx="10713085" cy="4184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 algn="l">
              <a:lnSpc>
                <a:spcPct val="150000"/>
              </a:lnSpc>
              <a:buClrTx/>
              <a:buSzTx/>
              <a:buFontTx/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针对部署设备的侧信道攻击是否可行？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indent="-342900" algn="l">
              <a:lnSpc>
                <a:spcPct val="150000"/>
              </a:lnSpc>
              <a:buClrTx/>
              <a:buSzTx/>
              <a:buFontTx/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既然捕捉的是脑电信号（频率信号），是否可以是用一种设备直接混在其中影响设备后续操作？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800100" lvl="1" indent="-342900" algn="l">
              <a:lnSpc>
                <a:spcPct val="150000"/>
              </a:lnSpc>
              <a:buClrTx/>
              <a:buSzTx/>
              <a:buFontTx/>
              <a:buAutoNum type="arabicPeriod"/>
            </a:pPr>
            <a:r>
              <a:rPr lang="zh-CN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如果是在干扰信号很大的环境，设备给出的反馈有问题该怎么办？模型会针对环境进行处理吗？（即使不是侵入式也会造成威胁）</a:t>
            </a:r>
            <a:endParaRPr lang="zh-CN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marL="342900" lvl="0" indent="-342900" algn="l">
              <a:lnSpc>
                <a:spcPct val="150000"/>
              </a:lnSpc>
              <a:buClrTx/>
              <a:buSzTx/>
              <a:buFontTx/>
              <a:buAutoNum type="arabicPeriod"/>
            </a:pPr>
            <a:endParaRPr lang="en-US" altLang="zh-CN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custDataLst>
      <p:tags r:id="rId3"/>
    </p:custDataLst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SLIDE_BACKGROUND_TYPE" val="general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TABLE_ENDDRAG_ORIGIN_RECT" val="869*202"/>
  <p:tag name="TABLE_ENDDRAG_RECT" val="29*145*869*202"/>
</p:tagLst>
</file>

<file path=ppt/tags/tag6.xml><?xml version="1.0" encoding="utf-8"?>
<p:tagLst xmlns:p="http://schemas.openxmlformats.org/presentationml/2006/main">
  <p:tag name="KSO_WM_SLIDE_BACKGROUND_TYPE" val="general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TABLE_ENDDRAG_ORIGIN_RECT" val="877*169"/>
  <p:tag name="TABLE_ENDDRAG_RECT" val="31*155*877*169"/>
</p:tagLst>
</file>

<file path=ppt/tags/tag9.xml><?xml version="1.0" encoding="utf-8"?>
<p:tagLst xmlns:p="http://schemas.openxmlformats.org/presentationml/2006/main">
  <p:tag name="KSO_WM_SLIDE_BACKGROUND_TYPE" val="general"/>
</p:tagLst>
</file>

<file path=ppt/tags/tag10.xml><?xml version="1.0" encoding="utf-8"?>
<p:tagLst xmlns:p="http://schemas.openxmlformats.org/presentationml/2006/main">
  <p:tag name="KSO_WM_SLIDE_BACKGROUND_TYPE" val="general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SLIDE_BACKGROUND_TYPE" val="general"/>
</p:tagLst>
</file>

<file path=ppt/tags/tag13.xml><?xml version="1.0" encoding="utf-8"?>
<p:tagLst xmlns:p="http://schemas.openxmlformats.org/presentationml/2006/main">
  <p:tag name="RESOURCE_RECORD_KEY" val="{&quot;65&quot;:[20229149],&quot;70&quot;:[3319068,3312407]}"/>
  <p:tag name="COMMONDATA" val="eyJoZGlkIjoiMWE2MmRiMDAwMTc4ZmUxYjI2MjMwNzljODhkYTA0MzA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1722</Words>
  <Application>WPS 演示</Application>
  <PresentationFormat>宽屏</PresentationFormat>
  <Paragraphs>145</Paragraphs>
  <Slides>6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8" baseType="lpstr">
      <vt:lpstr>Arial</vt:lpstr>
      <vt:lpstr>SimSun</vt:lpstr>
      <vt:lpstr>Wingdings</vt:lpstr>
      <vt:lpstr>DejaVu Sans</vt:lpstr>
      <vt:lpstr>Microsoft YaHei</vt:lpstr>
      <vt:lpstr>Droid Sans Fallback</vt:lpstr>
      <vt:lpstr>Calibri</vt:lpstr>
      <vt:lpstr>Arial</vt:lpstr>
      <vt:lpstr>Calibri</vt:lpstr>
      <vt:lpstr>SimSun</vt:lpstr>
      <vt:lpstr>Impact</vt:lpstr>
      <vt:lpstr>Ubuntu Condensed</vt:lpstr>
      <vt:lpstr>Times New Roman</vt:lpstr>
      <vt:lpstr>等线 Light</vt:lpstr>
      <vt:lpstr>Gubbi</vt:lpstr>
      <vt:lpstr>等线</vt:lpstr>
      <vt:lpstr>Microsoft YaHei</vt:lpstr>
      <vt:lpstr>Arial Unicode MS</vt:lpstr>
      <vt:lpstr>SimSun</vt:lpstr>
      <vt:lpstr>Noto Serif CJK SC</vt:lpstr>
      <vt:lpstr>OpenSymbol</vt:lpstr>
      <vt:lpstr>Office 主题​​</vt:lpstr>
      <vt:lpstr>组会报告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微电子研究院科研工作汇报</dc:title>
  <dc:creator>Bruce Andy</dc:creator>
  <cp:lastModifiedBy>刘子豪</cp:lastModifiedBy>
  <cp:revision>5814</cp:revision>
  <dcterms:created xsi:type="dcterms:W3CDTF">2026-06-06T09:27:27Z</dcterms:created>
  <dcterms:modified xsi:type="dcterms:W3CDTF">2026-06-06T09:27:27Z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FCB5BE7AEC4569980784226A6B472E92_43</vt:lpwstr>
  </property>
  <property fmtid="{D5CDD505-2E9C-101B-9397-08002B2CF9AE}" pid="3" name="KSOProductBuildVer">
    <vt:lpwstr>2052-12.1.2.25838</vt:lpwstr>
  </property>
</Properties>
</file>