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6" r:id="rId4"/>
    <p:sldId id="6531" r:id="rId6"/>
    <p:sldId id="6529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9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8.xml"/><Relationship Id="rId2" Type="http://schemas.openxmlformats.org/officeDocument/2006/relationships/image" Target="../media/image4.png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en-US" altLang="zh-CN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BCI</a:t>
            </a:r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调研报告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BCI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调研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-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链路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&amp;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数据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15" y="1241425"/>
            <a:ext cx="1597660" cy="44094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6880" y="865505"/>
            <a:ext cx="1109980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聚焦非侵入式</a:t>
            </a:r>
            <a:r>
              <a:rPr lang="en-US" altLang="zh-CN">
                <a:sym typeface="+mn-ea"/>
              </a:rPr>
              <a:t>BCI</a:t>
            </a:r>
            <a:r>
              <a:rPr lang="zh-CN" altLang="en-US">
                <a:ea typeface="SimSun" charset="0"/>
                <a:sym typeface="+mn-ea"/>
              </a:rPr>
              <a:t>的与硬件相关的安全问题</a:t>
            </a:r>
            <a:endParaRPr lang="zh-CN" altLang="en-US">
              <a:ea typeface="SimSun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6880" y="5798185"/>
            <a:ext cx="11452225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该领域当前还是聚焦于将不同的方法应用（模型、算法）在不同的情境中，解决不同的问题。针对安全问题的研究比较少，</a:t>
            </a:r>
            <a:r>
              <a:rPr lang="zh-CN" altLang="en-US">
                <a:solidFill>
                  <a:srgbClr val="FF0000"/>
                </a:solidFill>
              </a:rPr>
              <a:t>数据隐私、模型安全、安全体系结构设计、数据后门（不存在顶会）</a:t>
            </a:r>
            <a:r>
              <a:rPr lang="zh-CN" altLang="en-US"/>
              <a:t>等。</a:t>
            </a:r>
            <a:endParaRPr lang="zh-CN" altLang="en-US">
              <a:ea typeface="SimSun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29275" y="3803650"/>
            <a:ext cx="6205220" cy="1460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数据具有独特的时空复杂性、稀缺性（人、设备），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但没有调研到特有的处理方法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ea typeface="SimSun" charset="0"/>
              </a:rPr>
              <a:t>不同数据类型</a:t>
            </a:r>
            <a:r>
              <a:rPr lang="en-US" altLang="zh-CN">
                <a:ea typeface="SimSun" charset="0"/>
              </a:rPr>
              <a:t>+</a:t>
            </a:r>
            <a:r>
              <a:rPr lang="zh-CN" altLang="en-US">
                <a:ea typeface="SimSun" charset="0"/>
              </a:rPr>
              <a:t>实验范式</a:t>
            </a:r>
            <a:r>
              <a:rPr lang="en-US" altLang="zh-CN">
                <a:ea typeface="SimSun" charset="0"/>
              </a:rPr>
              <a:t> == </a:t>
            </a:r>
            <a:r>
              <a:rPr lang="zh-CN" altLang="en-US">
                <a:ea typeface="SimSun" charset="0"/>
              </a:rPr>
              <a:t>不同领域</a:t>
            </a:r>
            <a:r>
              <a:rPr lang="en-US" altLang="zh-CN">
                <a:ea typeface="SimSun" charset="0"/>
              </a:rPr>
              <a:t>; </a:t>
            </a:r>
            <a:r>
              <a:rPr lang="zh-CN" altLang="en-US">
                <a:ea typeface="SimSun" charset="0"/>
              </a:rPr>
              <a:t>同一种方法可以在不同领域应用。（</a:t>
            </a:r>
            <a:r>
              <a:rPr lang="en-US" altLang="zh-CN">
                <a:ea typeface="SimSun" charset="0"/>
              </a:rPr>
              <a:t>fMRI</a:t>
            </a:r>
            <a:r>
              <a:rPr lang="zh-CN" altLang="en-US">
                <a:ea typeface="SimSun" charset="0"/>
              </a:rPr>
              <a:t>：图片分类</a:t>
            </a:r>
            <a:r>
              <a:rPr lang="en-US" altLang="zh-CN">
                <a:ea typeface="SimSun" charset="0"/>
              </a:rPr>
              <a:t>-</a:t>
            </a:r>
            <a:r>
              <a:rPr lang="zh-CN" altLang="en-US">
                <a:ea typeface="SimSun" charset="0"/>
              </a:rPr>
              <a:t>图片重构）</a:t>
            </a:r>
            <a:endParaRPr lang="zh-CN" altLang="en-US">
              <a:ea typeface="SimSun" charset="0"/>
            </a:endParaRPr>
          </a:p>
        </p:txBody>
      </p:sp>
      <p:pic>
        <p:nvPicPr>
          <p:cNvPr id="11" name="图片 10" descr="Pasted image 202606051141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275" y="1235075"/>
            <a:ext cx="4900930" cy="23812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157095" y="1456690"/>
            <a:ext cx="3255645" cy="1579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与硬件相关：</a:t>
            </a:r>
            <a:endParaRPr lang="zh-CN" altLang="en-US"/>
          </a:p>
          <a:p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数据处理时指令相关漏洞（微架构）</a:t>
            </a:r>
            <a:endParaRPr lang="zh-CN" altLang="en-US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低功耗应用</a:t>
            </a:r>
            <a:endParaRPr lang="zh-CN" altLang="en-US">
              <a:ea typeface="SimSun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56460" y="3707765"/>
            <a:ext cx="3256280" cy="181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zh-CN" altLang="en-US"/>
              <a:t>有线传输不考虑安全问题，无线传输漏洞更多与网络相关</a:t>
            </a:r>
            <a:r>
              <a:rPr lang="en-US" altLang="zh-CN"/>
              <a:t>;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数据预处理大多与数据后门相关</a:t>
            </a:r>
            <a:r>
              <a:rPr lang="en-US" altLang="zh-CN">
                <a:ea typeface="SimSun" charset="0"/>
              </a:rPr>
              <a:t>;</a:t>
            </a:r>
            <a:endParaRPr lang="zh-CN" altLang="en-US">
              <a:ea typeface="SimSun" charset="0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BCI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调研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-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可穿戴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/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实时场景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" y="1057275"/>
            <a:ext cx="4253230" cy="8128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580" y="1057275"/>
            <a:ext cx="4264025" cy="814705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>
            <p:custDataLst>
              <p:tags r:id="rId5"/>
            </p:custDataLst>
          </p:nvPr>
        </p:nvGraphicFramePr>
        <p:xfrm>
          <a:off x="377190" y="2239010"/>
          <a:ext cx="11049000" cy="2568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  <a:gridCol w="2209800"/>
                <a:gridCol w="2209800"/>
                <a:gridCol w="2209800"/>
              </a:tblGrid>
              <a:tr h="662940">
                <a:tc>
                  <a:txBody>
                    <a:bodyPr/>
                    <a:p>
                      <a:r>
                        <a:rPr lang="zh-CN" altLang="en-US" sz="1100"/>
                        <a:t>论文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主要内容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对实时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可穿戴</a:t>
                      </a:r>
                      <a:r>
                        <a:rPr lang="en-US" altLang="zh-CN" sz="1100"/>
                        <a:t>BCI</a:t>
                      </a:r>
                      <a:r>
                        <a:rPr lang="zh-CN" altLang="en-US" sz="1100"/>
                        <a:t>的启示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潜在安全问题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安全硬件机会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635000">
                <a:tc>
                  <a:txBody>
                    <a:bodyPr/>
                    <a:p>
                      <a:r>
                        <a:rPr lang="en-US" altLang="zh-CN" sz="1100"/>
                        <a:t>NeurIPS'25 REFED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EEG+fNIRS </a:t>
                      </a:r>
                      <a:r>
                        <a:rPr lang="zh-CN" altLang="en-US" sz="1100"/>
                        <a:t>多模态实时情绪数据集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多模态可穿戴 </a:t>
                      </a:r>
                      <a:r>
                        <a:rPr lang="en-US" altLang="zh-CN" sz="1100"/>
                        <a:t>BCI </a:t>
                      </a:r>
                      <a:r>
                        <a:rPr lang="zh-CN" altLang="en-US" sz="1100"/>
                        <a:t>将成为未来趋势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数据投毒、隐私泄露、同步篡改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安全同步与预处理加速器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635635">
                <a:tc>
                  <a:txBody>
                    <a:bodyPr/>
                    <a:p>
                      <a:r>
                        <a:rPr lang="en-US" altLang="zh-CN" sz="1100"/>
                        <a:t>ACM MM'25 DMSGL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实时 </a:t>
                      </a:r>
                      <a:r>
                        <a:rPr lang="en-US" altLang="zh-CN" sz="1100"/>
                        <a:t>EEG </a:t>
                      </a:r>
                      <a:r>
                        <a:rPr lang="zh-CN" altLang="en-US" sz="1100"/>
                        <a:t>情绪识别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在线 </a:t>
                      </a:r>
                      <a:r>
                        <a:rPr lang="en-US" altLang="zh-CN" sz="1100"/>
                        <a:t>Decoder </a:t>
                      </a:r>
                      <a:r>
                        <a:rPr lang="zh-CN" altLang="en-US" sz="1100"/>
                        <a:t>正逐步向边缘设备部署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对抗扰动、模型投毒、侧信道泄露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 </a:t>
                      </a:r>
                      <a:r>
                        <a:rPr lang="en-US" altLang="zh-CN" sz="1100"/>
                        <a:t>Decoder </a:t>
                      </a:r>
                      <a:r>
                        <a:rPr lang="zh-CN" altLang="en-US" sz="1100"/>
                        <a:t>加速器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635000">
                <a:tc>
                  <a:txBody>
                    <a:bodyPr/>
                    <a:p>
                      <a:r>
                        <a:rPr lang="en-US" altLang="zh-CN" sz="1100"/>
                        <a:t>ICLR'24 Brain Decoding (MEG)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脑信号视觉重建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未来实时脑信号生成式解码的重要方向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Mental Privacy</a:t>
                      </a:r>
                      <a:r>
                        <a:rPr lang="zh-CN" altLang="en-US" sz="1100"/>
                        <a:t>、内容重建攻击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隐私保护 </a:t>
                      </a:r>
                      <a:r>
                        <a:rPr lang="en-US" altLang="zh-CN" sz="1100"/>
                        <a:t>Neural Decoder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377190" y="5306695"/>
            <a:ext cx="10646410" cy="1162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非侵入式设备也需要实时处理，而且也需要佩戴，因此可考虑</a:t>
            </a:r>
            <a:r>
              <a:rPr lang="zh-CN" altLang="en-US">
                <a:solidFill>
                  <a:srgbClr val="FF0000"/>
                </a:solidFill>
                <a:ea typeface="SimSun" charset="0"/>
              </a:rPr>
              <a:t>安全</a:t>
            </a:r>
            <a:r>
              <a:rPr lang="en-US" altLang="zh-CN">
                <a:solidFill>
                  <a:srgbClr val="FF0000"/>
                </a:solidFill>
                <a:ea typeface="SimSun" charset="0"/>
              </a:rPr>
              <a:t>&amp;</a:t>
            </a:r>
            <a:r>
              <a:rPr lang="zh-CN" altLang="en-US">
                <a:solidFill>
                  <a:srgbClr val="FF0000"/>
                </a:solidFill>
                <a:ea typeface="SimSun" charset="0"/>
              </a:rPr>
              <a:t>低功耗的模型设计</a:t>
            </a:r>
            <a:r>
              <a:rPr lang="zh-CN" altLang="en-US">
                <a:ea typeface="SimSun" charset="0"/>
              </a:rPr>
              <a:t>（具体参考体系结构论文</a:t>
            </a:r>
            <a:r>
              <a:rPr lang="en-US" altLang="zh-CN">
                <a:ea typeface="SimSun" charset="0"/>
              </a:rPr>
              <a:t>-</a:t>
            </a:r>
            <a:r>
              <a:rPr lang="zh-CN" altLang="en-US">
                <a:ea typeface="SimSun" charset="0"/>
              </a:rPr>
              <a:t>安全、性能、功耗的</a:t>
            </a:r>
            <a:r>
              <a:rPr lang="en-US" altLang="zh-CN">
                <a:ea typeface="SimSun" charset="0"/>
              </a:rPr>
              <a:t>trade-off</a:t>
            </a:r>
            <a:r>
              <a:rPr lang="zh-CN" altLang="en-US">
                <a:ea typeface="SimSun" charset="0"/>
              </a:rPr>
              <a:t>设计）。</a:t>
            </a:r>
            <a:endParaRPr lang="zh-CN" altLang="en-US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从数据类型角度分析哪些会让模型更费时、更加耗能</a:t>
            </a:r>
            <a:r>
              <a:rPr lang="en-US" altLang="zh-CN">
                <a:ea typeface="SimSun" charset="0"/>
              </a:rPr>
              <a:t>--</a:t>
            </a:r>
            <a:r>
              <a:rPr lang="zh-CN" altLang="en-US">
                <a:ea typeface="SimSun" charset="0"/>
              </a:rPr>
              <a:t>设备更热？如何让可穿戴式设备变得危险？</a:t>
            </a:r>
            <a:endParaRPr lang="en-US" altLang="zh-CN">
              <a:ea typeface="SimSun" charset="0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BCI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调研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-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想法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5605" y="1057910"/>
            <a:ext cx="11115675" cy="3000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altLang="zh-CN">
                <a:sym typeface="+mn-ea"/>
              </a:rPr>
              <a:t>Cross-Subject → Foundation Model/LLM Agent </a:t>
            </a:r>
            <a:r>
              <a:rPr lang="zh-CN" altLang="en-US">
                <a:sym typeface="+mn-ea"/>
              </a:rPr>
              <a:t>带来的安全问题：</a:t>
            </a:r>
            <a:endParaRPr lang="zh-CN" altLang="en-US"/>
          </a:p>
          <a:p>
            <a:pPr marL="800100" lvl="1" indent="-342900">
              <a:buAutoNum type="arabicPeriod"/>
            </a:pPr>
            <a:r>
              <a:rPr lang="zh-CN" altLang="en-US">
                <a:sym typeface="+mn-ea"/>
              </a:rPr>
              <a:t>模型相关：模型参数</a:t>
            </a:r>
            <a:r>
              <a:rPr lang="en-US" altLang="zh-CN">
                <a:sym typeface="+mn-ea"/>
              </a:rPr>
              <a:t>/Prompt</a:t>
            </a:r>
            <a:r>
              <a:rPr lang="zh-CN" altLang="en-US">
                <a:sym typeface="+mn-ea"/>
              </a:rPr>
              <a:t>、隐私数据、数据污染、</a:t>
            </a:r>
            <a:r>
              <a:rPr lang="en-US" altLang="zh-CN">
                <a:sym typeface="+mn-ea"/>
              </a:rPr>
              <a:t>Agent</a:t>
            </a:r>
            <a:r>
              <a:rPr lang="zh-CN" altLang="en-US">
                <a:ea typeface="SimSun" charset="0"/>
                <a:sym typeface="+mn-ea"/>
              </a:rPr>
              <a:t>错误问题，该方向如何与硬件结合（加速器的安全、模型运行时微架构漏洞）？</a:t>
            </a:r>
            <a:endParaRPr lang="zh-CN" altLang="en-US">
              <a:ea typeface="SimSun" charset="0"/>
            </a:endParaRPr>
          </a:p>
          <a:p>
            <a:pPr marL="800100" lvl="1" indent="-342900"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Source Free Domain Adaption≠ Privacy-Preserving</a:t>
            </a:r>
            <a:r>
              <a:rPr lang="zh-CN" altLang="en-US">
                <a:ea typeface="SimSun" charset="0"/>
                <a:sym typeface="+mn-ea"/>
              </a:rPr>
              <a:t>，如何才能做到完整的隐私保护？或者在</a:t>
            </a:r>
            <a:r>
              <a:rPr lang="zh-CN" altLang="en-US">
                <a:solidFill>
                  <a:srgbClr val="FF0000"/>
                </a:solidFill>
                <a:ea typeface="SimSun" charset="0"/>
                <a:sym typeface="+mn-ea"/>
              </a:rPr>
              <a:t>影响性能最少的前提下进行安全的保护</a:t>
            </a:r>
            <a:r>
              <a:rPr lang="zh-CN" altLang="en-US">
                <a:ea typeface="SimSun" charset="0"/>
                <a:sym typeface="+mn-ea"/>
              </a:rPr>
              <a:t>？</a:t>
            </a:r>
            <a:endParaRPr lang="zh-CN" altLang="en-US">
              <a:ea typeface="SimSun" charset="0"/>
            </a:endParaRPr>
          </a:p>
          <a:p>
            <a:pPr marL="342900" lvl="0" indent="-342900"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基于整个</a:t>
            </a:r>
            <a:r>
              <a:rPr lang="zh-CN" altLang="en-US">
                <a:solidFill>
                  <a:srgbClr val="FF0000"/>
                </a:solidFill>
                <a:ea typeface="SimSun" charset="0"/>
                <a:sym typeface="+mn-ea"/>
              </a:rPr>
              <a:t>数据处理链路进行模糊测试</a:t>
            </a:r>
            <a:r>
              <a:rPr lang="zh-CN" altLang="en-US">
                <a:ea typeface="SimSun" charset="0"/>
                <a:sym typeface="+mn-ea"/>
              </a:rPr>
              <a:t>，面对合理扰动、异常</a:t>
            </a:r>
            <a:r>
              <a:rPr lang="en-US" altLang="zh-CN">
                <a:ea typeface="SimSun" charset="0"/>
                <a:sym typeface="+mn-ea"/>
              </a:rPr>
              <a:t>metadata、</a:t>
            </a:r>
            <a:r>
              <a:rPr lang="zh-CN" altLang="en-US">
                <a:ea typeface="SimSun" charset="0"/>
                <a:sym typeface="+mn-ea"/>
              </a:rPr>
              <a:t>配置变化时，是否会产生错误</a:t>
            </a:r>
            <a:r>
              <a:rPr lang="en-US" altLang="zh-CN">
                <a:ea typeface="SimSun" charset="0"/>
                <a:sym typeface="+mn-ea"/>
              </a:rPr>
              <a:t>decode、</a:t>
            </a:r>
            <a:r>
              <a:rPr lang="zh-CN" altLang="en-US">
                <a:ea typeface="SimSun" charset="0"/>
                <a:sym typeface="+mn-ea"/>
              </a:rPr>
              <a:t>隐私泄露、</a:t>
            </a:r>
            <a:r>
              <a:rPr lang="en-US" altLang="zh-CN">
                <a:ea typeface="SimSun" charset="0"/>
                <a:sym typeface="+mn-ea"/>
              </a:rPr>
              <a:t>NaN、</a:t>
            </a:r>
            <a:r>
              <a:rPr lang="zh-CN" altLang="en-US">
                <a:ea typeface="SimSun" charset="0"/>
                <a:sym typeface="+mn-ea"/>
              </a:rPr>
              <a:t>延迟异常或未检测到的完整性错误。</a:t>
            </a:r>
            <a:endParaRPr lang="zh-CN" altLang="en-US">
              <a:ea typeface="SimSun" charset="0"/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数据预处理、特征提取、</a:t>
            </a:r>
            <a:r>
              <a:rPr lang="en-US" altLang="zh-CN">
                <a:ea typeface="SimSun" charset="0"/>
                <a:sym typeface="+mn-ea"/>
              </a:rPr>
              <a:t>decode</a:t>
            </a:r>
            <a:r>
              <a:rPr lang="zh-CN" altLang="en-US">
                <a:ea typeface="SimSun" charset="0"/>
                <a:sym typeface="+mn-ea"/>
              </a:rPr>
              <a:t>均在传统</a:t>
            </a:r>
            <a:r>
              <a:rPr lang="en-US" altLang="zh-CN">
                <a:ea typeface="SimSun" charset="0"/>
                <a:sym typeface="+mn-ea"/>
              </a:rPr>
              <a:t>x86PC</a:t>
            </a:r>
            <a:r>
              <a:rPr lang="zh-CN" altLang="en-US">
                <a:ea typeface="SimSun" charset="0"/>
                <a:sym typeface="+mn-ea"/>
              </a:rPr>
              <a:t>进行，安全问题与</a:t>
            </a:r>
            <a:r>
              <a:rPr lang="en-US" altLang="zh-CN">
                <a:ea typeface="SimSun" charset="0"/>
                <a:sym typeface="+mn-ea"/>
              </a:rPr>
              <a:t>AI/DL</a:t>
            </a:r>
            <a:r>
              <a:rPr lang="zh-CN" altLang="en-US">
                <a:ea typeface="SimSun" charset="0"/>
                <a:sym typeface="+mn-ea"/>
              </a:rPr>
              <a:t>等模型强相关，可以考虑</a:t>
            </a:r>
            <a:r>
              <a:rPr lang="zh-CN" altLang="en-US">
                <a:solidFill>
                  <a:srgbClr val="FF0000"/>
                </a:solidFill>
                <a:ea typeface="SimSun" charset="0"/>
                <a:sym typeface="+mn-ea"/>
              </a:rPr>
              <a:t>模型处理数据相关指令的微架构漏洞</a:t>
            </a:r>
            <a:r>
              <a:rPr lang="en-US" altLang="zh-CN">
                <a:ea typeface="SimSun" charset="0"/>
                <a:sym typeface="+mn-ea"/>
              </a:rPr>
              <a:t>;</a:t>
            </a:r>
            <a:endParaRPr lang="en-US" altLang="zh-CN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加解密使用传统方法，在设备传输数据时进行防护</a:t>
            </a:r>
            <a:r>
              <a:rPr lang="en-US" altLang="zh-CN">
                <a:ea typeface="SimSun" charset="0"/>
                <a:sym typeface="+mn-ea"/>
              </a:rPr>
              <a:t>;</a:t>
            </a:r>
            <a:endParaRPr lang="en-US" altLang="zh-CN">
              <a:ea typeface="SimSun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5605" y="4538345"/>
            <a:ext cx="11115675" cy="173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计划：根据会议内容调整调研方向，结合处理数据的结果思考。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TABLE_ENDDRAG_ORIGIN_RECT" val="869*202"/>
  <p:tag name="TABLE_ENDDRAG_RECT" val="29*145*869*202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SLIDE_BACKGROUND_TYPE" val="general"/>
</p:tagLst>
</file>

<file path=ppt/tags/tag9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1119</Words>
  <Application>WPS 演示</Application>
  <PresentationFormat>宽屏</PresentationFormat>
  <Paragraphs>86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5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MS PGothic</vt:lpstr>
      <vt:lpstr>汉仪中圆B5</vt:lpstr>
      <vt:lpstr>OpenSymbol</vt:lpstr>
      <vt:lpstr>Office 主题​​</vt:lpstr>
      <vt:lpstr>BCI调研报告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5800</cp:revision>
  <dcterms:created xsi:type="dcterms:W3CDTF">2026-06-05T07:27:41Z</dcterms:created>
  <dcterms:modified xsi:type="dcterms:W3CDTF">2026-06-05T07:27:41Z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A09FB0A30F451489DC38206A5AA934B0_43</vt:lpwstr>
  </property>
  <property fmtid="{D5CDD505-2E9C-101B-9397-08002B2CF9AE}" pid="3" name="KSOProductBuildVer">
    <vt:lpwstr>2052-12.1.2.25838</vt:lpwstr>
  </property>
</Properties>
</file>