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2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工作进展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85750" y="930275"/>
            <a:ext cx="11603355" cy="537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ea typeface="SimSun" charset="0"/>
                <a:sym typeface="+mn-ea"/>
              </a:rPr>
              <a:t>RISCV</a:t>
            </a:r>
            <a:r>
              <a:rPr lang="zh-CN" altLang="en-US">
                <a:ea typeface="SimSun" charset="0"/>
                <a:sym typeface="+mn-ea"/>
              </a:rPr>
              <a:t>大多是基于新的</a:t>
            </a:r>
            <a:r>
              <a:rPr lang="en-US" altLang="zh-CN">
                <a:ea typeface="SimSun" charset="0"/>
                <a:sym typeface="+mn-ea"/>
              </a:rPr>
              <a:t>Primitive</a:t>
            </a:r>
            <a:r>
              <a:rPr lang="zh-CN" altLang="en-US">
                <a:ea typeface="SimSun" charset="0"/>
                <a:sym typeface="+mn-ea"/>
              </a:rPr>
              <a:t>（观测方法）</a:t>
            </a:r>
            <a:r>
              <a:rPr lang="en-US" altLang="zh-CN">
                <a:ea typeface="SimSun" charset="0"/>
                <a:sym typeface="+mn-ea"/>
              </a:rPr>
              <a:t>--L1/2 D/</a:t>
            </a:r>
            <a:r>
              <a:rPr lang="en-US" altLang="zh-CN">
                <a:solidFill>
                  <a:srgbClr val="FF0000"/>
                </a:solidFill>
                <a:ea typeface="SimSun" charset="0"/>
                <a:sym typeface="+mn-ea"/>
              </a:rPr>
              <a:t>I</a:t>
            </a:r>
            <a:r>
              <a:rPr lang="en-US" altLang="zh-CN">
                <a:ea typeface="SimSun" charset="0"/>
                <a:sym typeface="+mn-ea"/>
              </a:rPr>
              <a:t> Flush Reload/Prime Probe</a:t>
            </a:r>
            <a:r>
              <a:rPr lang="zh-CN" altLang="en-US">
                <a:ea typeface="SimSun" charset="0"/>
                <a:sym typeface="+mn-ea"/>
              </a:rPr>
              <a:t>等、</a:t>
            </a:r>
            <a:r>
              <a:rPr lang="en-US" altLang="zh-CN">
                <a:ea typeface="SimSun" charset="0"/>
                <a:sym typeface="+mn-ea"/>
              </a:rPr>
              <a:t>TLB PP/FR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GhostCache</a:t>
            </a:r>
            <a:r>
              <a:rPr lang="zh-CN" altLang="en-US">
                <a:ea typeface="SimSun" charset="0"/>
                <a:sym typeface="+mn-ea"/>
              </a:rPr>
              <a:t>的</a:t>
            </a:r>
            <a:r>
              <a:rPr lang="en-US" altLang="zh-CN">
                <a:ea typeface="SimSun" charset="0"/>
                <a:sym typeface="+mn-ea"/>
              </a:rPr>
              <a:t>Stale I&amp;D cache</a:t>
            </a:r>
            <a:r>
              <a:rPr lang="zh-CN" altLang="en-US">
                <a:ea typeface="SimSun" charset="0"/>
                <a:sym typeface="+mn-ea"/>
              </a:rPr>
              <a:t>，然后在用户态做传统</a:t>
            </a:r>
            <a:r>
              <a:rPr lang="en-US" altLang="zh-CN">
                <a:ea typeface="SimSun" charset="0"/>
                <a:sym typeface="+mn-ea"/>
              </a:rPr>
              <a:t>Spectre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AES</a:t>
            </a:r>
            <a:r>
              <a:rPr lang="zh-CN" altLang="en-US">
                <a:ea typeface="SimSun" charset="0"/>
                <a:sym typeface="+mn-ea"/>
              </a:rPr>
              <a:t>攻击复现</a:t>
            </a:r>
            <a:endParaRPr lang="zh-CN" altLang="en-US">
              <a:ea typeface="SimSun" charset="0"/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  <a:sym typeface="+mn-ea"/>
              </a:rPr>
              <a:t>基于</a:t>
            </a:r>
            <a:r>
              <a:rPr lang="en-US" altLang="zh-CN">
                <a:ea typeface="SimSun" charset="0"/>
                <a:sym typeface="+mn-ea"/>
              </a:rPr>
              <a:t>GhostCache</a:t>
            </a:r>
            <a:r>
              <a:rPr lang="zh-CN" altLang="en-US">
                <a:ea typeface="SimSun" charset="0"/>
                <a:sym typeface="+mn-ea"/>
              </a:rPr>
              <a:t>迁移到</a:t>
            </a:r>
            <a:r>
              <a:rPr lang="en-US" altLang="zh-CN">
                <a:ea typeface="SimSun" charset="0"/>
                <a:sym typeface="+mn-ea"/>
              </a:rPr>
              <a:t>TLB</a:t>
            </a:r>
            <a:r>
              <a:rPr lang="zh-CN" altLang="en-US">
                <a:ea typeface="SimSun" charset="0"/>
                <a:sym typeface="+mn-ea"/>
              </a:rPr>
              <a:t>上发现也有</a:t>
            </a:r>
            <a:r>
              <a:rPr lang="en-US" altLang="zh-CN">
                <a:ea typeface="SimSun" charset="0"/>
                <a:sym typeface="+mn-ea"/>
              </a:rPr>
              <a:t>Stale</a:t>
            </a:r>
            <a:r>
              <a:rPr lang="zh-CN" altLang="en-US">
                <a:ea typeface="SimSun" charset="0"/>
                <a:sym typeface="+mn-ea"/>
              </a:rPr>
              <a:t>现象，然后做成</a:t>
            </a:r>
            <a:r>
              <a:rPr lang="en-US" altLang="zh-CN">
                <a:ea typeface="SimSun" charset="0"/>
                <a:sym typeface="+mn-ea"/>
              </a:rPr>
              <a:t>Spectre</a:t>
            </a:r>
            <a:r>
              <a:rPr lang="zh-CN" altLang="en-US">
                <a:ea typeface="SimSun" charset="0"/>
                <a:sym typeface="+mn-ea"/>
              </a:rPr>
              <a:t>攻击完成复现（但是</a:t>
            </a:r>
            <a:r>
              <a:rPr lang="en-US" altLang="zh-CN">
                <a:ea typeface="SimSun" charset="0"/>
                <a:sym typeface="+mn-ea"/>
              </a:rPr>
              <a:t>TLB</a:t>
            </a:r>
            <a:r>
              <a:rPr lang="zh-CN" altLang="en-US">
                <a:ea typeface="SimSun" charset="0"/>
                <a:sym typeface="+mn-ea"/>
              </a:rPr>
              <a:t>也是缓存的一种，感觉没有特别大的意义）</a:t>
            </a:r>
            <a:endParaRPr lang="zh-CN" altLang="en-US">
              <a:ea typeface="SimSun" charset="0"/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  <a:sym typeface="+mn-ea"/>
              </a:rPr>
              <a:t>利用</a:t>
            </a:r>
            <a:r>
              <a:rPr lang="en-US" altLang="zh-CN">
                <a:ea typeface="SimSun" charset="0"/>
                <a:sym typeface="+mn-ea"/>
              </a:rPr>
              <a:t>RAS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IBP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BHT</a:t>
            </a:r>
            <a:r>
              <a:rPr lang="zh-CN" altLang="en-US">
                <a:ea typeface="SimSun" charset="0"/>
                <a:sym typeface="+mn-ea"/>
              </a:rPr>
              <a:t>、</a:t>
            </a:r>
            <a:r>
              <a:rPr lang="en-US" altLang="zh-CN">
                <a:ea typeface="SimSun" charset="0"/>
                <a:sym typeface="+mn-ea"/>
              </a:rPr>
              <a:t>BHB</a:t>
            </a:r>
            <a:r>
              <a:rPr lang="zh-CN" altLang="en-US">
                <a:ea typeface="SimSun" charset="0"/>
                <a:sym typeface="+mn-ea"/>
              </a:rPr>
              <a:t>等微架构训练后瞬态执行到</a:t>
            </a:r>
            <a:r>
              <a:rPr lang="en-US" altLang="zh-CN">
                <a:ea typeface="SimSun" charset="0"/>
                <a:sym typeface="+mn-ea"/>
              </a:rPr>
              <a:t>Gadget</a:t>
            </a:r>
            <a:r>
              <a:rPr lang="zh-CN" altLang="en-US">
                <a:ea typeface="SimSun" charset="0"/>
                <a:sym typeface="+mn-ea"/>
              </a:rPr>
              <a:t>（可以跨特权级），利用</a:t>
            </a:r>
            <a:r>
              <a:rPr lang="en-US" altLang="zh-CN">
                <a:ea typeface="SimSun" charset="0"/>
                <a:sym typeface="+mn-ea"/>
              </a:rPr>
              <a:t>User-Kernel share</a:t>
            </a:r>
            <a:r>
              <a:rPr lang="zh-CN" altLang="en-US">
                <a:ea typeface="SimSun" charset="0"/>
                <a:sym typeface="+mn-ea"/>
              </a:rPr>
              <a:t>的</a:t>
            </a:r>
            <a:r>
              <a:rPr lang="en-US" altLang="zh-CN">
                <a:ea typeface="SimSun" charset="0"/>
                <a:sym typeface="+mn-ea"/>
              </a:rPr>
              <a:t>Direct Map</a:t>
            </a:r>
            <a:r>
              <a:rPr lang="zh-CN" altLang="en-US">
                <a:ea typeface="SimSun" charset="0"/>
                <a:sym typeface="+mn-ea"/>
              </a:rPr>
              <a:t>来做缓存级</a:t>
            </a:r>
            <a:r>
              <a:rPr lang="en-US" altLang="zh-CN">
                <a:ea typeface="SimSun" charset="0"/>
                <a:sym typeface="+mn-ea"/>
              </a:rPr>
              <a:t>FR</a:t>
            </a:r>
            <a:endParaRPr lang="zh-CN" altLang="en-US">
              <a:ea typeface="SimSun" charset="0"/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>
                <a:ea typeface="SimSun" charset="0"/>
                <a:sym typeface="+mn-ea"/>
              </a:rPr>
              <a:t>Retbleed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RAS Underflow</a:t>
            </a:r>
            <a:r>
              <a:rPr lang="zh-CN" altLang="en-US">
                <a:ea typeface="SimSun" charset="0"/>
                <a:sym typeface="+mn-ea"/>
              </a:rPr>
              <a:t>后的</a:t>
            </a:r>
            <a:r>
              <a:rPr lang="en-US" altLang="zh-CN">
                <a:ea typeface="SimSun" charset="0"/>
                <a:sym typeface="+mn-ea"/>
              </a:rPr>
              <a:t>Fallback</a:t>
            </a:r>
            <a:r>
              <a:rPr lang="zh-CN" altLang="en-US">
                <a:ea typeface="SimSun" charset="0"/>
                <a:sym typeface="+mn-ea"/>
              </a:rPr>
              <a:t>）在</a:t>
            </a:r>
            <a:r>
              <a:rPr lang="en-US" altLang="zh-CN">
                <a:ea typeface="SimSun" charset="0"/>
                <a:sym typeface="+mn-ea"/>
              </a:rPr>
              <a:t>RISCV</a:t>
            </a:r>
            <a:r>
              <a:rPr lang="zh-CN" altLang="en-US">
                <a:ea typeface="SimSun" charset="0"/>
                <a:sym typeface="+mn-ea"/>
              </a:rPr>
              <a:t>不可行</a:t>
            </a:r>
            <a:endParaRPr lang="zh-CN" altLang="en-US">
              <a:ea typeface="SimSun" charset="0"/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altLang="zh-CN">
                <a:ea typeface="SimSun" charset="0"/>
                <a:sym typeface="+mn-ea"/>
              </a:rPr>
              <a:t>Phantom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Branch Target</a:t>
            </a:r>
            <a:r>
              <a:rPr lang="zh-CN" altLang="en-US">
                <a:ea typeface="SimSun" charset="0"/>
                <a:sym typeface="+mn-ea"/>
              </a:rPr>
              <a:t>和</a:t>
            </a:r>
            <a:r>
              <a:rPr lang="en-US" altLang="zh-CN">
                <a:ea typeface="SimSun" charset="0"/>
                <a:sym typeface="+mn-ea"/>
              </a:rPr>
              <a:t>Source</a:t>
            </a:r>
            <a:r>
              <a:rPr lang="zh-CN" altLang="en-US">
                <a:ea typeface="SimSun" charset="0"/>
                <a:sym typeface="+mn-ea"/>
              </a:rPr>
              <a:t>都会被预取，训练分支和执行分支不一定相同）不可以，时间窗口太短</a:t>
            </a:r>
            <a:endParaRPr lang="zh-CN" altLang="en-US">
              <a:ea typeface="SimSun" charset="0"/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  <a:sym typeface="+mn-ea"/>
              </a:rPr>
              <a:t>攻击需要跨特权级</a:t>
            </a:r>
            <a:r>
              <a:rPr lang="en-US" altLang="zh-CN">
                <a:ea typeface="SimSun" charset="0"/>
                <a:sym typeface="+mn-ea"/>
              </a:rPr>
              <a:t>+Gadget</a:t>
            </a:r>
            <a:r>
              <a:rPr lang="zh-CN" altLang="en-US">
                <a:ea typeface="SimSun" charset="0"/>
                <a:sym typeface="+mn-ea"/>
              </a:rPr>
              <a:t>，</a:t>
            </a:r>
            <a:r>
              <a:rPr lang="zh-CN" altLang="en-US">
                <a:ea typeface="SimSun" charset="0"/>
                <a:sym typeface="+mn-ea"/>
              </a:rPr>
              <a:t>（目前主要考虑间接跳转</a:t>
            </a:r>
            <a:r>
              <a:rPr lang="en-US" altLang="zh-CN">
                <a:ea typeface="SimSun" charset="0"/>
                <a:sym typeface="+mn-ea"/>
              </a:rPr>
              <a:t>-IBP</a:t>
            </a:r>
            <a:r>
              <a:rPr lang="zh-CN" altLang="en-US">
                <a:ea typeface="SimSun" charset="0"/>
                <a:sym typeface="+mn-ea"/>
              </a:rPr>
              <a:t>）</a:t>
            </a:r>
            <a:r>
              <a:rPr lang="zh-CN" altLang="en-US">
                <a:ea typeface="SimSun" charset="0"/>
                <a:sym typeface="+mn-ea"/>
              </a:rPr>
              <a:t>实现类似于</a:t>
            </a:r>
            <a:r>
              <a:rPr lang="en-US" altLang="zh-CN">
                <a:ea typeface="SimSun" charset="0"/>
                <a:sym typeface="+mn-ea"/>
              </a:rPr>
              <a:t>BHI</a:t>
            </a:r>
            <a:r>
              <a:rPr lang="zh-CN" altLang="en-US">
                <a:ea typeface="SimSun" charset="0"/>
                <a:sym typeface="+mn-ea"/>
              </a:rPr>
              <a:t>的注入</a:t>
            </a:r>
            <a:endParaRPr lang="zh-CN" altLang="en-US">
              <a:ea typeface="SimSun" charset="0"/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  <a:sym typeface="+mn-ea"/>
              </a:rPr>
              <a:t>此类攻击</a:t>
            </a:r>
            <a:r>
              <a:rPr lang="en-US" altLang="zh-CN">
                <a:ea typeface="SimSun" charset="0"/>
                <a:sym typeface="+mn-ea"/>
              </a:rPr>
              <a:t>RISCV</a:t>
            </a:r>
            <a:r>
              <a:rPr lang="zh-CN" altLang="en-US">
                <a:ea typeface="SimSun" charset="0"/>
                <a:sym typeface="+mn-ea"/>
              </a:rPr>
              <a:t>真机上没有发过论文，现在主要基于开源</a:t>
            </a:r>
            <a:r>
              <a:rPr lang="en-US" altLang="zh-CN">
                <a:ea typeface="SimSun" charset="0"/>
                <a:sym typeface="+mn-ea"/>
              </a:rPr>
              <a:t>C910</a:t>
            </a:r>
            <a:r>
              <a:rPr lang="zh-CN" altLang="en-US">
                <a:ea typeface="SimSun" charset="0"/>
                <a:sym typeface="+mn-ea"/>
              </a:rPr>
              <a:t>做，如果要发文章需要商用开发板</a:t>
            </a:r>
            <a:endParaRPr lang="en-US" altLang="zh-CN">
              <a:ea typeface="SimSun" charset="0"/>
              <a:sym typeface="+mn-ea"/>
            </a:endParaRPr>
          </a:p>
          <a:p>
            <a:pPr indent="0">
              <a:buFont typeface="Arial" panose="02080604020202020204" pitchFamily="34" charset="0"/>
              <a:buNone/>
            </a:pPr>
            <a:endParaRPr lang="en-US" altLang="zh-CN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2023MICRO-Phantom: Exploiting Decoder-detectable Mispredictions</a:t>
            </a:r>
            <a:endParaRPr lang="en-US" altLang="zh-CN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2023SP-A Security RISC: Microarchitectural Attacks on Hardware RISC-V CPUs</a:t>
            </a:r>
            <a:endParaRPr lang="en-US" altLang="zh-CN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2022Usenix-RETBLEED: Arbitrary Speculative Code Execution with Return Instructions</a:t>
            </a:r>
            <a:endParaRPr lang="en-US" altLang="zh-CN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2025CCS-GhostCache: Timer- and Counter-Free Cache Attacks ExploitingWeak Coherence on RISC-V and ARM Chips</a:t>
            </a:r>
            <a:r>
              <a:rPr lang="zh-CN" altLang="en-US">
                <a:ea typeface="SimSun" charset="0"/>
                <a:sym typeface="+mn-ea"/>
              </a:rPr>
              <a:t>（和</a:t>
            </a:r>
            <a:r>
              <a:rPr lang="en-US" altLang="zh-CN">
                <a:ea typeface="SimSun" charset="0"/>
                <a:sym typeface="+mn-ea"/>
              </a:rPr>
              <a:t>CISPA</a:t>
            </a:r>
            <a:r>
              <a:rPr lang="zh-CN" altLang="en-US">
                <a:ea typeface="SimSun" charset="0"/>
                <a:sym typeface="+mn-ea"/>
              </a:rPr>
              <a:t>的</a:t>
            </a:r>
            <a:r>
              <a:rPr lang="en-US" altLang="zh-CN">
                <a:ea typeface="SimSun" charset="0"/>
                <a:sym typeface="+mn-ea"/>
              </a:rPr>
              <a:t>RiscyCache</a:t>
            </a:r>
            <a:r>
              <a:rPr lang="zh-CN" altLang="en-US">
                <a:ea typeface="SimSun" charset="0"/>
                <a:sym typeface="+mn-ea"/>
              </a:rPr>
              <a:t>相似）</a:t>
            </a:r>
            <a:endParaRPr lang="zh-CN" altLang="en-US">
              <a:ea typeface="SimSun" charset="0"/>
              <a:sym typeface="+mn-ea"/>
            </a:endParaRPr>
          </a:p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2025SP-Peek-a-Walk: Leaking Secrets via Page Walk Side Channels</a:t>
            </a:r>
            <a:r>
              <a:rPr lang="zh-CN" altLang="en-US">
                <a:ea typeface="SimSun" charset="0"/>
                <a:sym typeface="+mn-ea"/>
              </a:rPr>
              <a:t>（正在尝试复现，同样缺少硬件</a:t>
            </a:r>
            <a:r>
              <a:rPr lang="en-US" altLang="zh-CN">
                <a:ea typeface="SimSun" charset="0"/>
                <a:sym typeface="+mn-ea"/>
              </a:rPr>
              <a:t>LAM</a:t>
            </a:r>
            <a:r>
              <a:rPr lang="zh-CN" altLang="en-US">
                <a:ea typeface="SimSun" charset="0"/>
                <a:sym typeface="+mn-ea"/>
              </a:rPr>
              <a:t>支持</a:t>
            </a:r>
            <a:r>
              <a:rPr lang="en-US" altLang="zh-CN">
                <a:ea typeface="SimSun" charset="0"/>
                <a:sym typeface="+mn-ea"/>
              </a:rPr>
              <a:t>;</a:t>
            </a:r>
            <a:r>
              <a:rPr lang="zh-CN" altLang="en-US">
                <a:ea typeface="SimSun" charset="0"/>
                <a:sym typeface="+mn-ea"/>
              </a:rPr>
              <a:t>可以直接破解后量子认证密钥）</a:t>
            </a:r>
            <a:endParaRPr lang="zh-CN" altLang="en-US">
              <a:ea typeface="SimSun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未来工作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2745" y="895350"/>
            <a:ext cx="11659870" cy="186118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上新特性推出比较缓慢（比如</a:t>
            </a:r>
            <a:r>
              <a:rPr lang="en-US" altLang="zh-CN">
                <a:ea typeface="SimSun" charset="0"/>
              </a:rPr>
              <a:t>Pointer Masking</a:t>
            </a:r>
            <a:r>
              <a:rPr lang="zh-CN" altLang="en-US">
                <a:ea typeface="SimSun" charset="0"/>
              </a:rPr>
              <a:t>标准还在推进），而</a:t>
            </a:r>
            <a:r>
              <a:rPr lang="en-US" altLang="zh-CN">
                <a:ea typeface="SimSun" charset="0"/>
              </a:rPr>
              <a:t>x86</a:t>
            </a:r>
            <a:r>
              <a:rPr lang="zh-CN" altLang="en-US">
                <a:ea typeface="SimSun" charset="0"/>
              </a:rPr>
              <a:t>出现过的问题在</a:t>
            </a: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就无法精准复现，但是传统的漏洞都被挖掘的差不多了，用（微）架构新特性结合传统漏洞可能是一个比较好的方向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  <a:p>
            <a:pPr marL="800100" lvl="1" indent="-342900">
              <a:buAutoNum type="arabicPeriod"/>
            </a:pPr>
            <a:r>
              <a:rPr lang="zh-CN" altLang="en-US">
                <a:ea typeface="SimSun" charset="0"/>
              </a:rPr>
              <a:t>这类攻击都是跨特权级，还是需要分析微架构的逻辑（问题是精确</a:t>
            </a:r>
            <a:r>
              <a:rPr lang="en-US" altLang="zh-CN">
                <a:ea typeface="SimSun" charset="0"/>
              </a:rPr>
              <a:t>index</a:t>
            </a:r>
            <a:r>
              <a:rPr lang="zh-CN" altLang="en-US">
                <a:ea typeface="SimSun" charset="0"/>
              </a:rPr>
              <a:t>与对应的现象不好观测）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基于</a:t>
            </a:r>
            <a:r>
              <a:rPr lang="en-US" altLang="zh-CN">
                <a:ea typeface="SimSun" charset="0"/>
              </a:rPr>
              <a:t>Rowhammer</a:t>
            </a:r>
            <a:r>
              <a:rPr lang="zh-CN" altLang="en-US">
                <a:ea typeface="SimSun" charset="0"/>
              </a:rPr>
              <a:t>在</a:t>
            </a: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上做的也比较少，没有相关顶会文章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基于</a:t>
            </a:r>
            <a:r>
              <a:rPr lang="en-US" altLang="zh-CN">
                <a:ea typeface="SimSun" charset="0"/>
              </a:rPr>
              <a:t>Race Condition</a:t>
            </a:r>
            <a:r>
              <a:rPr lang="zh-CN" altLang="en-US">
                <a:ea typeface="SimSun" charset="0"/>
              </a:rPr>
              <a:t>时微架构可能的不同变化（基于</a:t>
            </a:r>
            <a:r>
              <a:rPr lang="en-US" altLang="zh-CN">
                <a:ea typeface="SimSun" charset="0"/>
              </a:rPr>
              <a:t>x86</a:t>
            </a:r>
            <a:r>
              <a:rPr lang="zh-CN" altLang="en-US">
                <a:ea typeface="SimSun" charset="0"/>
              </a:rPr>
              <a:t>迁移）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基于</a:t>
            </a:r>
            <a:r>
              <a:rPr lang="en-US" altLang="zh-CN">
                <a:ea typeface="SimSun" charset="0"/>
              </a:rPr>
              <a:t>RISCV</a:t>
            </a:r>
            <a:r>
              <a:rPr lang="zh-CN" altLang="en-US">
                <a:ea typeface="SimSun" charset="0"/>
              </a:rPr>
              <a:t>的后量子扩展领域做认证密钥提取（未仔细调研）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如果不考虑仅限于微架构，可以向内核</a:t>
            </a:r>
            <a:r>
              <a:rPr lang="en-US" altLang="zh-CN">
                <a:ea typeface="SimSun" charset="0"/>
              </a:rPr>
              <a:t>/</a:t>
            </a:r>
            <a:r>
              <a:rPr lang="zh-CN" altLang="en-US">
                <a:ea typeface="SimSun" charset="0"/>
              </a:rPr>
              <a:t>内存扩展（利用侧信道手段攻击）</a:t>
            </a:r>
            <a:endParaRPr lang="zh-CN" altLang="en-US">
              <a:ea typeface="SimSun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095" y="3611880"/>
            <a:ext cx="11510645" cy="201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已有工作：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测量手段：各级缓存的</a:t>
            </a:r>
            <a:r>
              <a:rPr lang="en-US" altLang="zh-CN"/>
              <a:t>FR/PP,TLB</a:t>
            </a:r>
            <a:r>
              <a:rPr lang="zh-CN" altLang="en-US">
                <a:ea typeface="SimSun" charset="0"/>
              </a:rPr>
              <a:t>的测量方法、</a:t>
            </a:r>
            <a:r>
              <a:rPr lang="en-US" altLang="zh-CN">
                <a:ea typeface="SimSun" charset="0"/>
              </a:rPr>
              <a:t>I/D</a:t>
            </a:r>
            <a:r>
              <a:rPr lang="zh-CN" altLang="en-US">
                <a:ea typeface="SimSun" charset="0"/>
              </a:rPr>
              <a:t>缓存不一致性证明</a:t>
            </a:r>
            <a:r>
              <a:rPr lang="en-US" altLang="zh-CN">
                <a:ea typeface="SimSun" charset="0"/>
              </a:rPr>
              <a:t>Inst Fetch</a:t>
            </a:r>
            <a:endParaRPr lang="en-US" altLang="zh-CN">
              <a:ea typeface="SimSun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ea typeface="SimSun" charset="0"/>
              </a:rPr>
              <a:t>BHT</a:t>
            </a:r>
            <a:r>
              <a:rPr lang="zh-CN" altLang="en-US">
                <a:ea typeface="SimSun" charset="0"/>
              </a:rPr>
              <a:t>结构分析、</a:t>
            </a:r>
            <a:r>
              <a:rPr lang="en-US" altLang="zh-CN">
                <a:ea typeface="SimSun" charset="0"/>
              </a:rPr>
              <a:t>IBP</a:t>
            </a:r>
            <a:r>
              <a:rPr lang="zh-CN" altLang="en-US">
                <a:ea typeface="SimSun" charset="0"/>
              </a:rPr>
              <a:t>部分分析（还未实现精确控制）、</a:t>
            </a:r>
            <a:r>
              <a:rPr lang="en-US" altLang="zh-CN">
                <a:ea typeface="SimSun" charset="0"/>
              </a:rPr>
              <a:t>RAS</a:t>
            </a:r>
            <a:r>
              <a:rPr lang="zh-CN" altLang="en-US">
                <a:ea typeface="SimSun" charset="0"/>
              </a:rPr>
              <a:t>结构</a:t>
            </a:r>
            <a:r>
              <a:rPr lang="en-US" altLang="zh-CN">
                <a:ea typeface="SimSun" charset="0"/>
              </a:rPr>
              <a:t>Underflow</a:t>
            </a:r>
            <a:r>
              <a:rPr lang="zh-CN" altLang="en-US">
                <a:ea typeface="SimSun" charset="0"/>
              </a:rPr>
              <a:t>验证</a:t>
            </a:r>
            <a:endParaRPr lang="zh-CN" altLang="en-US">
              <a:ea typeface="SimSun" charset="0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</a:rPr>
              <a:t>验证</a:t>
            </a:r>
            <a:r>
              <a:rPr lang="en-US" altLang="zh-CN">
                <a:ea typeface="SimSun" charset="0"/>
              </a:rPr>
              <a:t>IBP</a:t>
            </a:r>
            <a:r>
              <a:rPr lang="zh-CN" altLang="en-US">
                <a:ea typeface="SimSun" charset="0"/>
              </a:rPr>
              <a:t>、</a:t>
            </a:r>
            <a:r>
              <a:rPr lang="en-US" altLang="zh-CN">
                <a:ea typeface="SimSun" charset="0"/>
              </a:rPr>
              <a:t>BHT</a:t>
            </a:r>
            <a:r>
              <a:rPr lang="zh-CN" altLang="en-US">
                <a:ea typeface="SimSun" charset="0"/>
              </a:rPr>
              <a:t>等会跨态影响，但是无法实现精确控制</a:t>
            </a:r>
            <a:endParaRPr lang="zh-CN" altLang="en-US">
              <a:ea typeface="SimSun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</a:rPr>
              <a:t>开发板固件替换、修改，</a:t>
            </a:r>
            <a:r>
              <a:rPr lang="en-US" altLang="zh-CN">
                <a:ea typeface="SimSun" charset="0"/>
                <a:sym typeface="+mn-ea"/>
              </a:rPr>
              <a:t>Gadget</a:t>
            </a:r>
            <a:r>
              <a:rPr lang="zh-CN" altLang="en-US">
                <a:ea typeface="SimSun" charset="0"/>
                <a:sym typeface="+mn-ea"/>
              </a:rPr>
              <a:t>分析工具</a:t>
            </a:r>
            <a:endParaRPr lang="zh-CN" altLang="en-US">
              <a:ea typeface="SimSun" charset="0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根据老师建议调整方向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根据顶会论文源码进行分析，提取可以利用的点并尝试迁移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Google Project0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寻找前沿的可以利用的攻击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SLIDE_BACKGROUND_TYPE" val="general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WPS 演示</Application>
  <PresentationFormat>宽屏</PresentationFormat>
  <Paragraphs>48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5748</cp:revision>
  <dcterms:created xsi:type="dcterms:W3CDTF">2026-04-24T14:46:54Z</dcterms:created>
  <dcterms:modified xsi:type="dcterms:W3CDTF">2026-04-24T14:46:54Z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B93A8A3A6D728C335E82EB69AE2F93C1_43</vt:lpwstr>
  </property>
  <property fmtid="{D5CDD505-2E9C-101B-9397-08002B2CF9AE}" pid="3" name="KSOProductBuildVer">
    <vt:lpwstr>2052-12.1.2.25838</vt:lpwstr>
  </property>
</Properties>
</file>