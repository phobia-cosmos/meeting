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26" r:id="rId7"/>
    <p:sldId id="6514" r:id="rId8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9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3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.xml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8.xml"/><Relationship Id="rId2" Type="http://schemas.openxmlformats.org/officeDocument/2006/relationships/image" Target="../media/image14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23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微架构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 Post-Silicon Fuzzer</a:t>
            </a: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770" y="3875405"/>
            <a:ext cx="4467225" cy="2686050"/>
          </a:xfrm>
          <a:prstGeom prst="rect">
            <a:avLst/>
          </a:prstGeom>
        </p:spPr>
      </p:pic>
      <p:graphicFrame>
        <p:nvGraphicFramePr>
          <p:cNvPr id="12" name="表格 11"/>
          <p:cNvGraphicFramePr/>
          <p:nvPr/>
        </p:nvGraphicFramePr>
        <p:xfrm>
          <a:off x="470535" y="970915"/>
          <a:ext cx="11000740" cy="2848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185"/>
                <a:gridCol w="2750185"/>
                <a:gridCol w="2750185"/>
                <a:gridCol w="2750185"/>
              </a:tblGrid>
              <a:tr h="379095">
                <a:tc>
                  <a:txBody>
                    <a:bodyPr/>
                    <a:p>
                      <a:r>
                        <a:rPr lang="zh-CN" altLang="en-US" sz="1100"/>
                        <a:t>年份 </a:t>
                      </a:r>
                      <a:r>
                        <a:rPr lang="en-US" altLang="zh-CN" sz="1100"/>
                        <a:t>/ </a:t>
                      </a:r>
                      <a:r>
                        <a:rPr lang="zh-CN" altLang="en-US" sz="1100"/>
                        <a:t>论文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对应方向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核心问题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相对基础 </a:t>
                      </a:r>
                      <a:r>
                        <a:rPr lang="en-US" altLang="zh-CN" sz="1100"/>
                        <a:t>Revizor </a:t>
                      </a:r>
                      <a:r>
                        <a:rPr lang="zh-CN" altLang="en-US" sz="1100"/>
                        <a:t>的变化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908685">
                <a:tc>
                  <a:txBody>
                    <a:bodyPr/>
                    <a:p>
                      <a:r>
                        <a:rPr lang="en-US" altLang="zh-CN" sz="1100">
                          <a:solidFill>
                            <a:srgbClr val="FF0000"/>
                          </a:solidFill>
                        </a:rPr>
                        <a:t>2022 ASPLOS Revizor</a:t>
                      </a:r>
                      <a:endParaRPr lang="en-US" altLang="zh-CN" sz="11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黑盒 </a:t>
                      </a:r>
                      <a:r>
                        <a:rPr lang="en-US" altLang="zh-CN" sz="1100"/>
                        <a:t>CPU speculation contract testing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同一个 </a:t>
                      </a:r>
                      <a:r>
                        <a:rPr lang="en-US" altLang="zh-CN" sz="1100"/>
                        <a:t>contract trace </a:t>
                      </a:r>
                      <a:r>
                        <a:rPr lang="zh-CN" altLang="en-US" sz="1100"/>
                        <a:t>下，硬件观测是否仍然一致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建立 </a:t>
                      </a:r>
                      <a:r>
                        <a:rPr lang="en-US" altLang="zh-CN" sz="1100"/>
                        <a:t>Model-based Relational Testing</a:t>
                      </a:r>
                      <a:r>
                        <a:rPr lang="zh-CN" altLang="en-US" sz="1100"/>
                        <a:t>：生成测试程序、模型执行、硬件执行、按 </a:t>
                      </a:r>
                      <a:r>
                        <a:rPr lang="en-US" altLang="zh-CN" sz="1100"/>
                        <a:t>contract trace </a:t>
                      </a:r>
                      <a:r>
                        <a:rPr lang="zh-CN" altLang="en-US" sz="1100"/>
                        <a:t>分组比较 </a:t>
                      </a:r>
                      <a:r>
                        <a:rPr lang="en-US" altLang="zh-CN" sz="1100"/>
                        <a:t>hardware trace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500380">
                <a:tc>
                  <a:txBody>
                    <a:bodyPr/>
                    <a:p>
                      <a:r>
                        <a:rPr lang="en-US" altLang="zh-CN" sz="1100"/>
                        <a:t>2023 S&amp;P Hide and Seek with Spectres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更高效发现 </a:t>
                      </a:r>
                      <a:r>
                        <a:rPr lang="en-US" altLang="zh-CN" sz="1100"/>
                        <a:t>Spectre </a:t>
                      </a:r>
                      <a:r>
                        <a:rPr lang="zh-CN" altLang="en-US" sz="1100"/>
                        <a:t>泄漏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基础 </a:t>
                      </a:r>
                      <a:r>
                        <a:rPr lang="en-US" altLang="zh-CN" sz="1100"/>
                        <a:t>Revizor </a:t>
                      </a:r>
                      <a:r>
                        <a:rPr lang="zh-CN" altLang="en-US" sz="1100"/>
                        <a:t>随机搜索效率不够高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改进输入生成、过滤、搜索策略，让随机测试更容易命中 </a:t>
                      </a:r>
                      <a:r>
                        <a:rPr lang="en-US" altLang="zh-CN" sz="1100"/>
                        <a:t>speculative leak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605790">
                <a:tc>
                  <a:txBody>
                    <a:bodyPr/>
                    <a:p>
                      <a:r>
                        <a:rPr lang="en-US" altLang="zh-CN" sz="1100"/>
                        <a:t>2023 USENIX Speculation at Fault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异常 </a:t>
                      </a:r>
                      <a:r>
                        <a:rPr lang="en-US" altLang="zh-CN" sz="1100"/>
                        <a:t>/ fault </a:t>
                      </a:r>
                      <a:r>
                        <a:rPr lang="zh-CN" altLang="en-US" sz="1100"/>
                        <a:t>相关瞬态泄漏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faulting instruction </a:t>
                      </a:r>
                      <a:r>
                        <a:rPr lang="zh-CN" altLang="en-US" sz="1100"/>
                        <a:t>之后的 </a:t>
                      </a:r>
                      <a:r>
                        <a:rPr lang="en-US" altLang="zh-CN" sz="1100"/>
                        <a:t>transient behavior </a:t>
                      </a:r>
                      <a:r>
                        <a:rPr lang="zh-CN" altLang="en-US" sz="1100"/>
                        <a:t>如何建模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扩展 </a:t>
                      </a:r>
                      <a:r>
                        <a:rPr lang="en-US" altLang="zh-CN" sz="1100"/>
                        <a:t>contract</a:t>
                      </a:r>
                      <a:r>
                        <a:rPr lang="zh-CN" altLang="en-US" sz="1100"/>
                        <a:t>，使 </a:t>
                      </a:r>
                      <a:r>
                        <a:rPr lang="en-US" altLang="zh-CN" sz="1100"/>
                        <a:t>exception / fault speculative leakage </a:t>
                      </a:r>
                      <a:r>
                        <a:rPr lang="zh-CN" altLang="en-US" sz="1100"/>
                        <a:t>成为可测试对象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454660">
                <a:tc>
                  <a:txBody>
                    <a:bodyPr/>
                    <a:p>
                      <a:r>
                        <a:rPr lang="en-US" altLang="zh-CN" sz="1100"/>
                        <a:t>2026 S&amp;P Enter, Exit, Page Fault, Leak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隔离边界泄漏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syscall</a:t>
                      </a:r>
                      <a:r>
                        <a:rPr lang="zh-CN" altLang="en-US" sz="1100"/>
                        <a:t>、</a:t>
                      </a:r>
                      <a:r>
                        <a:rPr lang="en-US" altLang="zh-CN" sz="1100"/>
                        <a:t>VM exit</a:t>
                      </a:r>
                      <a:r>
                        <a:rPr lang="zh-CN" altLang="en-US" sz="1100"/>
                        <a:t>、</a:t>
                      </a:r>
                      <a:r>
                        <a:rPr lang="en-US" altLang="zh-CN" sz="1100"/>
                        <a:t>page fault </a:t>
                      </a:r>
                      <a:r>
                        <a:rPr lang="zh-CN" altLang="en-US" sz="1100"/>
                        <a:t>等边界是否泄漏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把 </a:t>
                      </a:r>
                      <a:r>
                        <a:rPr lang="en-US" altLang="zh-CN" sz="1100"/>
                        <a:t>Revizor </a:t>
                      </a:r>
                      <a:r>
                        <a:rPr lang="zh-CN" altLang="en-US" sz="1100"/>
                        <a:t>的 </a:t>
                      </a:r>
                      <a:r>
                        <a:rPr lang="en-US" altLang="zh-CN" sz="1100"/>
                        <a:t>contract testing </a:t>
                      </a:r>
                      <a:r>
                        <a:rPr lang="zh-CN" altLang="en-US" sz="1100"/>
                        <a:t>扩展到特权级切换 </a:t>
                      </a:r>
                      <a:r>
                        <a:rPr lang="en-US" altLang="zh-CN" sz="1100"/>
                        <a:t>/ </a:t>
                      </a:r>
                      <a:r>
                        <a:rPr lang="zh-CN" altLang="en-US" sz="1100"/>
                        <a:t>隔离边界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655" y="4535805"/>
            <a:ext cx="4557395" cy="167132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实验学习</a:t>
            </a: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76250" y="757555"/>
            <a:ext cx="1391920" cy="306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RISCover</a:t>
            </a:r>
            <a:r>
              <a:rPr lang="zh-CN" altLang="en-US">
                <a:ea typeface="SimSun" charset="0"/>
              </a:rPr>
              <a:t>：</a:t>
            </a:r>
            <a:endParaRPr lang="en-US" altLang="zh-CN">
              <a:ea typeface="SimSun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95" y="1129665"/>
            <a:ext cx="5880100" cy="25533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05575" y="960755"/>
            <a:ext cx="5384165" cy="2506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en-US" altLang="zh-CN">
                <a:ea typeface="SimSun" charset="0"/>
              </a:rPr>
              <a:t>C910+QEMU</a:t>
            </a:r>
            <a:r>
              <a:rPr lang="zh-CN" altLang="en-US">
                <a:ea typeface="SimSun" charset="0"/>
              </a:rPr>
              <a:t>：</a:t>
            </a:r>
            <a:r>
              <a:rPr lang="en-US" altLang="zh-CN">
                <a:ea typeface="SimSun" charset="0"/>
              </a:rPr>
              <a:t>QEMU</a:t>
            </a:r>
            <a:r>
              <a:rPr lang="zh-CN" altLang="en-US">
                <a:ea typeface="SimSun" charset="0"/>
              </a:rPr>
              <a:t>对于硬件的模拟还是有误差</a:t>
            </a:r>
            <a:r>
              <a:rPr lang="en-US" altLang="zh-CN">
                <a:ea typeface="SimSun" charset="0"/>
              </a:rPr>
              <a:t>;</a:t>
            </a:r>
            <a:endParaRPr lang="zh-CN" altLang="en-US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en-US" altLang="zh-CN">
                <a:ea typeface="SimSun" charset="0"/>
              </a:rPr>
              <a:t>C910</a:t>
            </a:r>
            <a:r>
              <a:rPr lang="zh-CN" altLang="en-US">
                <a:ea typeface="SimSun" charset="0"/>
              </a:rPr>
              <a:t>（</a:t>
            </a:r>
            <a:r>
              <a:rPr lang="en-US" altLang="zh-CN">
                <a:ea typeface="SimSun" charset="0"/>
              </a:rPr>
              <a:t>2 thread</a:t>
            </a:r>
            <a:r>
              <a:rPr lang="zh-CN" altLang="en-US">
                <a:ea typeface="SimSun" charset="0"/>
              </a:rPr>
              <a:t>）：只能测试流程</a:t>
            </a:r>
            <a:r>
              <a:rPr lang="en-US" altLang="zh-CN">
                <a:ea typeface="SimSun" charset="0"/>
              </a:rPr>
              <a:t> </a:t>
            </a:r>
            <a:r>
              <a:rPr lang="zh-CN" altLang="en-US">
                <a:ea typeface="SimSun" charset="0"/>
              </a:rPr>
              <a:t>不能进行完整实验</a:t>
            </a:r>
            <a:r>
              <a:rPr lang="en-US" altLang="zh-CN">
                <a:ea typeface="SimSun" charset="0"/>
              </a:rPr>
              <a:t>;</a:t>
            </a:r>
            <a:endParaRPr lang="zh-CN" altLang="en-US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实验需要对比不同实现是否遵循了同一个</a:t>
            </a:r>
            <a:r>
              <a:rPr lang="en-US" altLang="zh-CN">
                <a:ea typeface="SimSun" charset="0"/>
              </a:rPr>
              <a:t>ISA,</a:t>
            </a:r>
            <a:r>
              <a:rPr lang="zh-CN" altLang="en-US">
                <a:ea typeface="SimSun" charset="0"/>
              </a:rPr>
              <a:t>如果同一个程序在不同开发板现象不同，则代表有一个实现有问题。因此需要等到其他开发板到了才能继续往下进行实验</a:t>
            </a:r>
            <a:endParaRPr lang="zh-CN" altLang="en-US">
              <a:ea typeface="SimSun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6895" y="3749040"/>
            <a:ext cx="1310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Revizor</a:t>
            </a:r>
            <a:r>
              <a:rPr lang="zh-CN" altLang="en-US">
                <a:ea typeface="SimSun" charset="0"/>
              </a:rPr>
              <a:t>：</a:t>
            </a:r>
            <a:endParaRPr lang="zh-CN" altLang="en-US">
              <a:ea typeface="SimSun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95" y="4117340"/>
            <a:ext cx="5038725" cy="59499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895" y="4798060"/>
            <a:ext cx="3975735" cy="70231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895" y="5631815"/>
            <a:ext cx="4629150" cy="86106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1645" y="3562350"/>
            <a:ext cx="5000625" cy="9525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1645" y="4610100"/>
            <a:ext cx="4646295" cy="19685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737225" y="3802380"/>
            <a:ext cx="1074420" cy="386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本机</a:t>
            </a:r>
            <a:r>
              <a:rPr lang="en-US" altLang="zh-CN"/>
              <a:t>x86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5737225" y="5282565"/>
            <a:ext cx="988695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C910</a:t>
            </a:r>
            <a:endParaRPr lang="en-US" altLang="zh-CN"/>
          </a:p>
        </p:txBody>
      </p:sp>
    </p:spTree>
    <p:custDataLst>
      <p:tags r:id="rId9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IBP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漏洞咨询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" y="1301750"/>
            <a:ext cx="8117840" cy="41554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538845" y="2712720"/>
            <a:ext cx="3189605" cy="716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确认是否是一个会有影响的安全问题，持续跟进回复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45440" y="5685155"/>
            <a:ext cx="11115040" cy="671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同时在实验室服务器上跑</a:t>
            </a:r>
            <a:r>
              <a:rPr lang="en-US" altLang="zh-CN"/>
              <a:t>Cascade</a:t>
            </a:r>
            <a:r>
              <a:rPr lang="zh-CN" altLang="en-US">
                <a:ea typeface="SimSun" charset="0"/>
              </a:rPr>
              <a:t>，</a:t>
            </a:r>
            <a:r>
              <a:rPr lang="en-US" altLang="zh-CN"/>
              <a:t>RISCover</a:t>
            </a:r>
            <a:r>
              <a:rPr lang="zh-CN" altLang="en-US">
                <a:ea typeface="SimSun" charset="0"/>
              </a:rPr>
              <a:t>的对比试验。因为实验要求比较高，本地没有如此多的核心，先让他能复现结果。</a:t>
            </a:r>
            <a:endParaRPr lang="zh-CN" altLang="en-US">
              <a:ea typeface="SimSun" charset="0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继续</a:t>
            </a:r>
            <a:r>
              <a:rPr 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Fuzzer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的学习以及迁移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marL="800100" lvl="1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同时学习如何扩展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contract;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marL="800100" lvl="1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阅读文献并结合代码理解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等待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P550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到后开展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RISCover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的实验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SLIDE_BACKGROUND_TYPE" val="general"/>
</p:tagLst>
</file>

<file path=ppt/tags/tag8.xml><?xml version="1.0" encoding="utf-8"?>
<p:tagLst xmlns:p="http://schemas.openxmlformats.org/presentationml/2006/main">
  <p:tag name="KSO_WM_SLIDE_BACKGROUND_TYPE" val="general"/>
</p:tagLst>
</file>

<file path=ppt/tags/tag9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979</Words>
  <Application>WPS 演示</Application>
  <PresentationFormat>宽屏</PresentationFormat>
  <Paragraphs>83</Paragraphs>
  <Slides>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7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5772</cp:revision>
  <dcterms:created xsi:type="dcterms:W3CDTF">2026-05-22T09:49:43Z</dcterms:created>
  <dcterms:modified xsi:type="dcterms:W3CDTF">2026-05-22T09:49:43Z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