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13" r:id="rId4"/>
    <p:sldId id="6515" r:id="rId6"/>
    <p:sldId id="6516" r:id="rId7"/>
    <p:sldId id="6514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9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8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28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工作总结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66420" y="995680"/>
            <a:ext cx="10705465" cy="2103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80604020202020204" pitchFamily="34" charset="0"/>
              <a:buNone/>
            </a:pPr>
            <a:r>
              <a:rPr lang="zh-CN" altLang="en-US" b="1">
                <a:sym typeface="+mn-ea"/>
              </a:rPr>
              <a:t>从“直接做 </a:t>
            </a:r>
            <a:r>
              <a:rPr lang="en-US" altLang="zh-CN" b="1">
                <a:sym typeface="+mn-ea"/>
              </a:rPr>
              <a:t>train-victim </a:t>
            </a:r>
            <a:r>
              <a:rPr lang="zh-CN" altLang="en-US" b="1">
                <a:sym typeface="+mn-ea"/>
              </a:rPr>
              <a:t>攻击验证”转向“先逆向具体预测结构，再按结构重设计实验”。</a:t>
            </a:r>
            <a:endParaRPr lang="zh-CN" altLang="en-US">
              <a:sym typeface="+mn-ea"/>
            </a:endParaRPr>
          </a:p>
          <a:p>
            <a:pPr indent="0">
              <a:buFont typeface="Arial" panose="02080604020202020204" pitchFamily="34" charset="0"/>
              <a:buNone/>
            </a:pPr>
            <a:endParaRPr lang="zh-CN" altLang="en-US">
              <a:sym typeface="+mn-ea"/>
            </a:endParaRPr>
          </a:p>
          <a:p>
            <a:pPr indent="0">
              <a:buFont typeface="Arial" panose="02080604020202020204" pitchFamily="34" charset="0"/>
              <a:buNone/>
            </a:pPr>
            <a:r>
              <a:rPr lang="zh-CN" altLang="en-US">
                <a:sym typeface="+mn-ea"/>
              </a:rPr>
              <a:t>预想：</a:t>
            </a:r>
            <a:endParaRPr lang="en-US" altLang="zh-CN">
              <a:sym typeface="+mn-ea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>
                <a:sym typeface="+mn-ea"/>
              </a:rPr>
              <a:t>某种训练指令组合是否能让 </a:t>
            </a:r>
            <a:r>
              <a:rPr lang="en-US" altLang="zh-CN">
                <a:sym typeface="+mn-ea"/>
              </a:rPr>
              <a:t>victim </a:t>
            </a:r>
            <a:r>
              <a:rPr lang="zh-CN" altLang="en-US">
                <a:sym typeface="+mn-ea"/>
              </a:rPr>
              <a:t>在前端发生错误取指/错误预测；</a:t>
            </a:r>
            <a:endParaRPr lang="zh-CN" altLang="en-US">
              <a:sym typeface="+mn-ea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>
                <a:sym typeface="+mn-ea"/>
              </a:rPr>
              <a:t>再通过 </a:t>
            </a:r>
            <a:r>
              <a:rPr lang="en-US" altLang="zh-CN">
                <a:sym typeface="+mn-ea"/>
              </a:rPr>
              <a:t>timing </a:t>
            </a:r>
            <a:r>
              <a:rPr lang="zh-CN" altLang="en-US">
                <a:sym typeface="+mn-ea"/>
              </a:rPr>
              <a:t>观测是否存在可利用的微架构痕迹。</a:t>
            </a:r>
            <a:endParaRPr lang="zh-CN" altLang="en-US">
              <a:sym typeface="+mn-ea"/>
            </a:endParaRPr>
          </a:p>
          <a:p>
            <a:pPr indent="457200">
              <a:buFont typeface="Arial" panose="02080604020202020204" pitchFamily="34" charset="0"/>
              <a:buNone/>
            </a:pPr>
            <a:r>
              <a:rPr lang="zh-CN" altLang="en-US">
                <a:sym typeface="+mn-ea"/>
              </a:rPr>
              <a:t>这条路线本质上是想直接复现实验论文中的攻击效果。</a:t>
            </a:r>
            <a:endParaRPr lang="zh-CN" altLang="en-US">
              <a:sym typeface="+mn-ea"/>
            </a:endParaRPr>
          </a:p>
          <a:p>
            <a:pPr indent="0">
              <a:buFont typeface="Arial" panose="02080604020202020204" pitchFamily="34" charset="0"/>
              <a:buNone/>
            </a:pPr>
            <a:endParaRPr lang="zh-CN" altLang="en-US">
              <a:sym typeface="+mn-ea"/>
            </a:endParaRPr>
          </a:p>
          <a:p>
            <a:pPr indent="0">
              <a:buFont typeface="Arial" panose="02080604020202020204" pitchFamily="34" charset="0"/>
              <a:buNone/>
            </a:pPr>
            <a:r>
              <a:rPr lang="zh-CN" altLang="en-US">
                <a:sym typeface="+mn-ea"/>
              </a:rPr>
              <a:t>问题：</a:t>
            </a:r>
            <a:endParaRPr lang="zh-CN" altLang="en-US">
              <a:sym typeface="+mn-ea"/>
            </a:endParaRPr>
          </a:p>
          <a:p>
            <a:pPr marL="800100" lvl="1" indent="-342900">
              <a:buFont typeface="Arial" panose="02080604020202020204" pitchFamily="34" charset="0"/>
              <a:buAutoNum type="arabicPeriod"/>
            </a:pPr>
            <a:r>
              <a:rPr lang="zh-CN" altLang="en-US"/>
              <a:t>只用 </a:t>
            </a:r>
            <a:r>
              <a:rPr lang="en-US" altLang="zh-CN"/>
              <a:t>rdcycle </a:t>
            </a:r>
            <a:r>
              <a:rPr lang="zh-CN" altLang="en-US"/>
              <a:t>观测时，单次 </a:t>
            </a:r>
            <a:r>
              <a:rPr lang="en-US" altLang="zh-CN"/>
              <a:t>delta </a:t>
            </a:r>
            <a:r>
              <a:rPr lang="zh-CN" altLang="en-US"/>
              <a:t>很小，很难判断看到的是噪声，还是预测结构真的被影响。</a:t>
            </a:r>
            <a:endParaRPr lang="zh-CN" altLang="en-US"/>
          </a:p>
          <a:p>
            <a:pPr marL="800100" lvl="1" indent="-342900">
              <a:buFont typeface="Arial" panose="02080604020202020204" pitchFamily="34" charset="0"/>
              <a:buAutoNum type="arabicPeriod"/>
            </a:pPr>
            <a:r>
              <a:rPr lang="zh-CN" altLang="en-US"/>
              <a:t>不同 </a:t>
            </a:r>
            <a:r>
              <a:rPr lang="en-US" altLang="zh-CN"/>
              <a:t>victim </a:t>
            </a:r>
            <a:r>
              <a:rPr lang="zh-CN" altLang="en-US"/>
              <a:t>指令类型依赖的预测结构不同</a:t>
            </a:r>
            <a:endParaRPr lang="zh-CN" altLang="en-US"/>
          </a:p>
          <a:p>
            <a:pPr marL="1200150" lvl="2" indent="-285750">
              <a:buFont typeface="Arial" panose="02080604020202020204" pitchFamily="34" charset="0"/>
              <a:buChar char="•"/>
            </a:pPr>
            <a:r>
              <a:rPr lang="en-US" altLang="zh-CN"/>
              <a:t>direct </a:t>
            </a:r>
            <a:r>
              <a:rPr lang="zh-CN" altLang="en-US"/>
              <a:t>更偏 </a:t>
            </a:r>
            <a:r>
              <a:rPr lang="en-US" altLang="zh-CN"/>
              <a:t>BTB / target predictor</a:t>
            </a:r>
            <a:endParaRPr lang="en-US" altLang="zh-CN"/>
          </a:p>
          <a:p>
            <a:pPr marL="1200150" lvl="2" indent="-285750">
              <a:buFont typeface="Arial" panose="02080604020202020204" pitchFamily="34" charset="0"/>
              <a:buChar char="•"/>
            </a:pPr>
            <a:r>
              <a:rPr lang="en-US" altLang="zh-CN"/>
              <a:t>conditional </a:t>
            </a:r>
            <a:r>
              <a:rPr lang="zh-CN" altLang="en-US"/>
              <a:t>需要 </a:t>
            </a:r>
            <a:r>
              <a:rPr lang="en-US" altLang="zh-CN"/>
              <a:t>BHT + BTB</a:t>
            </a:r>
            <a:endParaRPr lang="en-US" altLang="zh-CN"/>
          </a:p>
          <a:p>
            <a:pPr marL="1200150" lvl="2" indent="-285750">
              <a:buFont typeface="Arial" panose="02080604020202020204" pitchFamily="34" charset="0"/>
              <a:buChar char="•"/>
            </a:pPr>
            <a:r>
              <a:rPr lang="en-US" altLang="zh-CN"/>
              <a:t>indirect </a:t>
            </a:r>
            <a:r>
              <a:rPr lang="zh-CN" altLang="en-US"/>
              <a:t>需要 </a:t>
            </a:r>
            <a:r>
              <a:rPr lang="en-US" altLang="zh-CN"/>
              <a:t>IBP</a:t>
            </a:r>
            <a:endParaRPr lang="en-US" altLang="zh-CN"/>
          </a:p>
          <a:p>
            <a:pPr marL="1200150" lvl="2" indent="-285750">
              <a:buFont typeface="Arial" panose="02080604020202020204" pitchFamily="34" charset="0"/>
              <a:buChar char="•"/>
            </a:pPr>
            <a:r>
              <a:rPr lang="en-US" altLang="zh-CN"/>
              <a:t>ret </a:t>
            </a:r>
            <a:r>
              <a:rPr lang="zh-CN" altLang="en-US"/>
              <a:t>需要 </a:t>
            </a:r>
            <a:r>
              <a:rPr lang="en-US" altLang="zh-CN"/>
              <a:t>RAS</a:t>
            </a:r>
            <a:endParaRPr lang="en-US" altLang="zh-CN"/>
          </a:p>
          <a:p>
            <a:pPr lvl="0" indent="0">
              <a:buFont typeface="Arial" panose="02080604020202020204" pitchFamily="34" charset="0"/>
              <a:buNone/>
            </a:pPr>
            <a:endParaRPr lang="zh-CN" altLang="en-US">
              <a:ea typeface="SimSun" charset="0"/>
            </a:endParaRPr>
          </a:p>
          <a:p>
            <a:pPr lvl="0" indent="0">
              <a:buFont typeface="Arial" panose="02080604020202020204" pitchFamily="34" charset="0"/>
              <a:buNone/>
            </a:pPr>
            <a:r>
              <a:rPr lang="zh-CN" altLang="en-US">
                <a:ea typeface="SimSun" charset="0"/>
              </a:rPr>
              <a:t>转换方式：</a:t>
            </a:r>
            <a:r>
              <a:rPr lang="zh-CN" altLang="en-US"/>
              <a:t>先逆向 </a:t>
            </a:r>
            <a:r>
              <a:rPr lang="en-US" altLang="zh-CN"/>
              <a:t>BTB / BHT / IBP / RAS </a:t>
            </a:r>
            <a:r>
              <a:rPr lang="zh-CN" altLang="en-US"/>
              <a:t>的 </a:t>
            </a:r>
            <a:r>
              <a:rPr lang="en-US" altLang="zh-CN"/>
              <a:t>index </a:t>
            </a:r>
            <a:r>
              <a:rPr lang="zh-CN" altLang="en-US"/>
              <a:t>与冲突条件，再回头做攻击设计。</a:t>
            </a:r>
            <a:endParaRPr lang="zh-CN" altLang="en-US"/>
          </a:p>
          <a:p>
            <a:pPr indent="457200">
              <a:buFont typeface="Arial" panose="02080604020202020204" pitchFamily="34" charset="0"/>
              <a:buNone/>
            </a:pPr>
            <a:endParaRPr lang="en-US" altLang="zh-CN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perf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分析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BTB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结构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66420" y="865505"/>
            <a:ext cx="10705465" cy="1051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sym typeface="+mn-ea"/>
              </a:rPr>
              <a:t>之前：主要依赖 </a:t>
            </a:r>
            <a:r>
              <a:rPr lang="en-US" altLang="zh-CN">
                <a:sym typeface="+mn-ea"/>
              </a:rPr>
              <a:t>rdcycle----</a:t>
            </a:r>
            <a:r>
              <a:rPr lang="en-US" altLang="zh-CN">
                <a:ea typeface="SimSun" charset="0"/>
                <a:sym typeface="+mn-ea"/>
              </a:rPr>
              <a:t>r</a:t>
            </a:r>
            <a:r>
              <a:rPr lang="en-US" altLang="zh-CN">
                <a:sym typeface="+mn-ea"/>
              </a:rPr>
              <a:t>dcycle </a:t>
            </a:r>
            <a:r>
              <a:rPr lang="zh-CN" altLang="en-US">
                <a:sym typeface="+mn-ea"/>
              </a:rPr>
              <a:t>更接近 </a:t>
            </a:r>
            <a:r>
              <a:rPr lang="en-US" altLang="zh-CN">
                <a:sym typeface="+mn-ea"/>
              </a:rPr>
              <a:t>probe </a:t>
            </a:r>
            <a:r>
              <a:rPr lang="zh-CN" altLang="en-US">
                <a:sym typeface="+mn-ea"/>
              </a:rPr>
              <a:t>单次外部耗时，但差值短、易受噪声影响；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sym typeface="+mn-ea"/>
              </a:rPr>
              <a:t>之后：把 </a:t>
            </a:r>
            <a:r>
              <a:rPr lang="en-US" altLang="zh-CN">
                <a:sym typeface="+mn-ea"/>
              </a:rPr>
              <a:t>perf </a:t>
            </a:r>
            <a:r>
              <a:rPr lang="zh-CN" altLang="en-US">
                <a:sym typeface="+mn-ea"/>
              </a:rPr>
              <a:t>事件作为主要判据</a:t>
            </a:r>
            <a:r>
              <a:rPr lang="en-US" altLang="zh-CN">
                <a:sym typeface="+mn-ea"/>
              </a:rPr>
              <a:t>----perf </a:t>
            </a:r>
            <a:r>
              <a:rPr lang="zh-CN" altLang="en-US">
                <a:sym typeface="+mn-ea"/>
              </a:rPr>
              <a:t>能直接看 </a:t>
            </a:r>
            <a:r>
              <a:rPr lang="en-US" altLang="zh-CN">
                <a:sym typeface="+mn-ea"/>
              </a:rPr>
              <a:t>branch-miss、inst_branch_mispredict、ifu_stalled_cycle </a:t>
            </a:r>
            <a:r>
              <a:rPr lang="zh-CN" altLang="en-US">
                <a:sym typeface="+mn-ea"/>
              </a:rPr>
              <a:t>等统计量，更适合判断“冲突是否真的发生”。</a:t>
            </a:r>
            <a:endParaRPr lang="zh-CN" altLang="en-US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6420" y="2007870"/>
            <a:ext cx="10704830" cy="1121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RTL</a:t>
            </a:r>
            <a:r>
              <a:rPr lang="zh-CN" altLang="en-US">
                <a:ea typeface="SimSun" charset="0"/>
              </a:rPr>
              <a:t>源码描述有歧义：</a:t>
            </a:r>
            <a:endParaRPr lang="zh-CN" altLang="en-US">
              <a:ea typeface="SimSun" charset="0"/>
            </a:endParaRPr>
          </a:p>
          <a:p>
            <a:pPr indent="457200"/>
            <a:r>
              <a:rPr lang="en-US" altLang="zh-CN">
                <a:ea typeface="SimSun" charset="0"/>
              </a:rPr>
              <a:t>BTB index </a:t>
            </a:r>
            <a:r>
              <a:rPr lang="zh-CN" altLang="en-US">
                <a:ea typeface="SimSun" charset="0"/>
              </a:rPr>
              <a:t>候选更像 </a:t>
            </a:r>
            <a:r>
              <a:rPr lang="en-US" altLang="zh-CN">
                <a:ea typeface="SimSun" charset="0"/>
              </a:rPr>
              <a:t>PC[12:3]</a:t>
            </a:r>
            <a:r>
              <a:rPr lang="zh-CN" altLang="en-US">
                <a:ea typeface="SimSun" charset="0"/>
              </a:rPr>
              <a:t>（</a:t>
            </a:r>
            <a:r>
              <a:rPr lang="en-US" altLang="zh-CN">
                <a:ea typeface="SimSun" charset="0"/>
              </a:rPr>
              <a:t>10-bit index</a:t>
            </a:r>
            <a:r>
              <a:rPr lang="zh-CN" altLang="en-US">
                <a:ea typeface="SimSun" charset="0"/>
              </a:rPr>
              <a:t>）</a:t>
            </a:r>
            <a:endParaRPr lang="en-US" altLang="zh-CN">
              <a:ea typeface="SimSun" charset="0"/>
            </a:endParaRPr>
          </a:p>
          <a:p>
            <a:pPr indent="457200"/>
            <a:r>
              <a:rPr lang="zh-CN" altLang="en-US">
                <a:ea typeface="SimSun" charset="0"/>
              </a:rPr>
              <a:t>阵列实例上又存在 9-</a:t>
            </a:r>
            <a:r>
              <a:rPr lang="en-US" altLang="zh-CN">
                <a:ea typeface="SimSun" charset="0"/>
              </a:rPr>
              <a:t>bit row </a:t>
            </a:r>
            <a:r>
              <a:rPr lang="zh-CN" altLang="en-US">
                <a:ea typeface="SimSun" charset="0"/>
              </a:rPr>
              <a:t>的歧义（</a:t>
            </a:r>
            <a:r>
              <a:rPr lang="en-US" altLang="zh-CN">
                <a:ea typeface="SimSun" charset="0"/>
              </a:rPr>
              <a:t> 9-bit row </a:t>
            </a:r>
            <a:r>
              <a:rPr lang="zh-CN" altLang="en-US">
                <a:ea typeface="SimSun" charset="0"/>
              </a:rPr>
              <a:t>真正有效</a:t>
            </a:r>
            <a:r>
              <a:rPr lang="zh-CN" altLang="en-US">
                <a:ea typeface="SimSun" charset="0"/>
              </a:rPr>
              <a:t>）</a:t>
            </a:r>
            <a:endParaRPr lang="zh-CN" altLang="en-US">
              <a:ea typeface="SimSun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70" y="3220085"/>
            <a:ext cx="3924300" cy="2952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875" y="3246120"/>
            <a:ext cx="3743325" cy="2895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523605" y="3129280"/>
            <a:ext cx="3365500" cy="3042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altLang="zh-CN"/>
              <a:t>BTB </a:t>
            </a:r>
            <a:r>
              <a:rPr lang="zh-CN" altLang="en-US"/>
              <a:t>地址冲突实验已经基本做通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en-US" altLang="zh-CN"/>
              <a:t>BTB index </a:t>
            </a:r>
            <a:r>
              <a:rPr lang="zh-CN" altLang="en-US"/>
              <a:t>更像 10-</a:t>
            </a:r>
            <a:r>
              <a:rPr lang="en-US" altLang="zh-CN"/>
              <a:t>bit，</a:t>
            </a:r>
            <a:r>
              <a:rPr lang="zh-CN" altLang="en-US"/>
              <a:t>而不是 9-</a:t>
            </a:r>
            <a:r>
              <a:rPr lang="en-US" altLang="zh-CN"/>
              <a:t>bit row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/>
              <a:t>用户态不仅能构造用户态内部冲突，也能影响内核态 </a:t>
            </a:r>
            <a:r>
              <a:rPr lang="en-US" altLang="zh-CN"/>
              <a:t>BTB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分析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RAS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IBP</a:t>
            </a: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66420" y="865505"/>
            <a:ext cx="10705465" cy="432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80604020202020204" pitchFamily="34" charset="0"/>
              <a:buNone/>
            </a:pPr>
            <a:r>
              <a:rPr lang="en-US" altLang="zh-CN">
                <a:sym typeface="+mn-ea"/>
              </a:rPr>
              <a:t>“BTB </a:t>
            </a:r>
            <a:r>
              <a:rPr lang="zh-CN" altLang="en-US">
                <a:sym typeface="+mn-ea"/>
              </a:rPr>
              <a:t>冲突成功” ≠ “任何 </a:t>
            </a:r>
            <a:r>
              <a:rPr lang="en-US" altLang="zh-CN">
                <a:sym typeface="+mn-ea"/>
              </a:rPr>
              <a:t>victim </a:t>
            </a:r>
            <a:r>
              <a:rPr lang="zh-CN" altLang="en-US">
                <a:sym typeface="+mn-ea"/>
              </a:rPr>
              <a:t>都会出现强前端时间通道”。</a:t>
            </a:r>
            <a:endParaRPr lang="zh-CN" altLang="en-US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" y="1470025"/>
            <a:ext cx="3541395" cy="35236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0545" y="1470025"/>
            <a:ext cx="4766310" cy="352044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57225" y="5292725"/>
            <a:ext cx="10514965" cy="1136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BHT </a:t>
            </a:r>
            <a:r>
              <a:rPr lang="zh-CN" altLang="en-US"/>
              <a:t>的 </a:t>
            </a:r>
            <a:r>
              <a:rPr lang="en-US" altLang="zh-CN"/>
              <a:t>selector </a:t>
            </a:r>
            <a:r>
              <a:rPr lang="zh-CN" altLang="en-US"/>
              <a:t>比较容易做成 </a:t>
            </a:r>
            <a:r>
              <a:rPr lang="en-US" altLang="zh-CN"/>
              <a:t>PC-only </a:t>
            </a:r>
            <a:r>
              <a:rPr lang="zh-CN" altLang="en-US"/>
              <a:t>冲突；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predictor-array </a:t>
            </a:r>
            <a:r>
              <a:rPr lang="zh-CN" altLang="en-US"/>
              <a:t>不能简单套用“纯地址冲突”模型，必须把 </a:t>
            </a:r>
            <a:r>
              <a:rPr lang="en-US" altLang="zh-CN"/>
              <a:t>history / GHR / bank / offset </a:t>
            </a:r>
            <a:r>
              <a:rPr lang="zh-CN" altLang="en-US"/>
              <a:t>一起固定。（准备先分析</a:t>
            </a:r>
            <a:r>
              <a:rPr lang="en-US" altLang="zh-CN"/>
              <a:t>RAS&amp;IBP</a:t>
            </a:r>
            <a:r>
              <a:rPr lang="zh-CN" altLang="en-US"/>
              <a:t>）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IBP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：分析 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jalr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的 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site / history / target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组合索引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&amp;&amp;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设计独立于 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BTB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的 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IBP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微基准</a:t>
            </a:r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RAS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：先做 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ret -&gt; ret baseline&amp;&amp;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再做 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depth overflow / underflow / pollution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重新设计总实验矩阵</a:t>
            </a:r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SLIDE_BACKGROUND_TYPE" val="general"/>
</p:tagLst>
</file>

<file path=ppt/tags/tag8.xml><?xml version="1.0" encoding="utf-8"?>
<p:tagLst xmlns:p="http://schemas.openxmlformats.org/presentationml/2006/main">
  <p:tag name="KSO_WM_SLIDE_BACKGROUND_TYPE" val="general"/>
</p:tagLst>
</file>

<file path=ppt/tags/tag9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1031</Words>
  <Application>WPS 演示</Application>
  <PresentationFormat>宽屏</PresentationFormat>
  <Paragraphs>60</Paragraphs>
  <Slides>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8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Impact</vt:lpstr>
      <vt:lpstr>Ubuntu Condensed</vt:lpstr>
      <vt:lpstr>Times New Roman</vt:lpstr>
      <vt:lpstr>等线 Light</vt:lpstr>
      <vt:lpstr>Gubbi</vt:lpstr>
      <vt:lpstr>等线</vt:lpstr>
      <vt:lpstr>Arial Unicode MS</vt:lpstr>
      <vt:lpstr>SimSun</vt:lpstr>
      <vt:lpstr>Noto Serif CJK SC</vt:lpstr>
      <vt:lpstr>OpenSymbol</vt:lpstr>
      <vt:lpstr>汉仪叶叶相思体简</vt:lpstr>
      <vt:lpstr>-apple-system</vt:lpstr>
      <vt:lpstr>MS PGothic</vt:lpstr>
      <vt:lpstr>Office 主题​​</vt:lpstr>
      <vt:lpstr>组会报告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5712</cp:revision>
  <dcterms:created xsi:type="dcterms:W3CDTF">2026-03-27T11:25:31Z</dcterms:created>
  <dcterms:modified xsi:type="dcterms:W3CDTF">2026-03-27T11:25:31Z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805939020846D8DA7C64C6696359969B_42</vt:lpwstr>
  </property>
  <property fmtid="{D5CDD505-2E9C-101B-9397-08002B2CF9AE}" pid="3" name="KSOProductBuildVer">
    <vt:lpwstr>2052-12.1.2.25838</vt:lpwstr>
  </property>
</Properties>
</file>