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6504" r:id="rId3"/>
    <p:sldId id="6513" r:id="rId4"/>
    <p:sldId id="6515" r:id="rId6"/>
    <p:sldId id="6517" r:id="rId7"/>
    <p:sldId id="6518" r:id="rId8"/>
    <p:sldId id="6514" r:id="rId9"/>
    <p:sldId id="6516" r:id="rId10"/>
  </p:sldIdLst>
  <p:sldSz cx="12192000" cy="6858000"/>
  <p:notesSz cx="6858000" cy="9144000"/>
  <p:custDataLst>
    <p:tags r:id="rId1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iu Tianhang" initials="LT" lastIdx="3" clrIdx="0"/>
  <p:cmAuthor id="1" name="徐 飞" initials="徐" lastIdx="2" clrIdx="0"/>
  <p:cmAuthor id="2" name="作者" initials="A" lastIdx="0" clrIdx="1"/>
  <p:cmAuthor id="3" name="Administrator" initials="A" lastIdx="1" clrIdx="2"/>
  <p:cmAuthor id="4" name="lingyan" initials="l" lastIdx="1" clrIdx="3"/>
  <p:cmAuthor id="5" name="Lenovo" initials="L" lastIdx="1" clrIdx="4"/>
  <p:cmAuthor id="6" name="Daniel L" initials="DL" lastIdx="1" clrIdx="5"/>
  <p:cmAuthor id="8" name="翔 龙" initials="翔龙" lastIdx="0" clrIdx="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81BD"/>
    <a:srgbClr val="0A41FF"/>
    <a:srgbClr val="AED38C"/>
    <a:srgbClr val="A9D18E"/>
    <a:srgbClr val="E2EFD8"/>
    <a:srgbClr val="DAE3F2"/>
    <a:srgbClr val="7B98CB"/>
    <a:srgbClr val="8FAADC"/>
    <a:srgbClr val="E46C0A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0944" autoAdjust="0"/>
  </p:normalViewPr>
  <p:slideViewPr>
    <p:cSldViewPr snapToGrid="0">
      <p:cViewPr varScale="1">
        <p:scale>
          <a:sx n="146" d="100"/>
          <a:sy n="146" d="100"/>
        </p:scale>
        <p:origin x="630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499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gs" Target="tags/tag13.xml"/><Relationship Id="rId14" Type="http://schemas.openxmlformats.org/officeDocument/2006/relationships/commentAuthors" Target="commentAuthors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D0E278-0997-471C-A626-33B24ADD180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FDE018-9361-4A7D-BF1C-A65E4257A2C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en-US" alt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 userDrawn="1">
            <p:custDataLst>
              <p:tags r:id="rId2"/>
            </p:custDataLst>
          </p:nvPr>
        </p:nvSpPr>
        <p:spPr>
          <a:xfrm>
            <a:off x="-8467" y="829629"/>
            <a:ext cx="12208934" cy="92075"/>
          </a:xfrm>
          <a:prstGeom prst="rect">
            <a:avLst/>
          </a:prstGeom>
          <a:solidFill>
            <a:srgbClr val="4F81BD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8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1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wdUpDiag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3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5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7.xml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tags" Target="../tags/tag6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.xml"/><Relationship Id="rId7" Type="http://schemas.openxmlformats.org/officeDocument/2006/relationships/slideLayout" Target="../slideLayouts/slideLayout7.xml"/><Relationship Id="rId6" Type="http://schemas.openxmlformats.org/officeDocument/2006/relationships/tags" Target="../tags/tag9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tags" Target="../tags/tag8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10.xml"/><Relationship Id="rId2" Type="http://schemas.openxmlformats.org/officeDocument/2006/relationships/image" Target="../media/image13.png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12.xml"/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tags" Target="../tags/tag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13608"/>
            <a:ext cx="12192000" cy="24307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8695" y="1624769"/>
            <a:ext cx="11174610" cy="2387600"/>
          </a:xfrm>
        </p:spPr>
        <p:txBody>
          <a:bodyPr/>
          <a:lstStyle/>
          <a:p>
            <a:r>
              <a:rPr lang="zh-CN" altLang="en-US" b="1" dirty="0">
                <a:gradFill>
                  <a:gsLst>
                    <a:gs pos="0">
                      <a:schemeClr val="bg1"/>
                    </a:gs>
                    <a:gs pos="5400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effectLst>
                  <a:glow rad="127000">
                    <a:srgbClr val="0070C0"/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组会报告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02" y="6154295"/>
            <a:ext cx="2222614" cy="533427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2955005" y="5713006"/>
            <a:ext cx="6097190" cy="9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汇报人：刘子豪</a:t>
            </a:r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—2026年04月04日—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7455" y="136994"/>
            <a:ext cx="1734545" cy="100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本周工作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378619" y="930275"/>
            <a:ext cx="525780" cy="368300"/>
          </a:xfrm>
          <a:prstGeom prst="rect">
            <a:avLst/>
          </a:prstGeom>
        </p:spPr>
        <p:txBody>
          <a:bodyPr wrap="none" rtlCol="0">
            <a:spAutoFit/>
          </a:bodyPr>
          <a:p>
            <a:pPr marL="342900" indent="-342900">
              <a:buAutoNum type="arabicPeriod"/>
            </a:pPr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378650" y="757607"/>
            <a:ext cx="11659923" cy="645160"/>
          </a:xfrm>
          <a:prstGeom prst="rect">
            <a:avLst/>
          </a:prstGeom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566420" y="865505"/>
            <a:ext cx="10705465" cy="13017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80604020202020204" pitchFamily="34" charset="0"/>
              <a:buChar char="•"/>
            </a:pPr>
            <a:endParaRPr lang="en-US" altLang="zh-CN"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378460" y="930275"/>
            <a:ext cx="11425555" cy="24034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/>
              <a:t>针对</a:t>
            </a:r>
            <a:r>
              <a:rPr lang="en-US" altLang="zh-CN"/>
              <a:t>RAS</a:t>
            </a:r>
            <a:r>
              <a:rPr lang="zh-CN" altLang="en-US"/>
              <a:t>进行设计 分析了</a:t>
            </a:r>
            <a:r>
              <a:rPr lang="en-US" altLang="zh-CN"/>
              <a:t>RAS</a:t>
            </a:r>
            <a:r>
              <a:rPr lang="zh-CN" altLang="en-US"/>
              <a:t>失效后会有时间惩罚 但我们需要能控制失效后的地址（埋入</a:t>
            </a:r>
            <a:r>
              <a:rPr lang="en-US" altLang="zh-CN"/>
              <a:t>gadget）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根据</a:t>
            </a:r>
            <a:r>
              <a:rPr lang="en-US" altLang="zh-CN"/>
              <a:t>RTL</a:t>
            </a:r>
            <a:r>
              <a:rPr lang="zh-CN" altLang="en-US"/>
              <a:t>源码设计实验 但是无法验证 失败原因：</a:t>
            </a:r>
            <a:endParaRPr lang="zh-CN" altLang="en-US"/>
          </a:p>
          <a:p>
            <a:r>
              <a:rPr lang="zh-CN" altLang="en-US"/>
              <a:t>1. 精确的冲突地址（导致测不准--相当于要冲突</a:t>
            </a:r>
            <a:r>
              <a:rPr lang="en-US" altLang="zh-CN"/>
              <a:t>a </a:t>
            </a:r>
            <a:r>
              <a:rPr lang="zh-CN" altLang="en-US"/>
              <a:t>但是你冲突</a:t>
            </a:r>
            <a:r>
              <a:rPr lang="en-US" altLang="zh-CN"/>
              <a:t>b </a:t>
            </a:r>
            <a:r>
              <a:rPr lang="zh-CN" altLang="en-US"/>
              <a:t>去测</a:t>
            </a:r>
            <a:r>
              <a:rPr lang="en-US" altLang="zh-CN"/>
              <a:t>a </a:t>
            </a:r>
            <a:r>
              <a:rPr lang="zh-CN" altLang="en-US"/>
              <a:t>会不准）</a:t>
            </a:r>
            <a:endParaRPr lang="zh-CN" altLang="en-US"/>
          </a:p>
          <a:p>
            <a:r>
              <a:rPr lang="zh-CN" altLang="en-US"/>
              <a:t>2. 测量方式精度不够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思考是否走不同 重新寻找论文 发现</a:t>
            </a:r>
            <a:r>
              <a:rPr lang="en-US" altLang="zh-CN"/>
              <a:t>riscy cache（cispa Germany）--</a:t>
            </a:r>
            <a:r>
              <a:rPr lang="zh-CN" altLang="en-US"/>
              <a:t>发送邮件询问对方是否考虑过我们的思路</a:t>
            </a:r>
            <a:r>
              <a:rPr lang="en-US" altLang="zh-CN"/>
              <a:t>--</a:t>
            </a:r>
            <a:r>
              <a:rPr lang="zh-CN" altLang="en-US">
                <a:sym typeface="+mn-ea"/>
              </a:rPr>
              <a:t>跑程序 </a:t>
            </a:r>
            <a:r>
              <a:rPr lang="zh-CN" altLang="en-US"/>
              <a:t>发现思路可以使用（理解他们的思路）--重新测试</a:t>
            </a:r>
            <a:r>
              <a:rPr lang="en-US" altLang="zh-CN"/>
              <a:t>RAS underflow</a:t>
            </a:r>
            <a:r>
              <a:rPr lang="zh-CN" altLang="en-US">
                <a:ea typeface="SimSun" charset="0"/>
              </a:rPr>
              <a:t>（可以验证失效后的地址</a:t>
            </a:r>
            <a:r>
              <a:rPr lang="en-US" altLang="zh-CN">
                <a:ea typeface="SimSun" charset="0"/>
              </a:rPr>
              <a:t>fetch</a:t>
            </a:r>
            <a:r>
              <a:rPr lang="zh-CN" altLang="en-US">
                <a:ea typeface="SimSun" charset="0"/>
              </a:rPr>
              <a:t>）</a:t>
            </a:r>
            <a:endParaRPr lang="zh-CN" altLang="en-US">
              <a:ea typeface="SimSun" charset="0"/>
            </a:endParaRPr>
          </a:p>
        </p:txBody>
      </p:sp>
      <p:pic>
        <p:nvPicPr>
          <p:cNvPr id="11" name="图片 10" descr="Screenshot from 2026-04-02 18-53-5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460" y="3333750"/>
            <a:ext cx="8790305" cy="316674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RAS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验证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378619" y="930275"/>
            <a:ext cx="525780" cy="368300"/>
          </a:xfrm>
          <a:prstGeom prst="rect">
            <a:avLst/>
          </a:prstGeom>
        </p:spPr>
        <p:txBody>
          <a:bodyPr wrap="none" rtlCol="0">
            <a:spAutoFit/>
          </a:bodyPr>
          <a:p>
            <a:pPr marL="342900" indent="-342900">
              <a:buAutoNum type="arabicPeriod"/>
            </a:pPr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378650" y="757607"/>
            <a:ext cx="11659923" cy="645160"/>
          </a:xfrm>
          <a:prstGeom prst="rect">
            <a:avLst/>
          </a:prstGeom>
        </p:spPr>
        <p:txBody>
          <a:bodyPr wrap="square" rtlCol="0">
            <a:noAutofit/>
          </a:bodyPr>
          <a:p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865" y="757555"/>
            <a:ext cx="5300345" cy="285559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65" y="3613150"/>
            <a:ext cx="5970270" cy="284861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5616575" y="930910"/>
            <a:ext cx="6351905" cy="810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仅有时间差异不代表可以利用 需要的是失效后预测的位置是我们可以控制的（预测执行不会触发</a:t>
            </a:r>
            <a:r>
              <a:rPr lang="en-US" altLang="zh-CN"/>
              <a:t>fault）</a:t>
            </a:r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6583045" y="3666490"/>
            <a:ext cx="5168265" cy="26904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单纯使用</a:t>
            </a:r>
            <a:r>
              <a:rPr lang="en-US" altLang="zh-CN"/>
              <a:t>rdcycle/perf</a:t>
            </a:r>
            <a:r>
              <a:rPr lang="zh-CN" altLang="en-US">
                <a:ea typeface="SimSun" charset="0"/>
              </a:rPr>
              <a:t>无法证明</a:t>
            </a:r>
            <a:r>
              <a:rPr lang="en-US" altLang="zh-CN">
                <a:ea typeface="SimSun" charset="0"/>
              </a:rPr>
              <a:t>fetch default_vpc</a:t>
            </a:r>
            <a:endParaRPr lang="en-US" altLang="zh-CN">
              <a:ea typeface="SimSun" charset="0"/>
            </a:endParaRPr>
          </a:p>
        </p:txBody>
      </p:sp>
    </p:spTree>
    <p:custDataLst>
      <p:tags r:id="rId5"/>
    </p:custData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RISCY-cache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378619" y="930275"/>
            <a:ext cx="525780" cy="368300"/>
          </a:xfrm>
          <a:prstGeom prst="rect">
            <a:avLst/>
          </a:prstGeom>
        </p:spPr>
        <p:txBody>
          <a:bodyPr wrap="none" rtlCol="0">
            <a:spAutoFit/>
          </a:bodyPr>
          <a:p>
            <a:pPr marL="342900" indent="-342900">
              <a:buAutoNum type="arabicPeriod"/>
            </a:pPr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378650" y="757607"/>
            <a:ext cx="11659923" cy="645160"/>
          </a:xfrm>
          <a:prstGeom prst="rect">
            <a:avLst/>
          </a:prstGeom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566420" y="865505"/>
            <a:ext cx="10705465" cy="13017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80604020202020204" pitchFamily="34" charset="0"/>
              <a:buChar char="•"/>
            </a:pPr>
            <a:endParaRPr lang="en-US" altLang="zh-CN"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80" y="865505"/>
            <a:ext cx="8337550" cy="568007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9775" y="1130935"/>
            <a:ext cx="4948555" cy="174942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8533765" y="3321685"/>
            <a:ext cx="3356610" cy="29660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underflow：</a:t>
            </a:r>
            <a:r>
              <a:rPr lang="zh-CN" altLang="en-US"/>
              <a:t>当没有</a:t>
            </a:r>
            <a:r>
              <a:rPr lang="en-US" altLang="zh-CN"/>
              <a:t>call/call</a:t>
            </a:r>
            <a:r>
              <a:rPr lang="zh-CN" altLang="en-US"/>
              <a:t>次数大于12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返回时对应的</a:t>
            </a:r>
            <a:r>
              <a:rPr lang="en-US" altLang="zh-CN"/>
              <a:t>RAS</a:t>
            </a:r>
            <a:r>
              <a:rPr lang="zh-CN" altLang="en-US"/>
              <a:t>中没有存储对应的地址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触发</a:t>
            </a:r>
            <a:r>
              <a:rPr lang="en-US" altLang="zh-CN"/>
              <a:t>underflow </a:t>
            </a:r>
            <a:r>
              <a:rPr lang="zh-CN" altLang="en-US"/>
              <a:t>去</a:t>
            </a:r>
            <a:r>
              <a:rPr lang="en-US" altLang="zh-CN"/>
              <a:t>default_vpc</a:t>
            </a:r>
            <a:r>
              <a:rPr lang="zh-CN" altLang="en-US"/>
              <a:t>取指</a:t>
            </a:r>
            <a:endParaRPr lang="zh-CN" altLang="en-US"/>
          </a:p>
        </p:txBody>
      </p:sp>
    </p:spTree>
    <p:custDataLst>
      <p:tags r:id="rId5"/>
    </p:custData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实验设计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&amp;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结果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378619" y="930275"/>
            <a:ext cx="525780" cy="368300"/>
          </a:xfrm>
          <a:prstGeom prst="rect">
            <a:avLst/>
          </a:prstGeom>
        </p:spPr>
        <p:txBody>
          <a:bodyPr wrap="none" rtlCol="0">
            <a:spAutoFit/>
          </a:bodyPr>
          <a:p>
            <a:pPr marL="342900" indent="-342900">
              <a:buAutoNum type="arabicPeriod"/>
            </a:pPr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378650" y="757607"/>
            <a:ext cx="11659923" cy="645160"/>
          </a:xfrm>
          <a:prstGeom prst="rect">
            <a:avLst/>
          </a:prstGeom>
        </p:spPr>
        <p:txBody>
          <a:bodyPr wrap="square" rtlCol="0">
            <a:noAutofit/>
          </a:bodyPr>
          <a:p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rcRect r="2831" b="31307"/>
          <a:stretch>
            <a:fillRect/>
          </a:stretch>
        </p:blipFill>
        <p:spPr>
          <a:xfrm>
            <a:off x="546100" y="820420"/>
            <a:ext cx="4885690" cy="202565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100" y="2910840"/>
            <a:ext cx="4963795" cy="3842385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7045" y="1470660"/>
            <a:ext cx="6247130" cy="460248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5" y="3917950"/>
            <a:ext cx="12193270" cy="2940050"/>
          </a:xfrm>
          <a:prstGeom prst="rect">
            <a:avLst/>
          </a:prstGeom>
        </p:spPr>
      </p:pic>
      <p:sp>
        <p:nvSpPr>
          <p:cNvPr id="10" name="Shape 45"/>
          <p:cNvSpPr/>
          <p:nvPr/>
        </p:nvSpPr>
        <p:spPr>
          <a:xfrm>
            <a:off x="-635" y="4758343"/>
            <a:ext cx="12192000" cy="1049005"/>
          </a:xfrm>
          <a:prstGeom prst="rect">
            <a:avLst/>
          </a:prstGeom>
          <a:noFill/>
          <a:ln w="12700">
            <a:noFill/>
            <a:miter lim="400000"/>
          </a:ln>
        </p:spPr>
        <p:txBody>
          <a:bodyPr wrap="square" lIns="34290" tIns="34290" rIns="34290" bIns="34290">
            <a:spAutoFit/>
          </a:bodyPr>
          <a:lstStyle>
            <a:lvl1pPr algn="l" defTabSz="914400">
              <a:defRPr sz="9000" cap="all" spc="1350">
                <a:solidFill>
                  <a:srgbClr val="3766D7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cap="none" spc="0">
                <a:solidFill>
                  <a:srgbClr val="000000"/>
                </a:solidFill>
              </a:defRPr>
            </a:pPr>
            <a:r>
              <a:rPr kumimoji="0" lang="en-US" altLang="zh-CN" sz="5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  <a:sym typeface="Impact" panose="020B0806030902050204"/>
              </a:rPr>
              <a:t>Thanks</a:t>
            </a:r>
            <a:r>
              <a:rPr kumimoji="0" lang="zh-CN" altLang="en-US" sz="5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  <a:sym typeface="Impact" panose="020B0806030902050204"/>
              </a:rPr>
              <a:t>！</a:t>
            </a:r>
            <a:endParaRPr kumimoji="0" lang="zh-CN" altLang="en-US" sz="5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ea typeface="Microsoft YaHei" panose="020B0503020204020204" pitchFamily="34" charset="-122"/>
              <a:cs typeface="Times New Roman" panose="02020603050405020304" pitchFamily="18" charset="0"/>
              <a:sym typeface="Impact" panose="020B0806030902050204"/>
            </a:endParaRPr>
          </a:p>
        </p:txBody>
      </p:sp>
      <p:sp>
        <p:nvSpPr>
          <p:cNvPr id="5" name="标题 1"/>
          <p:cNvSpPr txBox="1">
            <a:spLocks noChangeArrowheads="1"/>
          </p:cNvSpPr>
          <p:nvPr/>
        </p:nvSpPr>
        <p:spPr bwMode="auto">
          <a:xfrm>
            <a:off x="302463" y="149947"/>
            <a:ext cx="3449964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dirty="0">
                <a:solidFill>
                  <a:srgbClr val="00539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工作计划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38716" y="1205626"/>
            <a:ext cx="9381259" cy="5441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 algn="l">
              <a:lnSpc>
                <a:spcPct val="150000"/>
              </a:lnSpc>
              <a:buAutoNum type="arabicPeriod"/>
            </a:pP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实验设计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378619" y="930275"/>
            <a:ext cx="525780" cy="368300"/>
          </a:xfrm>
          <a:prstGeom prst="rect">
            <a:avLst/>
          </a:prstGeom>
        </p:spPr>
        <p:txBody>
          <a:bodyPr wrap="none" rtlCol="0">
            <a:spAutoFit/>
          </a:bodyPr>
          <a:p>
            <a:pPr marL="342900" indent="-342900">
              <a:buAutoNum type="arabicPeriod"/>
            </a:pPr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378650" y="757607"/>
            <a:ext cx="11659923" cy="645160"/>
          </a:xfrm>
          <a:prstGeom prst="rect">
            <a:avLst/>
          </a:prstGeom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566420" y="865505"/>
            <a:ext cx="10705465" cy="13017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80604020202020204" pitchFamily="34" charset="0"/>
              <a:buChar char="•"/>
            </a:pPr>
            <a:endParaRPr lang="en-US" altLang="zh-CN"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05" y="1001395"/>
            <a:ext cx="11723370" cy="521970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p:transition/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SLIDE_BACKGROUND_TYPE" val="general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SLIDE_BACKGROUND_TYPE" val="general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SLIDE_BACKGROUND_TYPE" val="general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SLIDE_BACKGROUND_TYPE" val="general"/>
</p:tagLst>
</file>

<file path=ppt/tags/tag10.xml><?xml version="1.0" encoding="utf-8"?>
<p:tagLst xmlns:p="http://schemas.openxmlformats.org/presentationml/2006/main">
  <p:tag name="KSO_WM_SLIDE_BACKGROUND_TYPE" val="general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SLIDE_BACKGROUND_TYPE" val="general"/>
</p:tagLst>
</file>

<file path=ppt/tags/tag13.xml><?xml version="1.0" encoding="utf-8"?>
<p:tagLst xmlns:p="http://schemas.openxmlformats.org/presentationml/2006/main">
  <p:tag name="RESOURCE_RECORD_KEY" val="{&quot;65&quot;:[20229149],&quot;70&quot;:[3319068,3312407]}"/>
  <p:tag name="COMMONDATA" val="eyJoZGlkIjoiMWE2MmRiMDAwMTc4ZmUxYjI2MjMwNzljODhkYTA0MzA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478</Words>
  <Application>WPS 演示</Application>
  <PresentationFormat>宽屏</PresentationFormat>
  <Paragraphs>48</Paragraphs>
  <Slides>7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7" baseType="lpstr">
      <vt:lpstr>Arial</vt:lpstr>
      <vt:lpstr>SimSun</vt:lpstr>
      <vt:lpstr>Wingdings</vt:lpstr>
      <vt:lpstr>DejaVu Sans</vt:lpstr>
      <vt:lpstr>Microsoft YaHei</vt:lpstr>
      <vt:lpstr>Droid Sans Fallback</vt:lpstr>
      <vt:lpstr>Calibri</vt:lpstr>
      <vt:lpstr>Arial</vt:lpstr>
      <vt:lpstr>Calibri</vt:lpstr>
      <vt:lpstr>Impact</vt:lpstr>
      <vt:lpstr>Ubuntu Condensed</vt:lpstr>
      <vt:lpstr>Times New Roman</vt:lpstr>
      <vt:lpstr>等线 Light</vt:lpstr>
      <vt:lpstr>Gubbi</vt:lpstr>
      <vt:lpstr>等线</vt:lpstr>
      <vt:lpstr>Arial Unicode MS</vt:lpstr>
      <vt:lpstr>SimSun</vt:lpstr>
      <vt:lpstr>Noto Serif CJK SC</vt:lpstr>
      <vt:lpstr>OpenSymbol</vt:lpstr>
      <vt:lpstr>Office 主题​​</vt:lpstr>
      <vt:lpstr>组会报告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微电子研究院科研工作汇报</dc:title>
  <dc:creator>Bruce Andy</dc:creator>
  <cp:lastModifiedBy>刘子豪</cp:lastModifiedBy>
  <cp:revision>5715</cp:revision>
  <dcterms:created xsi:type="dcterms:W3CDTF">2026-04-02T17:46:12Z</dcterms:created>
  <dcterms:modified xsi:type="dcterms:W3CDTF">2026-04-02T17:46:12Z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A4DFC26897667F3FB0A4CE691B0FE483_42</vt:lpwstr>
  </property>
  <property fmtid="{D5CDD505-2E9C-101B-9397-08002B2CF9AE}" pid="3" name="KSOProductBuildVer">
    <vt:lpwstr>2052-12.1.2.25838</vt:lpwstr>
  </property>
</Properties>
</file>