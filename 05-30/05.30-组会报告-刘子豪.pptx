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6504" r:id="rId3"/>
    <p:sldId id="6526" r:id="rId4"/>
    <p:sldId id="6529" r:id="rId6"/>
    <p:sldId id="6531" r:id="rId7"/>
  </p:sldIdLst>
  <p:sldSz cx="12192000" cy="6858000"/>
  <p:notesSz cx="6858000" cy="9144000"/>
  <p:custDataLst>
    <p:tags r:id="rId1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Liu Tianhang" initials="LT" lastIdx="3" clrIdx="0"/>
  <p:cmAuthor id="1" name="徐 飞" initials="徐" lastIdx="2" clrIdx="0"/>
  <p:cmAuthor id="2" name="作者" initials="A" lastIdx="0" clrIdx="1"/>
  <p:cmAuthor id="3" name="Administrator" initials="A" lastIdx="1" clrIdx="2"/>
  <p:cmAuthor id="4" name="lingyan" initials="l" lastIdx="1" clrIdx="3"/>
  <p:cmAuthor id="5" name="Lenovo" initials="L" lastIdx="1" clrIdx="4"/>
  <p:cmAuthor id="6" name="Daniel L" initials="DL" lastIdx="1" clrIdx="5"/>
  <p:cmAuthor id="8" name="翔 龙" initials="翔龙" lastIdx="0" clrIdx="7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F81BD"/>
    <a:srgbClr val="0A41FF"/>
    <a:srgbClr val="AED38C"/>
    <a:srgbClr val="A9D18E"/>
    <a:srgbClr val="E2EFD8"/>
    <a:srgbClr val="DAE3F2"/>
    <a:srgbClr val="7B98CB"/>
    <a:srgbClr val="8FAADC"/>
    <a:srgbClr val="E46C0A"/>
    <a:srgbClr val="1F497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0944" autoAdjust="0"/>
  </p:normalViewPr>
  <p:slideViewPr>
    <p:cSldViewPr snapToGrid="0">
      <p:cViewPr varScale="1">
        <p:scale>
          <a:sx n="146" d="100"/>
          <a:sy n="146" d="100"/>
        </p:scale>
        <p:origin x="630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122" d="100"/>
          <a:sy n="122" d="100"/>
        </p:scale>
        <p:origin x="4998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2" Type="http://schemas.openxmlformats.org/officeDocument/2006/relationships/tags" Target="tags/tag9.xml"/><Relationship Id="rId11" Type="http://schemas.openxmlformats.org/officeDocument/2006/relationships/commentAuthors" Target="commentAuthors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D0E278-0997-471C-A626-33B24ADD180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FDE018-9361-4A7D-BF1C-A65E4257A2C8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</a:pPr>
            <a:endParaRPr lang="zh-CN" alt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 userDrawn="1">
            <p:custDataLst>
              <p:tags r:id="rId2"/>
            </p:custDataLst>
          </p:nvPr>
        </p:nvSpPr>
        <p:spPr>
          <a:xfrm>
            <a:off x="-8467" y="829629"/>
            <a:ext cx="12208934" cy="92075"/>
          </a:xfrm>
          <a:prstGeom prst="rect">
            <a:avLst/>
          </a:prstGeom>
          <a:solidFill>
            <a:srgbClr val="4F81BD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80604020202020204" pitchFamily="34" charset="0"/>
              <a:buNone/>
              <a:defRPr/>
            </a:pPr>
            <a:endParaRPr kumimoji="0" lang="zh-CN" altLang="en-US" sz="1800" b="0" i="0" u="none" strike="noStrike" kern="1200" cap="none" spc="0" normalizeH="0" baseline="0" noProof="1">
              <a:ln>
                <a:noFill/>
              </a:ln>
              <a:solidFill>
                <a:schemeClr val="lt1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wdUpDiag">
          <a:fgClr>
            <a:schemeClr val="bg1">
              <a:lumMod val="95000"/>
            </a:schemeClr>
          </a:fgClr>
          <a:bgClr>
            <a:schemeClr val="bg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二级</a:t>
            </a:r>
            <a:endParaRPr lang="zh-CN" altLang="en-US"/>
          </a:p>
          <a:p>
            <a:pPr lvl="2"/>
            <a:r>
              <a:rPr lang="zh-CN" altLang="en-US"/>
              <a:t>三级</a:t>
            </a:r>
            <a:endParaRPr lang="zh-CN" altLang="en-US"/>
          </a:p>
          <a:p>
            <a:pPr lvl="3"/>
            <a:r>
              <a:rPr lang="zh-CN" altLang="en-US"/>
              <a:t>四级</a:t>
            </a:r>
            <a:endParaRPr lang="zh-CN" altLang="en-US"/>
          </a:p>
          <a:p>
            <a:pPr lvl="4"/>
            <a:r>
              <a:rPr lang="zh-CN" altLang="en-US"/>
              <a:t>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7E02E10-5295-4B60-8D9B-82AC9DBDB524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9326DE-B771-4392-A08B-AE076E87AAB9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3.xml"/><Relationship Id="rId5" Type="http://schemas.openxmlformats.org/officeDocument/2006/relationships/image" Target="../media/image7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ags" Target="../tags/tag2.xml"/></Relationships>
</file>

<file path=ppt/slides/_rels/slide3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2.xml"/><Relationship Id="rId6" Type="http://schemas.openxmlformats.org/officeDocument/2006/relationships/slideLayout" Target="../slideLayouts/slideLayout7.xml"/><Relationship Id="rId5" Type="http://schemas.openxmlformats.org/officeDocument/2006/relationships/tags" Target="../tags/tag5.xml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tags" Target="../tags/tag4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7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tags" Target="../tags/tag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2213608"/>
            <a:ext cx="12192000" cy="2430784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508695" y="1624769"/>
            <a:ext cx="11174610" cy="2387600"/>
          </a:xfrm>
        </p:spPr>
        <p:txBody>
          <a:bodyPr/>
          <a:lstStyle/>
          <a:p>
            <a:r>
              <a:rPr lang="zh-CN" altLang="en-US" b="1" dirty="0">
                <a:gradFill>
                  <a:gsLst>
                    <a:gs pos="0">
                      <a:schemeClr val="bg1"/>
                    </a:gs>
                    <a:gs pos="54000">
                      <a:schemeClr val="bg1">
                        <a:lumMod val="85000"/>
                      </a:schemeClr>
                    </a:gs>
                    <a:gs pos="100000">
                      <a:schemeClr val="bg1"/>
                    </a:gs>
                  </a:gsLst>
                  <a:lin ang="5400000" scaled="1"/>
                </a:gradFill>
                <a:effectLst>
                  <a:glow rad="127000">
                    <a:srgbClr val="0070C0"/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  <a:sym typeface="+mn-ea"/>
              </a:rPr>
              <a:t>组会报告</a:t>
            </a:r>
            <a:endParaRPr lang="zh-CN" altLang="en-US" dirty="0"/>
          </a:p>
        </p:txBody>
      </p:sp>
      <p:pic>
        <p:nvPicPr>
          <p:cNvPr id="5" name="图片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002" y="6154295"/>
            <a:ext cx="2222614" cy="533427"/>
          </a:xfrm>
          <a:prstGeom prst="rect">
            <a:avLst/>
          </a:prstGeom>
        </p:spPr>
      </p:pic>
      <p:sp>
        <p:nvSpPr>
          <p:cNvPr id="10" name="文本框 9"/>
          <p:cNvSpPr txBox="1"/>
          <p:nvPr/>
        </p:nvSpPr>
        <p:spPr>
          <a:xfrm>
            <a:off x="2955005" y="5713006"/>
            <a:ext cx="6097190" cy="922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汇报人：刘子豪</a:t>
            </a:r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endParaRPr lang="en-US" altLang="zh-CN" b="1" dirty="0">
              <a:solidFill>
                <a:srgbClr val="0070C0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algn="ctr"/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—2026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年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06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月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04</a:t>
            </a:r>
            <a:r>
              <a:rPr lang="zh-CN" altLang="en-US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日</a:t>
            </a:r>
            <a:r>
              <a:rPr lang="en-US" altLang="zh-CN" b="1" dirty="0">
                <a:solidFill>
                  <a:srgbClr val="0070C0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Microsoft YaHei" panose="020B0503020204020204" pitchFamily="34" charset="-122"/>
                <a:ea typeface="Microsoft YaHei" panose="020B0503020204020204" pitchFamily="34" charset="-122"/>
              </a:rPr>
              <a:t>—</a:t>
            </a:r>
            <a:endParaRPr lang="zh-CN" altLang="en-US" dirty="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7455" y="136994"/>
            <a:ext cx="1734545" cy="100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链路分析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370" y="971550"/>
            <a:ext cx="1975485" cy="5451475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551815" y="6471920"/>
            <a:ext cx="10079355" cy="21272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1200"/>
              <a:t>主要聚焦于非侵入式</a:t>
            </a:r>
            <a:r>
              <a:rPr lang="en-US" altLang="zh-CN" sz="1200"/>
              <a:t>BCI-EEG</a:t>
            </a:r>
            <a:endParaRPr lang="en-US" altLang="zh-CN" sz="1200"/>
          </a:p>
        </p:txBody>
      </p:sp>
      <p:pic>
        <p:nvPicPr>
          <p:cNvPr id="18" name="图片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170" y="971550"/>
            <a:ext cx="5704840" cy="2437765"/>
          </a:xfrm>
          <a:prstGeom prst="rect">
            <a:avLst/>
          </a:prstGeom>
        </p:spPr>
      </p:pic>
      <p:pic>
        <p:nvPicPr>
          <p:cNvPr id="22" name="图片 2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30170" y="3463925"/>
            <a:ext cx="5704840" cy="2144395"/>
          </a:xfrm>
          <a:prstGeom prst="rect">
            <a:avLst/>
          </a:prstGeom>
        </p:spPr>
      </p:pic>
      <p:sp>
        <p:nvSpPr>
          <p:cNvPr id="23" name="文本框 22"/>
          <p:cNvSpPr txBox="1"/>
          <p:nvPr/>
        </p:nvSpPr>
        <p:spPr>
          <a:xfrm>
            <a:off x="8569325" y="971550"/>
            <a:ext cx="3152775" cy="49403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数据预处理、特征提取、</a:t>
            </a:r>
            <a:r>
              <a:rPr lang="en-US" altLang="zh-CN">
                <a:ea typeface="SimSun" charset="0"/>
              </a:rPr>
              <a:t>decode</a:t>
            </a:r>
            <a:r>
              <a:rPr lang="zh-CN" altLang="en-US">
                <a:ea typeface="SimSun" charset="0"/>
              </a:rPr>
              <a:t>均在传统</a:t>
            </a:r>
            <a:r>
              <a:rPr lang="en-US" altLang="zh-CN">
                <a:ea typeface="SimSun" charset="0"/>
              </a:rPr>
              <a:t>x86PC/workstation</a:t>
            </a:r>
            <a:r>
              <a:rPr lang="zh-CN" altLang="en-US">
                <a:ea typeface="SimSun" charset="0"/>
              </a:rPr>
              <a:t>进行</a:t>
            </a:r>
            <a:r>
              <a:rPr lang="en-US" altLang="zh-CN">
                <a:ea typeface="SimSun" charset="0"/>
              </a:rPr>
              <a:t>;</a:t>
            </a:r>
            <a:endParaRPr lang="en-US" altLang="zh-CN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安全问题多与</a:t>
            </a:r>
            <a:r>
              <a:rPr lang="en-US" altLang="zh-CN">
                <a:ea typeface="SimSun" charset="0"/>
              </a:rPr>
              <a:t>AI/DL</a:t>
            </a:r>
            <a:r>
              <a:rPr lang="zh-CN" altLang="en-US">
                <a:ea typeface="SimSun" charset="0"/>
              </a:rPr>
              <a:t>模型相关（数据投毒</a:t>
            </a:r>
            <a:r>
              <a:rPr lang="en-US" altLang="zh-CN">
                <a:ea typeface="SimSun" charset="0"/>
              </a:rPr>
              <a:t>etc</a:t>
            </a:r>
            <a:r>
              <a:rPr lang="zh-CN" altLang="en-US">
                <a:ea typeface="SimSun" charset="0"/>
              </a:rPr>
              <a:t>），如果考虑微架构，则可以考虑从向量计算指令</a:t>
            </a:r>
            <a:r>
              <a:rPr lang="en-US" altLang="zh-CN">
                <a:ea typeface="SimSun" charset="0"/>
              </a:rPr>
              <a:t>/GPU</a:t>
            </a:r>
            <a:r>
              <a:rPr lang="zh-CN" altLang="en-US">
                <a:ea typeface="SimSun" charset="0"/>
              </a:rPr>
              <a:t>切入，看是否会出现问题导致用户</a:t>
            </a:r>
            <a:r>
              <a:rPr lang="en-US" altLang="zh-CN">
                <a:ea typeface="SimSun" charset="0"/>
              </a:rPr>
              <a:t>EEG</a:t>
            </a:r>
            <a:r>
              <a:rPr lang="zh-CN" altLang="en-US">
                <a:ea typeface="SimSun" charset="0"/>
              </a:rPr>
              <a:t>数据泄漏</a:t>
            </a:r>
            <a:r>
              <a:rPr lang="en-US" altLang="zh-CN">
                <a:ea typeface="SimSun" charset="0"/>
              </a:rPr>
              <a:t>;</a:t>
            </a:r>
            <a:endParaRPr lang="en-US" altLang="zh-CN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en-US" altLang="zh-CN">
                <a:ea typeface="SimSun" charset="0"/>
              </a:rPr>
              <a:t>Decode</a:t>
            </a:r>
            <a:r>
              <a:rPr lang="zh-CN" altLang="en-US">
                <a:ea typeface="SimSun" charset="0"/>
              </a:rPr>
              <a:t>阶段安全问题注重隐私保护</a:t>
            </a:r>
            <a:r>
              <a:rPr lang="en-US" altLang="zh-CN">
                <a:ea typeface="SimSun" charset="0"/>
              </a:rPr>
              <a:t>- Source-free domain adaptation;</a:t>
            </a:r>
            <a:endParaRPr lang="en-US" altLang="zh-CN">
              <a:ea typeface="SimSun" charset="0"/>
            </a:endParaRPr>
          </a:p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加解密使用的是传统的方法，攻击只能从传统路径出发。</a:t>
            </a:r>
            <a:endParaRPr lang="zh-CN" altLang="en-US">
              <a:ea typeface="SimSun" charset="0"/>
            </a:endParaRPr>
          </a:p>
        </p:txBody>
      </p:sp>
    </p:spTree>
    <p:custDataLst>
      <p:tags r:id="rId6"/>
    </p:custData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数据特点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&amp;&amp;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想法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24" name="图片 2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420" y="971550"/>
            <a:ext cx="6200775" cy="1416685"/>
          </a:xfrm>
          <a:prstGeom prst="rect">
            <a:avLst/>
          </a:prstGeom>
        </p:spPr>
      </p:pic>
      <p:pic>
        <p:nvPicPr>
          <p:cNvPr id="3" name="图片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9420" y="2438400"/>
            <a:ext cx="6200140" cy="1630680"/>
          </a:xfrm>
          <a:prstGeom prst="rect">
            <a:avLst/>
          </a:prstGeom>
        </p:spPr>
      </p:pic>
      <p:sp>
        <p:nvSpPr>
          <p:cNvPr id="5" name="文本框 4"/>
          <p:cNvSpPr txBox="1"/>
          <p:nvPr/>
        </p:nvSpPr>
        <p:spPr>
          <a:xfrm>
            <a:off x="6870065" y="2079625"/>
            <a:ext cx="4752975" cy="70421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主要安全问题就是数据隐私，如果考虑侵入式就要考虑闭环的控制。</a:t>
            </a:r>
            <a:endParaRPr lang="zh-CN" altLang="en-US">
              <a:ea typeface="SimSun" charset="0"/>
            </a:endParaRPr>
          </a:p>
        </p:txBody>
      </p:sp>
      <p:sp>
        <p:nvSpPr>
          <p:cNvPr id="6" name="文本框 5"/>
          <p:cNvSpPr txBox="1"/>
          <p:nvPr/>
        </p:nvSpPr>
        <p:spPr>
          <a:xfrm>
            <a:off x="439420" y="4172585"/>
            <a:ext cx="11071860" cy="224028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en-US" altLang="zh-CN"/>
              <a:t>Cross-Subject → Foundation Model/LLM Agent </a:t>
            </a:r>
            <a:r>
              <a:rPr lang="zh-CN" altLang="en-US"/>
              <a:t>带来的安全问题：</a:t>
            </a:r>
            <a:endParaRPr lang="zh-CN" altLang="en-US"/>
          </a:p>
          <a:p>
            <a:pPr marL="800100" lvl="1" indent="-342900">
              <a:buAutoNum type="arabicPeriod"/>
            </a:pPr>
            <a:r>
              <a:rPr lang="zh-CN" altLang="en-US"/>
              <a:t>模型相关：模型参数</a:t>
            </a:r>
            <a:r>
              <a:rPr lang="en-US" altLang="zh-CN"/>
              <a:t>/Prompt</a:t>
            </a:r>
            <a:r>
              <a:rPr lang="zh-CN" altLang="en-US"/>
              <a:t>、隐私数据、数据污染、</a:t>
            </a:r>
            <a:r>
              <a:rPr lang="en-US" altLang="zh-CN"/>
              <a:t>Agent</a:t>
            </a:r>
            <a:r>
              <a:rPr lang="zh-CN" altLang="en-US">
                <a:ea typeface="SimSun" charset="0"/>
              </a:rPr>
              <a:t>错误问题，该方向如何与硬件结合（加速器的安全、模型运行时微架构漏洞）？</a:t>
            </a:r>
            <a:endParaRPr lang="zh-CN" altLang="en-US">
              <a:ea typeface="SimSun" charset="0"/>
            </a:endParaRPr>
          </a:p>
          <a:p>
            <a:pPr marL="800100" lvl="1" indent="-342900">
              <a:buAutoNum type="arabicPeriod"/>
            </a:pPr>
            <a:r>
              <a:rPr lang="en-US" altLang="zh-CN">
                <a:ea typeface="SimSun" charset="0"/>
              </a:rPr>
              <a:t>Source Free Domain Adaption≠ Privacy-Preserving</a:t>
            </a:r>
            <a:r>
              <a:rPr lang="zh-CN" altLang="en-US">
                <a:ea typeface="SimSun" charset="0"/>
              </a:rPr>
              <a:t>，这个方向是否值得探索，在</a:t>
            </a:r>
            <a:r>
              <a:rPr lang="en-US" altLang="zh-CN">
                <a:ea typeface="SimSun" charset="0"/>
              </a:rPr>
              <a:t>SFDA</a:t>
            </a:r>
            <a:r>
              <a:rPr lang="zh-CN" altLang="en-US">
                <a:ea typeface="SimSun" charset="0"/>
              </a:rPr>
              <a:t>基础做安全的保护？</a:t>
            </a:r>
            <a:endParaRPr lang="zh-CN" altLang="en-US">
              <a:ea typeface="SimSun" charset="0"/>
            </a:endParaRPr>
          </a:p>
          <a:p>
            <a:pPr marL="342900" lvl="0" indent="-342900">
              <a:buAutoNum type="arabicPeriod"/>
            </a:pPr>
            <a:r>
              <a:rPr lang="zh-CN" altLang="en-US">
                <a:ea typeface="SimSun" charset="0"/>
              </a:rPr>
              <a:t>基于整个数据处理链路进行模糊测试，面对合理扰动、异常</a:t>
            </a:r>
            <a:r>
              <a:rPr lang="en-US" altLang="zh-CN">
                <a:ea typeface="SimSun" charset="0"/>
              </a:rPr>
              <a:t>metadata、</a:t>
            </a:r>
            <a:r>
              <a:rPr lang="zh-CN" altLang="en-US">
                <a:ea typeface="SimSun" charset="0"/>
              </a:rPr>
              <a:t>配置变化时，是否会产生错误</a:t>
            </a:r>
            <a:r>
              <a:rPr lang="en-US" altLang="zh-CN">
                <a:ea typeface="SimSun" charset="0"/>
              </a:rPr>
              <a:t>decode、</a:t>
            </a:r>
            <a:r>
              <a:rPr lang="zh-CN" altLang="en-US">
                <a:ea typeface="SimSun" charset="0"/>
              </a:rPr>
              <a:t>隐私泄露、</a:t>
            </a:r>
            <a:r>
              <a:rPr lang="en-US" altLang="zh-CN">
                <a:ea typeface="SimSun" charset="0"/>
              </a:rPr>
              <a:t>NaN、</a:t>
            </a:r>
            <a:r>
              <a:rPr lang="zh-CN" altLang="en-US">
                <a:ea typeface="SimSun" charset="0"/>
              </a:rPr>
              <a:t>延迟异常或未检测到的完整性错误。</a:t>
            </a:r>
            <a:endParaRPr lang="zh-CN" altLang="en-US">
              <a:ea typeface="SimSun" charset="0"/>
            </a:endParaRPr>
          </a:p>
        </p:txBody>
      </p:sp>
    </p:spTree>
    <p:custDataLst>
      <p:tags r:id="rId5"/>
    </p:custDataLst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标题 1"/>
          <p:cNvSpPr txBox="1">
            <a:spLocks noChangeArrowheads="1"/>
          </p:cNvSpPr>
          <p:nvPr/>
        </p:nvSpPr>
        <p:spPr bwMode="auto">
          <a:xfrm>
            <a:off x="205105" y="126003"/>
            <a:ext cx="8739868" cy="739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lnSpc>
                <a:spcPct val="90000"/>
              </a:lnSpc>
              <a:spcBef>
                <a:spcPts val="1000"/>
              </a:spcBef>
              <a:buFont typeface="Arial" panose="0208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defTabSz="4572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80604020202020204" pitchFamily="34" charset="0"/>
              <a:buChar char="•"/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eaLnBrk="1" hangingPunct="1">
              <a:lnSpc>
                <a:spcPct val="100000"/>
              </a:lnSpc>
              <a:spcBef>
                <a:spcPct val="0"/>
              </a:spcBef>
              <a:buFontTx/>
              <a:buNone/>
            </a:pPr>
            <a:r>
              <a:rPr 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BCI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调研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-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可穿戴</a:t>
            </a:r>
            <a:r>
              <a:rPr lang="en-US" altLang="zh-CN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/</a:t>
            </a:r>
            <a:r>
              <a:rPr lang="zh-CN" altLang="en-US" sz="3200" b="1" noProof="0" dirty="0">
                <a:ln>
                  <a:noFill/>
                </a:ln>
                <a:solidFill>
                  <a:srgbClr val="005390"/>
                </a:solidFill>
                <a:effectLst/>
                <a:uLnTx/>
                <a:uFillTx/>
                <a:latin typeface="Microsoft YaHei" panose="020B0503020204020204" pitchFamily="34" charset="-122"/>
                <a:ea typeface="Microsoft YaHei" panose="020B0503020204020204" pitchFamily="34" charset="-122"/>
                <a:cs typeface="Arial" panose="020B0604020202020204"/>
              </a:rPr>
              <a:t>实时场景</a:t>
            </a:r>
            <a:endParaRPr lang="zh-CN" altLang="en-US" sz="3200" b="1" noProof="0" dirty="0">
              <a:ln>
                <a:noFill/>
              </a:ln>
              <a:solidFill>
                <a:srgbClr val="005390"/>
              </a:solidFill>
              <a:effectLst/>
              <a:uLnTx/>
              <a:uFillTx/>
              <a:latin typeface="Microsoft YaHei" panose="020B0503020204020204" pitchFamily="34" charset="-122"/>
              <a:ea typeface="Microsoft YaHei" panose="020B0503020204020204" pitchFamily="34" charset="-122"/>
              <a:cs typeface="Arial" panose="020B0604020202020204"/>
            </a:endParaRPr>
          </a:p>
        </p:txBody>
      </p:sp>
      <p:sp>
        <p:nvSpPr>
          <p:cNvPr id="10" name="圆角矩形 10"/>
          <p:cNvSpPr/>
          <p:nvPr/>
        </p:nvSpPr>
        <p:spPr>
          <a:xfrm>
            <a:off x="195492" y="757646"/>
            <a:ext cx="11843057" cy="5978693"/>
          </a:xfrm>
          <a:prstGeom prst="roundRect">
            <a:avLst>
              <a:gd name="adj" fmla="val 6425"/>
            </a:avLst>
          </a:prstGeom>
          <a:noFill/>
          <a:ln w="12700">
            <a:solidFill>
              <a:srgbClr val="186299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灯片编号占位符 2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5BC209CA-FF8A-4D78-A092-BF740142CE1C}" type="slidenum">
              <a:rPr kumimoji="0" lang="zh-CN" altLang="en-US" sz="16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SimSun" pitchFamily="2" charset="-122"/>
                <a:cs typeface="+mn-cs"/>
              </a:rPr>
            </a:fld>
            <a:endParaRPr kumimoji="0" lang="zh-CN" alt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SimSun" pitchFamily="2" charset="-122"/>
              <a:cs typeface="+mn-cs"/>
            </a:endParaRPr>
          </a:p>
        </p:txBody>
      </p:sp>
      <p:pic>
        <p:nvPicPr>
          <p:cNvPr id="7" name="图片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65548" y="194416"/>
            <a:ext cx="2223989" cy="49579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7190" y="865505"/>
            <a:ext cx="4253230" cy="812800"/>
          </a:xfrm>
          <a:prstGeom prst="rect">
            <a:avLst/>
          </a:prstGeom>
        </p:spPr>
      </p:pic>
      <p:pic>
        <p:nvPicPr>
          <p:cNvPr id="2" name="图片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75580" y="863600"/>
            <a:ext cx="4264025" cy="814705"/>
          </a:xfrm>
          <a:prstGeom prst="rect">
            <a:avLst/>
          </a:prstGeom>
        </p:spPr>
      </p:pic>
      <p:graphicFrame>
        <p:nvGraphicFramePr>
          <p:cNvPr id="4" name="表格 3"/>
          <p:cNvGraphicFramePr/>
          <p:nvPr>
            <p:custDataLst>
              <p:tags r:id="rId5"/>
            </p:custDataLst>
          </p:nvPr>
        </p:nvGraphicFramePr>
        <p:xfrm>
          <a:off x="377190" y="1851660"/>
          <a:ext cx="11049000" cy="25685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  <a:gridCol w="2209800"/>
                <a:gridCol w="2209800"/>
                <a:gridCol w="2209800"/>
              </a:tblGrid>
              <a:tr h="662940">
                <a:tc>
                  <a:txBody>
                    <a:bodyPr/>
                    <a:p>
                      <a:r>
                        <a:rPr lang="zh-CN" altLang="en-US" sz="1100"/>
                        <a:t>论文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主要内容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对实时</a:t>
                      </a:r>
                      <a:r>
                        <a:rPr lang="en-US" altLang="zh-CN" sz="1100"/>
                        <a:t>/</a:t>
                      </a:r>
                      <a:r>
                        <a:rPr lang="zh-CN" altLang="en-US" sz="1100"/>
                        <a:t>可穿戴</a:t>
                      </a:r>
                      <a:r>
                        <a:rPr lang="en-US" altLang="zh-CN" sz="1100"/>
                        <a:t>BCI</a:t>
                      </a:r>
                      <a:r>
                        <a:rPr lang="zh-CN" altLang="en-US" sz="1100"/>
                        <a:t>的启示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潜在安全问题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安全硬件机会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000">
                <a:tc>
                  <a:txBody>
                    <a:bodyPr/>
                    <a:p>
                      <a:r>
                        <a:rPr lang="en-US" altLang="zh-CN" sz="1100"/>
                        <a:t>NeurIPS'25 REFED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EEG+fNIRS </a:t>
                      </a:r>
                      <a:r>
                        <a:rPr lang="zh-CN" altLang="en-US" sz="1100"/>
                        <a:t>多模态实时情绪数据集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多模态可穿戴 </a:t>
                      </a:r>
                      <a:r>
                        <a:rPr lang="en-US" altLang="zh-CN" sz="1100"/>
                        <a:t>BCI </a:t>
                      </a:r>
                      <a:r>
                        <a:rPr lang="zh-CN" altLang="en-US" sz="1100"/>
                        <a:t>将成为未来趋势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数据投毒、隐私泄露、同步篡改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安全同步与预处理加速器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635">
                <a:tc>
                  <a:txBody>
                    <a:bodyPr/>
                    <a:p>
                      <a:r>
                        <a:rPr lang="en-US" altLang="zh-CN" sz="1100"/>
                        <a:t>ACM MM'25 DMSGL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实时 </a:t>
                      </a:r>
                      <a:r>
                        <a:rPr lang="en-US" altLang="zh-CN" sz="1100"/>
                        <a:t>EEG </a:t>
                      </a:r>
                      <a:r>
                        <a:rPr lang="zh-CN" altLang="en-US" sz="1100"/>
                        <a:t>情绪识别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在线 </a:t>
                      </a:r>
                      <a:r>
                        <a:rPr lang="en-US" altLang="zh-CN" sz="1100"/>
                        <a:t>Decoder </a:t>
                      </a:r>
                      <a:r>
                        <a:rPr lang="zh-CN" altLang="en-US" sz="1100"/>
                        <a:t>正逐步向边缘设备部署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对抗扰动、模型投毒、侧信道泄露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安全 </a:t>
                      </a:r>
                      <a:r>
                        <a:rPr lang="en-US" altLang="zh-CN" sz="1100"/>
                        <a:t>Decoder </a:t>
                      </a:r>
                      <a:r>
                        <a:rPr lang="zh-CN" altLang="en-US" sz="1100"/>
                        <a:t>加速器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</a:tr>
              <a:tr h="635000">
                <a:tc>
                  <a:txBody>
                    <a:bodyPr/>
                    <a:p>
                      <a:r>
                        <a:rPr lang="en-US" altLang="zh-CN" sz="1100"/>
                        <a:t>ICLR'24 Brain Decoding (MEG)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脑信号视觉重建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未来实时脑信号生成式解码的重要方向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en-US" altLang="zh-CN" sz="1100"/>
                        <a:t>Mental Privacy</a:t>
                      </a:r>
                      <a:r>
                        <a:rPr lang="zh-CN" altLang="en-US" sz="1100"/>
                        <a:t>、内容重建攻击</a:t>
                      </a:r>
                      <a:endParaRPr lang="zh-CN" altLang="en-US" sz="1100"/>
                    </a:p>
                  </a:txBody>
                  <a:tcPr marL="0" marR="0" marT="0" marB="0" anchor="ctr" anchorCtr="0"/>
                </a:tc>
                <a:tc>
                  <a:txBody>
                    <a:bodyPr/>
                    <a:p>
                      <a:r>
                        <a:rPr lang="zh-CN" altLang="en-US" sz="1100"/>
                        <a:t>隐私保护 </a:t>
                      </a:r>
                      <a:r>
                        <a:rPr lang="en-US" altLang="zh-CN" sz="1100"/>
                        <a:t>Neural Decoder</a:t>
                      </a:r>
                      <a:endParaRPr lang="en-US" altLang="zh-CN" sz="1100"/>
                    </a:p>
                  </a:txBody>
                  <a:tcPr marL="0" marR="0" marT="0" marB="0" anchor="ctr" anchorCtr="0"/>
                </a:tc>
              </a:tr>
            </a:tbl>
          </a:graphicData>
        </a:graphic>
      </p:graphicFrame>
      <p:sp>
        <p:nvSpPr>
          <p:cNvPr id="12" name="文本框 11"/>
          <p:cNvSpPr txBox="1"/>
          <p:nvPr/>
        </p:nvSpPr>
        <p:spPr>
          <a:xfrm>
            <a:off x="377190" y="4897755"/>
            <a:ext cx="10646410" cy="84645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pPr marL="342900" indent="-342900">
              <a:buAutoNum type="arabicPeriod"/>
            </a:pPr>
            <a:r>
              <a:rPr lang="zh-CN" altLang="en-US">
                <a:ea typeface="SimSun" charset="0"/>
              </a:rPr>
              <a:t>非侵入式设备需要实时处理，硬件加速器可以作为一个考虑的点切入，而且要考虑安全性（具体可以参考体系结构论文</a:t>
            </a:r>
            <a:r>
              <a:rPr lang="en-US" altLang="zh-CN">
                <a:ea typeface="SimSun" charset="0"/>
              </a:rPr>
              <a:t>-</a:t>
            </a:r>
            <a:r>
              <a:rPr lang="zh-CN" altLang="en-US">
                <a:ea typeface="SimSun" charset="0"/>
              </a:rPr>
              <a:t>安全、性能、功耗的</a:t>
            </a:r>
            <a:r>
              <a:rPr lang="en-US" altLang="zh-CN">
                <a:ea typeface="SimSun" charset="0"/>
              </a:rPr>
              <a:t>trade-off</a:t>
            </a:r>
            <a:r>
              <a:rPr lang="zh-CN" altLang="en-US">
                <a:ea typeface="SimSun" charset="0"/>
              </a:rPr>
              <a:t>设计）。</a:t>
            </a:r>
            <a:endParaRPr lang="zh-CN" altLang="en-US">
              <a:ea typeface="SimSun" charset="0"/>
            </a:endParaRPr>
          </a:p>
        </p:txBody>
      </p:sp>
    </p:spTree>
    <p:custDataLst>
      <p:tags r:id="rId6"/>
    </p:custDataLst>
  </p:cSld>
  <p:clrMapOvr>
    <a:masterClrMapping/>
  </p:clrMapOvr>
  <p:transition/>
</p:sld>
</file>

<file path=ppt/tags/tag1.xml><?xml version="1.0" encoding="utf-8"?>
<p:tagLst xmlns:p="http://schemas.openxmlformats.org/presentationml/2006/main">
  <p:tag name="KSO_WM_BEAUTIFY_FLAG" val=""/>
</p:tagLst>
</file>

<file path=ppt/tags/tag2.xml><?xml version="1.0" encoding="utf-8"?>
<p:tagLst xmlns:p="http://schemas.openxmlformats.org/presentationml/2006/main">
  <p:tag name="KSO_WM_BEAUTIFY_FLAG" val=""/>
</p:tagLst>
</file>

<file path=ppt/tags/tag3.xml><?xml version="1.0" encoding="utf-8"?>
<p:tagLst xmlns:p="http://schemas.openxmlformats.org/presentationml/2006/main">
  <p:tag name="KSO_WM_SLIDE_BACKGROUND_TYPE" val="general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SLIDE_BACKGROUND_TYPE" val="general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TABLE_ENDDRAG_ORIGIN_RECT" val="869*202"/>
  <p:tag name="TABLE_ENDDRAG_RECT" val="29*145*869*202"/>
</p:tagLst>
</file>

<file path=ppt/tags/tag8.xml><?xml version="1.0" encoding="utf-8"?>
<p:tagLst xmlns:p="http://schemas.openxmlformats.org/presentationml/2006/main">
  <p:tag name="KSO_WM_SLIDE_BACKGROUND_TYPE" val="general"/>
</p:tagLst>
</file>

<file path=ppt/tags/tag9.xml><?xml version="1.0" encoding="utf-8"?>
<p:tagLst xmlns:p="http://schemas.openxmlformats.org/presentationml/2006/main">
  <p:tag name="RESOURCE_RECORD_KEY" val="{&quot;65&quot;:[20229149],&quot;70&quot;:[3319068,3312407]}"/>
  <p:tag name="COMMONDATA" val="eyJoZGlkIjoiMWE2MmRiMDAwMTc4ZmUxYjI2MjMwNzljODhkYTA0MzA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923</Words>
  <Application>WPS 演示</Application>
  <PresentationFormat>宽屏</PresentationFormat>
  <Paragraphs>74</Paragraphs>
  <Slides>4</Slides>
  <Notes>8</Notes>
  <HiddenSlides>0</HiddenSlides>
  <MMClips>0</MMClips>
  <ScaleCrop>false</ScaleCrop>
  <HeadingPairs>
    <vt:vector size="6" baseType="variant">
      <vt:variant>
        <vt:lpstr>已用的字体</vt:lpstr>
      </vt:variant>
      <vt:variant>
        <vt:i4>23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28" baseType="lpstr">
      <vt:lpstr>Arial</vt:lpstr>
      <vt:lpstr>SimSun</vt:lpstr>
      <vt:lpstr>Wingdings</vt:lpstr>
      <vt:lpstr>DejaVu Sans</vt:lpstr>
      <vt:lpstr>Microsoft YaHei</vt:lpstr>
      <vt:lpstr>Droid Sans Fallback</vt:lpstr>
      <vt:lpstr>Calibri</vt:lpstr>
      <vt:lpstr>Arial</vt:lpstr>
      <vt:lpstr>Calibri</vt:lpstr>
      <vt:lpstr>SimSun</vt:lpstr>
      <vt:lpstr>Impact</vt:lpstr>
      <vt:lpstr>Ubuntu Condensed</vt:lpstr>
      <vt:lpstr>Times New Roman</vt:lpstr>
      <vt:lpstr>等线 Light</vt:lpstr>
      <vt:lpstr>Gubbi</vt:lpstr>
      <vt:lpstr>等线</vt:lpstr>
      <vt:lpstr>Microsoft YaHei</vt:lpstr>
      <vt:lpstr>Arial Unicode MS</vt:lpstr>
      <vt:lpstr>SimSun</vt:lpstr>
      <vt:lpstr>Noto Serif CJK SC</vt:lpstr>
      <vt:lpstr>MS PGothic</vt:lpstr>
      <vt:lpstr>汉仪中圆B5</vt:lpstr>
      <vt:lpstr>OpenSymbol</vt:lpstr>
      <vt:lpstr>Office 主题​​</vt:lpstr>
      <vt:lpstr>组会报告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微电子研究院科研工作汇报</dc:title>
  <dc:creator>Bruce Andy</dc:creator>
  <cp:lastModifiedBy>刘子豪</cp:lastModifiedBy>
  <cp:revision>5792</cp:revision>
  <dcterms:created xsi:type="dcterms:W3CDTF">2026-06-03T10:28:37Z</dcterms:created>
  <dcterms:modified xsi:type="dcterms:W3CDTF">2026-06-03T10:28:37Z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45F5DA9DE04671D22526106ABBD474A7_43</vt:lpwstr>
  </property>
  <property fmtid="{D5CDD505-2E9C-101B-9397-08002B2CF9AE}" pid="3" name="KSOProductBuildVer">
    <vt:lpwstr>2052-12.1.2.25838</vt:lpwstr>
  </property>
</Properties>
</file>